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JARVIS Tıp Akademisi tanıtımı. İkinci bir uygulama değil, aynı çekirdek üzerine kurulu bir alan katmanı.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Akademi CoreEngine'in request_augmenter arayüzü üzerinden bağlanır. Kimlik, saat ve sosyal turlar çekirdeğin kendisi tarafından yanıtlanır ve hiç devredilmez.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 dosyaları: curriculum.json (107 konu), anatomy.json (127 yapı, 278 işaret noktası, 86 Latince terim), concepts.json (~200 kavram), prerequisites.json (63 bağ).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Üç söz: sayfa numarası uydurmaz, cevap anahtarını tahmin etmez, lisanslı modeli olmayan anatomiyi çizmez.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app/core/augmentation.py üzerinden bağlanır. MedicalAcademy.augment isteği deterministik olarak ayrıştırır.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Takma adlar ilk belirteçlerine göre indekslenir, desenler bir kez derlenip önbelleğe alınır. Ölçümler geliştirme makinesinde alınmıştır.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DocumentPipeline. Görüş geçişi JARVIS_MEDICAL_VISION_PAGES_PER_DOCUMENT ile sınırlıdır.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import_folder bir klasörü tek bir ders seti olarak dosyalar. Mikrobiyoloji, Biyoloji'den önce eşleşir — bir sözcük diğerini içerdiğinde.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transcribe_document taranmış belgeleri yazıya döker; ondan dosyalanan sorular ocr: true taşır.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compare_document altı sınıfa ayırır ve her birini sayfası, açıklaması ve destek düzeyiyle sunar.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Sınav formu. Sohbetten başlatılan bir kâğıtta görselli sorular her zaman açıktır.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validate_question ve is_too_similar. Reddedilenler üretim notlarında raporlanır.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Görselli sorular sınav formunun varsayılanıdır ve sohbetten başlatılan kâğıtta hep açıktır.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JARVIS_MEDICAL_SOURCE_REVIEW varsayılan olarak açıktır. "Geçersiz say" ustalıktan da düşer.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StyleProfiler on beş özellik ölçer. Güven yalnızca örneklem büyüklüğünü izler.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Sınav sistemi çıktıları da okunur: Soru Sahibi, Anabilimdalı, KOMITE N, -Doğru Seçenek son eki. Öğrencinin işareti asla anahtar sayılmaz.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LearningEngine kasten yorumlanabilirdir. Sonuç sonradan bir zorluktan yeniden hesaplanmaz.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UnderstandingEngine her yanıtlanan soru için bir olay saklar. Yinelenen tıklama submission_id ile bir kez kaydedilir.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Bir soruyu geçersiz saymak ona dayanan kanıtı geri çeker; kanıtsız kalan bulgu da geri çekilir.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PrerequisiteGraph kavram-gerektirir-kavram kenarları tutar. Her kenar nereden geldiğini gösterir.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"Bugün" kartı sıradaki etkinliği etiketli tahminiyle ve Başla / Bitti / Atla ile gösterir.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Maruz kalmalar izlenir; sonuçlar tekrarlanan örneklerin puanı şişirdiği durumları söyler.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Kontrol noktaları açıkken JARVIS her N bölümde "Buraya kadar sorun var mı?" diye sorar ve birkaç saniye dinler.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modunda kayıtlı 3B model olmadığı için şematik ilişki haritası görünüyor — laboratuvarın dürüst geri düşüşü.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Lisans veri kümesinin belirttiği gibi kaydedilir ve atıf görüntünün altında gösterilir.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 istasyon bir anatomi cevabı olarak kaydedilir, böylece yapının ustalığı da onunla hareket eder.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Akademi, mevcut sağlayıcı politikasının zaten izin vermediği hiçbir yere bir şey yüklemez.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Eksikleri listelemek, projeye güven kazandırır. Kapsam kayıtları docs/PROJECT_STATE.md içinde tarihleriyle tutulur.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Kapanış. Ana mesaj: akademinin değeri bildiğinde değil, bilmediğini söylemesinde.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jpeg"/><Relationship Id="rId2" Type="http://schemas.openxmlformats.org/officeDocument/2006/relationships/image" Target="../media/image-10-2.jp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jpe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image" Target="../media/image-14-2.jp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jpe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jpe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jpeg"/><Relationship Id="rId2" Type="http://schemas.openxmlformats.org/officeDocument/2006/relationships/image" Target="../media/image-17-2.jp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jpe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jpeg"/><Relationship Id="rId2" Type="http://schemas.openxmlformats.org/officeDocument/2006/relationships/image" Target="../media/image-19-2.jp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jpe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jpe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jpe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jpe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jpe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jpe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jpeg"/><Relationship Id="rId2" Type="http://schemas.openxmlformats.org/officeDocument/2006/relationships/image" Target="../media/image-26-2.jp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jpe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jpe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jpe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30-image-1.jpeg"/><Relationship Id="rId2" Type="http://schemas.openxmlformats.org/officeDocument/2006/relationships/image" Target="../media/image-30-2.jp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31-image-1.jpe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Slide-32-image-1.jpe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Slide-33-image-1.jpe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Slide-34-image-1.jpe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Slide-35-image-1.jpe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68680" y="2157984"/>
            <a:ext cx="6766560" cy="274320"/>
          </a:xfrm>
          <a:prstGeom prst="rect">
            <a:avLst/>
          </a:prstGeom>
          <a:noFill/>
          <a:ln/>
        </p:spPr>
        <p:txBody>
          <a:bodyPr wrap="square" lIns="0" tIns="0" rIns="0" bIns="0" rtlCol="0" anchor="ctr"/>
          <a:lstStyle/>
          <a:p>
            <a:pPr indent="0" marL="0">
              <a:buNone/>
            </a:pPr>
            <a:r>
              <a:rPr lang="en-US" sz="1100" b="1" spc="360" kern="0" dirty="0">
                <a:solidFill>
                  <a:srgbClr val="4CC3EA"/>
                </a:solidFill>
                <a:latin typeface="Calibri" pitchFamily="34" charset="0"/>
                <a:ea typeface="Calibri" pitchFamily="34" charset="-122"/>
                <a:cs typeface="Calibri" pitchFamily="34" charset="-120"/>
              </a:rPr>
              <a:t>JARVIS Ω  ·  ALAN KATMANI</a:t>
            </a:r>
            <a:endParaRPr lang="en-US" sz="1100" dirty="0"/>
          </a:p>
        </p:txBody>
      </p:sp>
      <p:sp>
        <p:nvSpPr>
          <p:cNvPr id="3" name="Text 1"/>
          <p:cNvSpPr txBox="1"/>
          <p:nvPr/>
        </p:nvSpPr>
        <p:spPr>
          <a:xfrm>
            <a:off x="822960" y="2505456"/>
            <a:ext cx="6766560" cy="1280160"/>
          </a:xfrm>
          <a:prstGeom prst="rect">
            <a:avLst/>
          </a:prstGeom>
          <a:noFill/>
          <a:ln/>
        </p:spPr>
        <p:txBody>
          <a:bodyPr wrap="square" lIns="0" tIns="0" rIns="0" bIns="0" rtlCol="0" anchor="ctr"/>
          <a:lstStyle/>
          <a:p>
            <a:pPr indent="0" marL="0">
              <a:buNone/>
            </a:pPr>
            <a:r>
              <a:rPr lang="en-US" sz="6200" b="1" spc="120" kern="0" dirty="0">
                <a:solidFill>
                  <a:srgbClr val="E9F2F8"/>
                </a:solidFill>
                <a:latin typeface="Calibri" pitchFamily="34" charset="0"/>
                <a:ea typeface="Calibri" pitchFamily="34" charset="-122"/>
                <a:cs typeface="Calibri" pitchFamily="34" charset="-120"/>
              </a:rPr>
              <a:t>Tıp Akademisi</a:t>
            </a:r>
            <a:endParaRPr lang="en-US" sz="6200" dirty="0"/>
          </a:p>
        </p:txBody>
      </p:sp>
      <p:sp>
        <p:nvSpPr>
          <p:cNvPr id="4" name="Text 2"/>
          <p:cNvSpPr txBox="1"/>
          <p:nvPr/>
        </p:nvSpPr>
        <p:spPr>
          <a:xfrm>
            <a:off x="868680" y="3877056"/>
            <a:ext cx="5303520" cy="914400"/>
          </a:xfrm>
          <a:prstGeom prst="rect">
            <a:avLst/>
          </a:prstGeom>
          <a:noFill/>
          <a:ln/>
        </p:spPr>
        <p:txBody>
          <a:bodyPr wrap="square" lIns="0" tIns="0" rIns="0" bIns="0" rtlCol="0" anchor="ctr"/>
          <a:lstStyle/>
          <a:p>
            <a:pPr indent="0" marL="0">
              <a:lnSpc>
                <a:spcPts val="2600"/>
              </a:lnSpc>
              <a:buNone/>
            </a:pPr>
            <a:r>
              <a:rPr lang="en-US" sz="1700" dirty="0">
                <a:solidFill>
                  <a:srgbClr val="A9BCCB"/>
                </a:solidFill>
                <a:latin typeface="Calibri" pitchFamily="34" charset="0"/>
                <a:ea typeface="Calibri" pitchFamily="34" charset="-122"/>
                <a:cs typeface="Calibri" pitchFamily="34" charset="-120"/>
              </a:rPr>
              <a:t>Birinci sınıf tıp müfredatı, kendi ders materyalin</a:t>
            </a:r>
            <a:endParaRPr lang="en-US" sz="1700" dirty="0"/>
          </a:p>
          <a:p>
            <a:pPr indent="0" marL="0">
              <a:lnSpc>
                <a:spcPts val="2600"/>
              </a:lnSpc>
              <a:buNone/>
            </a:pPr>
            <a:r>
              <a:rPr lang="en-US" sz="1700" dirty="0">
                <a:solidFill>
                  <a:srgbClr val="A9BCCB"/>
                </a:solidFill>
                <a:latin typeface="Calibri" pitchFamily="34" charset="0"/>
                <a:ea typeface="Calibri" pitchFamily="34" charset="-122"/>
                <a:cs typeface="Calibri" pitchFamily="34" charset="-120"/>
              </a:rPr>
              <a:t>ve hocanın soru tarzı tek yerde</a:t>
            </a:r>
            <a:endParaRPr lang="en-US" sz="1700" dirty="0"/>
          </a:p>
        </p:txBody>
      </p:sp>
      <p:sp>
        <p:nvSpPr>
          <p:cNvPr id="5" name="Shape 3"/>
          <p:cNvSpPr/>
          <p:nvPr/>
        </p:nvSpPr>
        <p:spPr>
          <a:xfrm>
            <a:off x="868680" y="4956048"/>
            <a:ext cx="866851" cy="347472"/>
          </a:xfrm>
          <a:prstGeom prst="roundRect">
            <a:avLst>
              <a:gd name="adj" fmla="val 131579"/>
            </a:avLst>
          </a:prstGeom>
          <a:solidFill>
            <a:srgbClr val="121C2E">
              <a:alpha val="66000"/>
            </a:srgbClr>
          </a:solidFill>
          <a:ln w="11430">
            <a:solidFill>
              <a:srgbClr val="7FE0B2"/>
            </a:solidFill>
            <a:prstDash val="solid"/>
          </a:ln>
        </p:spPr>
      </p:sp>
      <p:sp>
        <p:nvSpPr>
          <p:cNvPr id="6" name="Text 4"/>
          <p:cNvSpPr txBox="1"/>
          <p:nvPr/>
        </p:nvSpPr>
        <p:spPr>
          <a:xfrm>
            <a:off x="868680" y="4956048"/>
            <a:ext cx="866851" cy="347472"/>
          </a:xfrm>
          <a:prstGeom prst="rect">
            <a:avLst/>
          </a:prstGeom>
          <a:noFill/>
          <a:ln/>
        </p:spPr>
        <p:txBody>
          <a:bodyPr wrap="square" lIns="0" tIns="0" rIns="0" bIns="0" rtlCol="0" anchor="ctr"/>
          <a:lstStyle/>
          <a:p>
            <a:pPr algn="ctr" indent="0" marL="0">
              <a:buNone/>
            </a:pPr>
            <a:r>
              <a:rPr lang="en-US" sz="1050" spc="80" kern="0" dirty="0">
                <a:solidFill>
                  <a:srgbClr val="7FE0B2"/>
                </a:solidFill>
                <a:latin typeface="Calibri" pitchFamily="34" charset="0"/>
                <a:ea typeface="Calibri" pitchFamily="34" charset="-122"/>
                <a:cs typeface="Calibri" pitchFamily="34" charset="-120"/>
              </a:rPr>
              <a:t>7 ders</a:t>
            </a:r>
            <a:endParaRPr lang="en-US" sz="1050" dirty="0"/>
          </a:p>
        </p:txBody>
      </p:sp>
      <p:sp>
        <p:nvSpPr>
          <p:cNvPr id="7" name="Shape 5"/>
          <p:cNvSpPr/>
          <p:nvPr/>
        </p:nvSpPr>
        <p:spPr>
          <a:xfrm>
            <a:off x="1881835" y="4956048"/>
            <a:ext cx="1027786" cy="347472"/>
          </a:xfrm>
          <a:prstGeom prst="roundRect">
            <a:avLst>
              <a:gd name="adj" fmla="val 131579"/>
            </a:avLst>
          </a:prstGeom>
          <a:solidFill>
            <a:srgbClr val="121C2E">
              <a:alpha val="66000"/>
            </a:srgbClr>
          </a:solidFill>
          <a:ln w="11430">
            <a:solidFill>
              <a:srgbClr val="4CC3EA"/>
            </a:solidFill>
            <a:prstDash val="solid"/>
          </a:ln>
        </p:spPr>
      </p:sp>
      <p:sp>
        <p:nvSpPr>
          <p:cNvPr id="8" name="Text 6"/>
          <p:cNvSpPr txBox="1"/>
          <p:nvPr/>
        </p:nvSpPr>
        <p:spPr>
          <a:xfrm>
            <a:off x="1881835" y="4956048"/>
            <a:ext cx="1027786" cy="347472"/>
          </a:xfrm>
          <a:prstGeom prst="rect">
            <a:avLst/>
          </a:prstGeom>
          <a:noFill/>
          <a:ln/>
        </p:spPr>
        <p:txBody>
          <a:bodyPr wrap="square" lIns="0" tIns="0" rIns="0" bIns="0" rtlCol="0" anchor="ctr"/>
          <a:lstStyle/>
          <a:p>
            <a:pPr algn="ctr" indent="0" marL="0">
              <a:buNone/>
            </a:pPr>
            <a:r>
              <a:rPr lang="en-US" sz="1050" spc="80" kern="0" dirty="0">
                <a:solidFill>
                  <a:srgbClr val="4CC3EA"/>
                </a:solidFill>
                <a:latin typeface="Calibri" pitchFamily="34" charset="0"/>
                <a:ea typeface="Calibri" pitchFamily="34" charset="-122"/>
                <a:cs typeface="Calibri" pitchFamily="34" charset="-120"/>
              </a:rPr>
              <a:t>107 konu</a:t>
            </a:r>
            <a:endParaRPr lang="en-US" sz="1050" dirty="0"/>
          </a:p>
        </p:txBody>
      </p:sp>
      <p:sp>
        <p:nvSpPr>
          <p:cNvPr id="9" name="Shape 7"/>
          <p:cNvSpPr/>
          <p:nvPr/>
        </p:nvSpPr>
        <p:spPr>
          <a:xfrm>
            <a:off x="3055925" y="4956048"/>
            <a:ext cx="1751990" cy="347472"/>
          </a:xfrm>
          <a:prstGeom prst="roundRect">
            <a:avLst>
              <a:gd name="adj" fmla="val 131579"/>
            </a:avLst>
          </a:prstGeom>
          <a:solidFill>
            <a:srgbClr val="121C2E">
              <a:alpha val="66000"/>
            </a:srgbClr>
          </a:solidFill>
          <a:ln w="11430">
            <a:solidFill>
              <a:srgbClr val="4CC3EA"/>
            </a:solidFill>
            <a:prstDash val="solid"/>
          </a:ln>
        </p:spPr>
      </p:sp>
      <p:sp>
        <p:nvSpPr>
          <p:cNvPr id="10" name="Text 8"/>
          <p:cNvSpPr txBox="1"/>
          <p:nvPr/>
        </p:nvSpPr>
        <p:spPr>
          <a:xfrm>
            <a:off x="3055925" y="4956048"/>
            <a:ext cx="1751990" cy="347472"/>
          </a:xfrm>
          <a:prstGeom prst="rect">
            <a:avLst/>
          </a:prstGeom>
          <a:noFill/>
          <a:ln/>
        </p:spPr>
        <p:txBody>
          <a:bodyPr wrap="square" lIns="0" tIns="0" rIns="0" bIns="0" rtlCol="0" anchor="ctr"/>
          <a:lstStyle/>
          <a:p>
            <a:pPr algn="ctr" indent="0" marL="0">
              <a:buNone/>
            </a:pPr>
            <a:r>
              <a:rPr lang="en-US" sz="1050" spc="80" kern="0" dirty="0">
                <a:solidFill>
                  <a:srgbClr val="4CC3EA"/>
                </a:solidFill>
                <a:latin typeface="Calibri" pitchFamily="34" charset="0"/>
                <a:ea typeface="Calibri" pitchFamily="34" charset="-122"/>
                <a:cs typeface="Calibri" pitchFamily="34" charset="-120"/>
              </a:rPr>
              <a:t>127 anatomik yapı</a:t>
            </a:r>
            <a:endParaRPr lang="en-US" sz="1050" dirty="0"/>
          </a:p>
        </p:txBody>
      </p:sp>
      <p:sp>
        <p:nvSpPr>
          <p:cNvPr id="11" name="Shape 9"/>
          <p:cNvSpPr/>
          <p:nvPr/>
        </p:nvSpPr>
        <p:spPr>
          <a:xfrm>
            <a:off x="4954219" y="4956048"/>
            <a:ext cx="1269187" cy="347472"/>
          </a:xfrm>
          <a:prstGeom prst="roundRect">
            <a:avLst>
              <a:gd name="adj" fmla="val 131579"/>
            </a:avLst>
          </a:prstGeom>
          <a:solidFill>
            <a:srgbClr val="121C2E">
              <a:alpha val="66000"/>
            </a:srgbClr>
          </a:solidFill>
          <a:ln w="11430">
            <a:solidFill>
              <a:srgbClr val="B8A8FF"/>
            </a:solidFill>
            <a:prstDash val="solid"/>
          </a:ln>
        </p:spPr>
      </p:sp>
      <p:sp>
        <p:nvSpPr>
          <p:cNvPr id="12" name="Text 10"/>
          <p:cNvSpPr txBox="1"/>
          <p:nvPr/>
        </p:nvSpPr>
        <p:spPr>
          <a:xfrm>
            <a:off x="4954219" y="4956048"/>
            <a:ext cx="1269187" cy="347472"/>
          </a:xfrm>
          <a:prstGeom prst="rect">
            <a:avLst/>
          </a:prstGeom>
          <a:noFill/>
          <a:ln/>
        </p:spPr>
        <p:txBody>
          <a:bodyPr wrap="square" lIns="0" tIns="0" rIns="0" bIns="0" rtlCol="0" anchor="ctr"/>
          <a:lstStyle/>
          <a:p>
            <a:pPr algn="ctr" indent="0" marL="0">
              <a:buNone/>
            </a:pPr>
            <a:r>
              <a:rPr lang="en-US" sz="1050" spc="80" kern="0" dirty="0">
                <a:solidFill>
                  <a:srgbClr val="B8A8FF"/>
                </a:solidFill>
                <a:latin typeface="Calibri" pitchFamily="34" charset="0"/>
                <a:ea typeface="Calibri" pitchFamily="34" charset="-122"/>
                <a:cs typeface="Calibri" pitchFamily="34" charset="-120"/>
              </a:rPr>
              <a:t>Anatomi Lab</a:t>
            </a:r>
            <a:endParaRPr lang="en-US" sz="1050" dirty="0"/>
          </a:p>
        </p:txBody>
      </p:sp>
      <p:sp>
        <p:nvSpPr>
          <p:cNvPr id="13" name="Text 11"/>
          <p:cNvSpPr txBox="1"/>
          <p:nvPr/>
        </p:nvSpPr>
        <p:spPr>
          <a:xfrm>
            <a:off x="868680" y="5632704"/>
            <a:ext cx="3657600" cy="274320"/>
          </a:xfrm>
          <a:prstGeom prst="rect">
            <a:avLst/>
          </a:prstGeom>
          <a:noFill/>
          <a:ln/>
        </p:spPr>
        <p:txBody>
          <a:bodyPr wrap="square" lIns="0" tIns="0" rIns="0" bIns="0" rtlCol="0" anchor="ctr"/>
          <a:lstStyle/>
          <a:p>
            <a:pPr indent="0" marL="0">
              <a:buNone/>
            </a:pPr>
            <a:r>
              <a:rPr lang="en-US" sz="1100" spc="200" kern="0" dirty="0">
                <a:solidFill>
                  <a:srgbClr val="43566A"/>
                </a:solidFill>
                <a:latin typeface="Calibri" pitchFamily="34" charset="0"/>
                <a:ea typeface="Calibri" pitchFamily="34" charset="-122"/>
                <a:cs typeface="Calibri" pitchFamily="34" charset="-120"/>
              </a:rPr>
              <a:t>9 Eylül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66928" y="566928"/>
            <a:ext cx="7680960" cy="237744"/>
          </a:xfrm>
          <a:prstGeom prst="rect">
            <a:avLst/>
          </a:prstGeom>
          <a:noFill/>
          <a:ln/>
        </p:spPr>
        <p:txBody>
          <a:bodyPr wrap="square" lIns="0" tIns="0" rIns="0" bIns="0" rtlCol="0" anchor="ctr"/>
          <a:lstStyle/>
          <a:p>
            <a:pPr indent="0" marL="0">
              <a:buNone/>
            </a:pPr>
            <a:r>
              <a:rPr lang="en-US" sz="1000" b="1" spc="340" kern="0" dirty="0">
                <a:solidFill>
                  <a:srgbClr val="4CC3EA"/>
                </a:solidFill>
                <a:latin typeface="Calibri" pitchFamily="34" charset="0"/>
                <a:ea typeface="Calibri" pitchFamily="34" charset="-122"/>
                <a:cs typeface="Calibri" pitchFamily="34" charset="-120"/>
              </a:rPr>
              <a:t>GIRIŞ</a:t>
            </a:r>
            <a:endParaRPr lang="en-US" sz="1000" dirty="0"/>
          </a:p>
        </p:txBody>
      </p:sp>
      <p:sp>
        <p:nvSpPr>
          <p:cNvPr id="3" name="Text 1"/>
          <p:cNvSpPr txBox="1"/>
          <p:nvPr/>
        </p:nvSpPr>
        <p:spPr>
          <a:xfrm>
            <a:off x="548640" y="841248"/>
            <a:ext cx="8229600" cy="786384"/>
          </a:xfrm>
          <a:prstGeom prst="rect">
            <a:avLst/>
          </a:prstGeom>
          <a:noFill/>
          <a:ln/>
        </p:spPr>
        <p:txBody>
          <a:bodyPr wrap="square" lIns="0" tIns="0" rIns="0" bIns="0" rtlCol="0" anchor="t"/>
          <a:lstStyle/>
          <a:p>
            <a:pPr indent="0" marL="0">
              <a:buNone/>
            </a:pPr>
            <a:r>
              <a:rPr lang="en-US" sz="3600" spc="40" kern="0" dirty="0">
                <a:solidFill>
                  <a:srgbClr val="E9F2F8"/>
                </a:solidFill>
                <a:latin typeface="Calibri" pitchFamily="34" charset="0"/>
                <a:ea typeface="Calibri" pitchFamily="34" charset="-122"/>
                <a:cs typeface="Calibri" pitchFamily="34" charset="-120"/>
              </a:rPr>
              <a:t>İkinci bir uygulama değil</a:t>
            </a:r>
            <a:endParaRPr lang="en-US" sz="3600" dirty="0"/>
          </a:p>
        </p:txBody>
      </p:sp>
      <p:sp>
        <p:nvSpPr>
          <p:cNvPr id="4" name="Text 2"/>
          <p:cNvSpPr txBox="1"/>
          <p:nvPr/>
        </p:nvSpPr>
        <p:spPr>
          <a:xfrm>
            <a:off x="566928" y="1755648"/>
            <a:ext cx="10881360" cy="822960"/>
          </a:xfrm>
          <a:prstGeom prst="rect">
            <a:avLst/>
          </a:prstGeom>
          <a:noFill/>
          <a:ln/>
        </p:spPr>
        <p:txBody>
          <a:bodyPr wrap="square" lIns="0" tIns="0" rIns="0" bIns="0" rtlCol="0" anchor="t"/>
          <a:lstStyle/>
          <a:p>
            <a:pPr indent="0" marL="0">
              <a:lnSpc>
                <a:spcPts val="2200"/>
              </a:lnSpc>
              <a:buNone/>
            </a:pPr>
            <a:r>
              <a:rPr lang="en-US" sz="1500" dirty="0">
                <a:solidFill>
                  <a:srgbClr val="A9BCCB"/>
                </a:solidFill>
                <a:latin typeface="Calibri" pitchFamily="34" charset="0"/>
                <a:ea typeface="Calibri" pitchFamily="34" charset="-122"/>
                <a:cs typeface="Calibri" pitchFamily="34" charset="-120"/>
              </a:rPr>
              <a:t>Tıp Akademisi, JARVIS'in içinde yaşayan bir alan katmanıdır: aynı çekirdek motor, aynı izin ve onay makinesi, aynı konuşma deposu, aynı Nova arayüzü. Ayrı bir program açmazsınız — sohbet ederken "beni sına" yazmanız yeterlidir.</a:t>
            </a:r>
            <a:endParaRPr lang="en-US" sz="1500" dirty="0"/>
          </a:p>
        </p:txBody>
      </p:sp>
      <p:sp>
        <p:nvSpPr>
          <p:cNvPr id="5" name="Shape 3"/>
          <p:cNvSpPr/>
          <p:nvPr/>
        </p:nvSpPr>
        <p:spPr>
          <a:xfrm>
            <a:off x="566928" y="2999232"/>
            <a:ext cx="3480206" cy="1838858"/>
          </a:xfrm>
          <a:prstGeom prst="roundRect">
            <a:avLst>
              <a:gd name="adj" fmla="val 2984"/>
            </a:avLst>
          </a:prstGeom>
          <a:solidFill>
            <a:srgbClr val="121C2E">
              <a:alpha val="74000"/>
            </a:srgbClr>
          </a:solidFill>
          <a:ln w="12700">
            <a:solidFill>
              <a:srgbClr val="24384B"/>
            </a:solidFill>
            <a:prstDash val="solid"/>
          </a:ln>
        </p:spPr>
      </p:sp>
      <p:sp>
        <p:nvSpPr>
          <p:cNvPr id="6" name="Text 4"/>
          <p:cNvSpPr txBox="1"/>
          <p:nvPr/>
        </p:nvSpPr>
        <p:spPr>
          <a:xfrm>
            <a:off x="841248" y="3273552"/>
            <a:ext cx="2931566" cy="201168"/>
          </a:xfrm>
          <a:prstGeom prst="rect">
            <a:avLst/>
          </a:prstGeom>
          <a:noFill/>
          <a:ln/>
        </p:spPr>
        <p:txBody>
          <a:bodyPr wrap="square" lIns="0" tIns="0" rIns="0" bIns="0" rtlCol="0" anchor="ctr"/>
          <a:lstStyle/>
          <a:p>
            <a:pPr indent="0" marL="0">
              <a:buNone/>
            </a:pPr>
            <a:r>
              <a:rPr lang="en-US" sz="900" b="1" spc="260" kern="0" dirty="0">
                <a:solidFill>
                  <a:srgbClr val="4CC3EA"/>
                </a:solidFill>
                <a:latin typeface="Calibri" pitchFamily="34" charset="0"/>
                <a:ea typeface="Calibri" pitchFamily="34" charset="-122"/>
                <a:cs typeface="Calibri" pitchFamily="34" charset="-120"/>
              </a:rPr>
              <a:t>BAĞLANMA</a:t>
            </a:r>
            <a:endParaRPr lang="en-US" sz="900" dirty="0"/>
          </a:p>
        </p:txBody>
      </p:sp>
      <p:sp>
        <p:nvSpPr>
          <p:cNvPr id="7" name="Text 5"/>
          <p:cNvSpPr txBox="1"/>
          <p:nvPr/>
        </p:nvSpPr>
        <p:spPr>
          <a:xfrm>
            <a:off x="841248" y="3566160"/>
            <a:ext cx="2931566" cy="310896"/>
          </a:xfrm>
          <a:prstGeom prst="rect">
            <a:avLst/>
          </a:prstGeom>
          <a:noFill/>
          <a:ln/>
        </p:spPr>
        <p:txBody>
          <a:bodyPr wrap="square" lIns="0" tIns="0" rIns="0" bIns="0" rtlCol="0" anchor="ctr"/>
          <a:lstStyle/>
          <a:p>
            <a:pPr indent="0" marL="0">
              <a:buNone/>
            </a:pPr>
            <a:r>
              <a:rPr lang="en-US" sz="1550" b="1" dirty="0">
                <a:solidFill>
                  <a:srgbClr val="E9F2F8"/>
                </a:solidFill>
                <a:latin typeface="Calibri" pitchFamily="34" charset="0"/>
                <a:ea typeface="Calibri" pitchFamily="34" charset="-122"/>
                <a:cs typeface="Calibri" pitchFamily="34" charset="-120"/>
              </a:rPr>
              <a:t>Bir tutucu (augmenter)</a:t>
            </a:r>
            <a:endParaRPr lang="en-US" sz="1550" dirty="0"/>
          </a:p>
        </p:txBody>
      </p:sp>
      <p:sp>
        <p:nvSpPr>
          <p:cNvPr id="8" name="Text 6"/>
          <p:cNvSpPr txBox="1"/>
          <p:nvPr/>
        </p:nvSpPr>
        <p:spPr>
          <a:xfrm>
            <a:off x="841248" y="3950208"/>
            <a:ext cx="2931566" cy="759866"/>
          </a:xfrm>
          <a:prstGeom prst="rect">
            <a:avLst/>
          </a:prstGeom>
          <a:noFill/>
          <a:ln/>
        </p:spPr>
        <p:txBody>
          <a:bodyPr wrap="square" lIns="0" tIns="0" rIns="0" bIns="0" rtlCol="0" anchor="t"/>
          <a:lstStyle/>
          <a:p>
            <a:pPr indent="0" marL="0">
              <a:lnSpc>
                <a:spcPts val="1800"/>
              </a:lnSpc>
              <a:buNone/>
            </a:pPr>
            <a:r>
              <a:rPr lang="en-US" sz="1200" dirty="0">
                <a:solidFill>
                  <a:srgbClr val="A9BCCB"/>
                </a:solidFill>
                <a:latin typeface="Calibri" pitchFamily="34" charset="0"/>
                <a:ea typeface="Calibri" pitchFamily="34" charset="-122"/>
                <a:cs typeface="Calibri" pitchFamily="34" charset="-120"/>
              </a:rPr>
              <a:t>Çekirdek, her genel turda tek bir alan katmanına danışır. Akademi turu yalnızca istek gerçekten tıbbiyse üstlenir; değilse dokunmaz.</a:t>
            </a:r>
            <a:endParaRPr lang="en-US" sz="1200" dirty="0"/>
          </a:p>
        </p:txBody>
      </p:sp>
      <p:sp>
        <p:nvSpPr>
          <p:cNvPr id="9" name="Shape 7"/>
          <p:cNvSpPr/>
          <p:nvPr/>
        </p:nvSpPr>
        <p:spPr>
          <a:xfrm>
            <a:off x="4339742" y="2999232"/>
            <a:ext cx="3480206" cy="1838858"/>
          </a:xfrm>
          <a:prstGeom prst="roundRect">
            <a:avLst>
              <a:gd name="adj" fmla="val 2984"/>
            </a:avLst>
          </a:prstGeom>
          <a:solidFill>
            <a:srgbClr val="121C2E">
              <a:alpha val="74000"/>
            </a:srgbClr>
          </a:solidFill>
          <a:ln w="12700">
            <a:solidFill>
              <a:srgbClr val="24384B"/>
            </a:solidFill>
            <a:prstDash val="solid"/>
          </a:ln>
        </p:spPr>
      </p:sp>
      <p:sp>
        <p:nvSpPr>
          <p:cNvPr id="10" name="Text 8"/>
          <p:cNvSpPr txBox="1"/>
          <p:nvPr/>
        </p:nvSpPr>
        <p:spPr>
          <a:xfrm>
            <a:off x="4614062" y="3273552"/>
            <a:ext cx="2931566" cy="201168"/>
          </a:xfrm>
          <a:prstGeom prst="rect">
            <a:avLst/>
          </a:prstGeom>
          <a:noFill/>
          <a:ln/>
        </p:spPr>
        <p:txBody>
          <a:bodyPr wrap="square" lIns="0" tIns="0" rIns="0" bIns="0" rtlCol="0" anchor="ctr"/>
          <a:lstStyle/>
          <a:p>
            <a:pPr indent="0" marL="0">
              <a:buNone/>
            </a:pPr>
            <a:r>
              <a:rPr lang="en-US" sz="900" b="1" spc="260" kern="0" dirty="0">
                <a:solidFill>
                  <a:srgbClr val="F0C68A"/>
                </a:solidFill>
                <a:latin typeface="Calibri" pitchFamily="34" charset="0"/>
                <a:ea typeface="Calibri" pitchFamily="34" charset="-122"/>
                <a:cs typeface="Calibri" pitchFamily="34" charset="-120"/>
              </a:rPr>
              <a:t>SINIR</a:t>
            </a:r>
            <a:endParaRPr lang="en-US" sz="900" dirty="0"/>
          </a:p>
        </p:txBody>
      </p:sp>
      <p:sp>
        <p:nvSpPr>
          <p:cNvPr id="11" name="Text 9"/>
          <p:cNvSpPr txBox="1"/>
          <p:nvPr/>
        </p:nvSpPr>
        <p:spPr>
          <a:xfrm>
            <a:off x="4614062" y="3566160"/>
            <a:ext cx="2931566" cy="310896"/>
          </a:xfrm>
          <a:prstGeom prst="rect">
            <a:avLst/>
          </a:prstGeom>
          <a:noFill/>
          <a:ln/>
        </p:spPr>
        <p:txBody>
          <a:bodyPr wrap="square" lIns="0" tIns="0" rIns="0" bIns="0" rtlCol="0" anchor="ctr"/>
          <a:lstStyle/>
          <a:p>
            <a:pPr indent="0" marL="0">
              <a:buNone/>
            </a:pPr>
            <a:r>
              <a:rPr lang="en-US" sz="1550" b="1" dirty="0">
                <a:solidFill>
                  <a:srgbClr val="E9F2F8"/>
                </a:solidFill>
                <a:latin typeface="Calibri" pitchFamily="34" charset="0"/>
                <a:ea typeface="Calibri" pitchFamily="34" charset="-122"/>
                <a:cs typeface="Calibri" pitchFamily="34" charset="-120"/>
              </a:rPr>
              <a:t>Daraltabilir, genişletemez</a:t>
            </a:r>
            <a:endParaRPr lang="en-US" sz="1550" dirty="0"/>
          </a:p>
        </p:txBody>
      </p:sp>
      <p:sp>
        <p:nvSpPr>
          <p:cNvPr id="12" name="Text 10"/>
          <p:cNvSpPr txBox="1"/>
          <p:nvPr/>
        </p:nvSpPr>
        <p:spPr>
          <a:xfrm>
            <a:off x="4614062" y="3950208"/>
            <a:ext cx="2931566" cy="759866"/>
          </a:xfrm>
          <a:prstGeom prst="rect">
            <a:avLst/>
          </a:prstGeom>
          <a:noFill/>
          <a:ln/>
        </p:spPr>
        <p:txBody>
          <a:bodyPr wrap="square" lIns="0" tIns="0" rIns="0" bIns="0" rtlCol="0" anchor="t"/>
          <a:lstStyle/>
          <a:p>
            <a:pPr indent="0" marL="0">
              <a:lnSpc>
                <a:spcPts val="1800"/>
              </a:lnSpc>
              <a:buNone/>
            </a:pPr>
            <a:r>
              <a:rPr lang="en-US" sz="1200" dirty="0">
                <a:solidFill>
                  <a:srgbClr val="A9BCCB"/>
                </a:solidFill>
                <a:latin typeface="Calibri" pitchFamily="34" charset="0"/>
                <a:ea typeface="Calibri" pitchFamily="34" charset="-122"/>
                <a:cs typeface="Calibri" pitchFamily="34" charset="-120"/>
              </a:rPr>
              <a:t>Alan katmanı çekirdeğin açtığı araç kümesini yalnızca daraltabilir. Hiçbir zaman yeni bir araç ekleyemez.</a:t>
            </a:r>
            <a:endParaRPr lang="en-US" sz="1200" dirty="0"/>
          </a:p>
        </p:txBody>
      </p:sp>
      <p:sp>
        <p:nvSpPr>
          <p:cNvPr id="13" name="Shape 11"/>
          <p:cNvSpPr/>
          <p:nvPr/>
        </p:nvSpPr>
        <p:spPr>
          <a:xfrm>
            <a:off x="8112557" y="2999232"/>
            <a:ext cx="3480206" cy="1838858"/>
          </a:xfrm>
          <a:prstGeom prst="roundRect">
            <a:avLst>
              <a:gd name="adj" fmla="val 2984"/>
            </a:avLst>
          </a:prstGeom>
          <a:solidFill>
            <a:srgbClr val="121C2E">
              <a:alpha val="74000"/>
            </a:srgbClr>
          </a:solidFill>
          <a:ln w="12700">
            <a:solidFill>
              <a:srgbClr val="24384B"/>
            </a:solidFill>
            <a:prstDash val="solid"/>
          </a:ln>
        </p:spPr>
      </p:sp>
      <p:sp>
        <p:nvSpPr>
          <p:cNvPr id="14" name="Text 12"/>
          <p:cNvSpPr txBox="1"/>
          <p:nvPr/>
        </p:nvSpPr>
        <p:spPr>
          <a:xfrm>
            <a:off x="8386877" y="3273552"/>
            <a:ext cx="2931566" cy="201168"/>
          </a:xfrm>
          <a:prstGeom prst="rect">
            <a:avLst/>
          </a:prstGeom>
          <a:noFill/>
          <a:ln/>
        </p:spPr>
        <p:txBody>
          <a:bodyPr wrap="square" lIns="0" tIns="0" rIns="0" bIns="0" rtlCol="0" anchor="ctr"/>
          <a:lstStyle/>
          <a:p>
            <a:pPr indent="0" marL="0">
              <a:buNone/>
            </a:pPr>
            <a:r>
              <a:rPr lang="en-US" sz="900" b="1" spc="260" kern="0" dirty="0">
                <a:solidFill>
                  <a:srgbClr val="7FE0B2"/>
                </a:solidFill>
                <a:latin typeface="Calibri" pitchFamily="34" charset="0"/>
                <a:ea typeface="Calibri" pitchFamily="34" charset="-122"/>
                <a:cs typeface="Calibri" pitchFamily="34" charset="-120"/>
              </a:rPr>
              <a:t>DAYANIKLILIK</a:t>
            </a:r>
            <a:endParaRPr lang="en-US" sz="900" dirty="0"/>
          </a:p>
        </p:txBody>
      </p:sp>
      <p:sp>
        <p:nvSpPr>
          <p:cNvPr id="15" name="Text 13"/>
          <p:cNvSpPr txBox="1"/>
          <p:nvPr/>
        </p:nvSpPr>
        <p:spPr>
          <a:xfrm>
            <a:off x="8386877" y="3566160"/>
            <a:ext cx="2931566" cy="310896"/>
          </a:xfrm>
          <a:prstGeom prst="rect">
            <a:avLst/>
          </a:prstGeom>
          <a:noFill/>
          <a:ln/>
        </p:spPr>
        <p:txBody>
          <a:bodyPr wrap="square" lIns="0" tIns="0" rIns="0" bIns="0" rtlCol="0" anchor="ctr"/>
          <a:lstStyle/>
          <a:p>
            <a:pPr indent="0" marL="0">
              <a:buNone/>
            </a:pPr>
            <a:r>
              <a:rPr lang="en-US" sz="1550" b="1" dirty="0">
                <a:solidFill>
                  <a:srgbClr val="E9F2F8"/>
                </a:solidFill>
                <a:latin typeface="Calibri" pitchFamily="34" charset="0"/>
                <a:ea typeface="Calibri" pitchFamily="34" charset="-122"/>
                <a:cs typeface="Calibri" pitchFamily="34" charset="-120"/>
              </a:rPr>
              <a:t>Bozulursa görmezden gelinir</a:t>
            </a:r>
            <a:endParaRPr lang="en-US" sz="1550" dirty="0"/>
          </a:p>
        </p:txBody>
      </p:sp>
      <p:sp>
        <p:nvSpPr>
          <p:cNvPr id="16" name="Text 14"/>
          <p:cNvSpPr txBox="1"/>
          <p:nvPr/>
        </p:nvSpPr>
        <p:spPr>
          <a:xfrm>
            <a:off x="8386877" y="3950208"/>
            <a:ext cx="2931566" cy="759866"/>
          </a:xfrm>
          <a:prstGeom prst="rect">
            <a:avLst/>
          </a:prstGeom>
          <a:noFill/>
          <a:ln/>
        </p:spPr>
        <p:txBody>
          <a:bodyPr wrap="square" lIns="0" tIns="0" rIns="0" bIns="0" rtlCol="0" anchor="t"/>
          <a:lstStyle/>
          <a:p>
            <a:pPr indent="0" marL="0">
              <a:lnSpc>
                <a:spcPts val="1800"/>
              </a:lnSpc>
              <a:buNone/>
            </a:pPr>
            <a:r>
              <a:rPr lang="en-US" sz="1200" dirty="0">
                <a:solidFill>
                  <a:srgbClr val="A9BCCB"/>
                </a:solidFill>
                <a:latin typeface="Calibri" pitchFamily="34" charset="0"/>
                <a:ea typeface="Calibri" pitchFamily="34" charset="-122"/>
                <a:cs typeface="Calibri" pitchFamily="34" charset="-120"/>
              </a:rPr>
              <a:t>Hata veren, donan ya da geçersiz yanıt döndüren bir katman tanılama defterine yazılır ve yok sayılır; tur onsuz tamamlanır.</a:t>
            </a:r>
            <a:endParaRPr lang="en-US" sz="1200" dirty="0"/>
          </a:p>
        </p:txBody>
      </p:sp>
      <p:sp>
        <p:nvSpPr>
          <p:cNvPr id="17" name="Text 15"/>
          <p:cNvSpPr txBox="1"/>
          <p:nvPr/>
        </p:nvSpPr>
        <p:spPr>
          <a:xfrm>
            <a:off x="566928" y="6382512"/>
            <a:ext cx="2377440" cy="237744"/>
          </a:xfrm>
          <a:prstGeom prst="rect">
            <a:avLst/>
          </a:prstGeom>
          <a:noFill/>
          <a:ln/>
        </p:spPr>
        <p:txBody>
          <a:bodyPr wrap="square" lIns="0" tIns="0" rIns="0" bIns="0" rtlCol="0" anchor="ctr"/>
          <a:lstStyle/>
          <a:p>
            <a:pPr indent="0" marL="0">
              <a:buNone/>
            </a:pPr>
            <a:r>
              <a:rPr lang="en-US" sz="850" spc="220" kern="0" dirty="0">
                <a:solidFill>
                  <a:srgbClr val="43566A"/>
                </a:solidFill>
                <a:latin typeface="Calibri" pitchFamily="34" charset="0"/>
                <a:ea typeface="Calibri" pitchFamily="34" charset="-122"/>
                <a:cs typeface="Calibri" pitchFamily="34" charset="-120"/>
              </a:rPr>
              <a:t>TIP AKADEMİSİ</a:t>
            </a:r>
            <a:endParaRPr lang="en-US" sz="850" dirty="0"/>
          </a:p>
        </p:txBody>
      </p:sp>
      <p:sp>
        <p:nvSpPr>
          <p:cNvPr id="18" name="Text 16"/>
          <p:cNvSpPr txBox="1"/>
          <p:nvPr/>
        </p:nvSpPr>
        <p:spPr>
          <a:xfrm>
            <a:off x="8229600" y="6382512"/>
            <a:ext cx="3364992" cy="237744"/>
          </a:xfrm>
          <a:prstGeom prst="rect">
            <a:avLst/>
          </a:prstGeom>
          <a:noFill/>
          <a:ln/>
        </p:spPr>
        <p:txBody>
          <a:bodyPr wrap="square" lIns="0" tIns="0" rIns="0" bIns="0" rtlCol="0" anchor="ctr"/>
          <a:lstStyle/>
          <a:p>
            <a:pPr algn="r" indent="0" marL="0">
              <a:buNone/>
            </a:pPr>
            <a:r>
              <a:rPr lang="en-US" sz="850" spc="220" kern="0" dirty="0">
                <a:solidFill>
                  <a:srgbClr val="43566A"/>
                </a:solidFill>
                <a:latin typeface="Calibri" pitchFamily="34" charset="0"/>
                <a:ea typeface="Calibri" pitchFamily="34" charset="-122"/>
                <a:cs typeface="Calibri" pitchFamily="34" charset="-120"/>
              </a:rPr>
              <a:t>02  ·  Giriş</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66928" y="566928"/>
            <a:ext cx="7680960" cy="237744"/>
          </a:xfrm>
          <a:prstGeom prst="rect">
            <a:avLst/>
          </a:prstGeom>
          <a:noFill/>
          <a:ln/>
        </p:spPr>
        <p:txBody>
          <a:bodyPr wrap="square" lIns="0" tIns="0" rIns="0" bIns="0" rtlCol="0" anchor="ctr"/>
          <a:lstStyle/>
          <a:p>
            <a:pPr indent="0" marL="0">
              <a:buNone/>
            </a:pPr>
            <a:r>
              <a:rPr lang="en-US" sz="1000" b="1" spc="340" kern="0" dirty="0">
                <a:solidFill>
                  <a:srgbClr val="4CC3EA"/>
                </a:solidFill>
                <a:latin typeface="Calibri" pitchFamily="34" charset="0"/>
                <a:ea typeface="Calibri" pitchFamily="34" charset="-122"/>
                <a:cs typeface="Calibri" pitchFamily="34" charset="-120"/>
              </a:rPr>
              <a:t>BIR BAKIŞTA</a:t>
            </a:r>
            <a:endParaRPr lang="en-US" sz="1000" dirty="0"/>
          </a:p>
        </p:txBody>
      </p:sp>
      <p:sp>
        <p:nvSpPr>
          <p:cNvPr id="3" name="Text 1"/>
          <p:cNvSpPr txBox="1"/>
          <p:nvPr/>
        </p:nvSpPr>
        <p:spPr>
          <a:xfrm>
            <a:off x="548640" y="841248"/>
            <a:ext cx="8229600" cy="786384"/>
          </a:xfrm>
          <a:prstGeom prst="rect">
            <a:avLst/>
          </a:prstGeom>
          <a:noFill/>
          <a:ln/>
        </p:spPr>
        <p:txBody>
          <a:bodyPr wrap="square" lIns="0" tIns="0" rIns="0" bIns="0" rtlCol="0" anchor="t"/>
          <a:lstStyle/>
          <a:p>
            <a:pPr indent="0" marL="0">
              <a:buNone/>
            </a:pPr>
            <a:r>
              <a:rPr lang="en-US" sz="3600" spc="40" kern="0" dirty="0">
                <a:solidFill>
                  <a:srgbClr val="E9F2F8"/>
                </a:solidFill>
                <a:latin typeface="Calibri" pitchFamily="34" charset="0"/>
                <a:ea typeface="Calibri" pitchFamily="34" charset="-122"/>
                <a:cs typeface="Calibri" pitchFamily="34" charset="-120"/>
              </a:rPr>
              <a:t>Kod değil, küratörlü veri</a:t>
            </a:r>
            <a:endParaRPr lang="en-US" sz="3600" dirty="0"/>
          </a:p>
        </p:txBody>
      </p:sp>
      <p:sp>
        <p:nvSpPr>
          <p:cNvPr id="4" name="Text 2"/>
          <p:cNvSpPr txBox="1"/>
          <p:nvPr/>
        </p:nvSpPr>
        <p:spPr>
          <a:xfrm>
            <a:off x="566928" y="1719072"/>
            <a:ext cx="10881360" cy="822960"/>
          </a:xfrm>
          <a:prstGeom prst="rect">
            <a:avLst/>
          </a:prstGeom>
          <a:noFill/>
          <a:ln/>
        </p:spPr>
        <p:txBody>
          <a:bodyPr wrap="square" lIns="0" tIns="0" rIns="0" bIns="0" rtlCol="0" anchor="t"/>
          <a:lstStyle/>
          <a:p>
            <a:pPr indent="0" marL="0">
              <a:lnSpc>
                <a:spcPts val="2200"/>
              </a:lnSpc>
              <a:buNone/>
            </a:pPr>
            <a:r>
              <a:rPr lang="en-US" sz="1400" dirty="0">
                <a:solidFill>
                  <a:srgbClr val="A9BCCB"/>
                </a:solidFill>
                <a:latin typeface="Calibri" pitchFamily="34" charset="0"/>
                <a:ea typeface="Calibri" pitchFamily="34" charset="-122"/>
                <a:cs typeface="Calibri" pitchFamily="34" charset="-120"/>
              </a:rPr>
              <a:t>Müfredat ve anatomi verisi kaynak koda gömülü değil; JSON dosyaları olarak tutulur ve tek tek gözden geçirilmiştir.</a:t>
            </a:r>
            <a:endParaRPr lang="en-US" sz="1400" dirty="0"/>
          </a:p>
        </p:txBody>
      </p:sp>
      <p:sp>
        <p:nvSpPr>
          <p:cNvPr id="5" name="Shape 3"/>
          <p:cNvSpPr/>
          <p:nvPr/>
        </p:nvSpPr>
        <p:spPr>
          <a:xfrm>
            <a:off x="566928" y="2542032"/>
            <a:ext cx="2564892" cy="1572768"/>
          </a:xfrm>
          <a:prstGeom prst="roundRect">
            <a:avLst>
              <a:gd name="adj" fmla="val 3488"/>
            </a:avLst>
          </a:prstGeom>
          <a:solidFill>
            <a:srgbClr val="121C2E">
              <a:alpha val="74000"/>
            </a:srgbClr>
          </a:solidFill>
          <a:ln w="12700">
            <a:solidFill>
              <a:srgbClr val="24384B"/>
            </a:solidFill>
            <a:prstDash val="solid"/>
          </a:ln>
        </p:spPr>
      </p:sp>
      <p:sp>
        <p:nvSpPr>
          <p:cNvPr id="6" name="Text 4"/>
          <p:cNvSpPr txBox="1"/>
          <p:nvPr/>
        </p:nvSpPr>
        <p:spPr>
          <a:xfrm>
            <a:off x="804672" y="2743200"/>
            <a:ext cx="2089404" cy="658368"/>
          </a:xfrm>
          <a:prstGeom prst="rect">
            <a:avLst/>
          </a:prstGeom>
          <a:noFill/>
          <a:ln/>
        </p:spPr>
        <p:txBody>
          <a:bodyPr wrap="square" lIns="0" tIns="0" rIns="0" bIns="0" rtlCol="0" anchor="ctr"/>
          <a:lstStyle/>
          <a:p>
            <a:pPr indent="0" marL="0">
              <a:buNone/>
            </a:pPr>
            <a:r>
              <a:rPr lang="en-US" sz="3800" b="1" dirty="0">
                <a:solidFill>
                  <a:srgbClr val="7FE0B2"/>
                </a:solidFill>
                <a:latin typeface="Calibri" pitchFamily="34" charset="0"/>
                <a:ea typeface="Calibri" pitchFamily="34" charset="-122"/>
                <a:cs typeface="Calibri" pitchFamily="34" charset="-120"/>
              </a:rPr>
              <a:t>7</a:t>
            </a:r>
            <a:endParaRPr lang="en-US" sz="3800" dirty="0"/>
          </a:p>
        </p:txBody>
      </p:sp>
      <p:sp>
        <p:nvSpPr>
          <p:cNvPr id="7" name="Text 5"/>
          <p:cNvSpPr txBox="1"/>
          <p:nvPr/>
        </p:nvSpPr>
        <p:spPr>
          <a:xfrm>
            <a:off x="804672" y="3438144"/>
            <a:ext cx="2089404" cy="219456"/>
          </a:xfrm>
          <a:prstGeom prst="rect">
            <a:avLst/>
          </a:prstGeom>
          <a:noFill/>
          <a:ln/>
        </p:spPr>
        <p:txBody>
          <a:bodyPr wrap="square" lIns="0" tIns="0" rIns="0" bIns="0" rtlCol="0" anchor="ctr"/>
          <a:lstStyle/>
          <a:p>
            <a:pPr indent="0" marL="0">
              <a:buNone/>
            </a:pPr>
            <a:r>
              <a:rPr lang="en-US" sz="950" b="1" spc="220" kern="0" dirty="0">
                <a:solidFill>
                  <a:srgbClr val="A9BCCB"/>
                </a:solidFill>
                <a:latin typeface="Calibri" pitchFamily="34" charset="0"/>
                <a:ea typeface="Calibri" pitchFamily="34" charset="-122"/>
                <a:cs typeface="Calibri" pitchFamily="34" charset="-120"/>
              </a:rPr>
              <a:t>BIRINCI SINIF DERSI</a:t>
            </a:r>
            <a:endParaRPr lang="en-US" sz="950" dirty="0"/>
          </a:p>
        </p:txBody>
      </p:sp>
      <p:sp>
        <p:nvSpPr>
          <p:cNvPr id="8" name="Text 6"/>
          <p:cNvSpPr txBox="1"/>
          <p:nvPr/>
        </p:nvSpPr>
        <p:spPr>
          <a:xfrm>
            <a:off x="804672" y="3675888"/>
            <a:ext cx="2089404" cy="292608"/>
          </a:xfrm>
          <a:prstGeom prst="rect">
            <a:avLst/>
          </a:prstGeom>
          <a:noFill/>
          <a:ln/>
        </p:spPr>
        <p:txBody>
          <a:bodyPr wrap="square" lIns="0" tIns="0" rIns="0" bIns="0" rtlCol="0" anchor="ctr"/>
          <a:lstStyle/>
          <a:p>
            <a:pPr indent="0" marL="0">
              <a:lnSpc>
                <a:spcPts val="1300"/>
              </a:lnSpc>
              <a:buNone/>
            </a:pPr>
            <a:r>
              <a:rPr lang="en-US" sz="1000" dirty="0">
                <a:solidFill>
                  <a:srgbClr val="6F8597"/>
                </a:solidFill>
                <a:latin typeface="Calibri" pitchFamily="34" charset="0"/>
                <a:ea typeface="Calibri" pitchFamily="34" charset="-122"/>
                <a:cs typeface="Calibri" pitchFamily="34" charset="-120"/>
              </a:rPr>
              <a:t>anatomiden biyolojiye</a:t>
            </a:r>
            <a:endParaRPr lang="en-US" sz="1000" dirty="0"/>
          </a:p>
        </p:txBody>
      </p:sp>
      <p:sp>
        <p:nvSpPr>
          <p:cNvPr id="9" name="Shape 7"/>
          <p:cNvSpPr/>
          <p:nvPr/>
        </p:nvSpPr>
        <p:spPr>
          <a:xfrm>
            <a:off x="3387852" y="2542032"/>
            <a:ext cx="2564892" cy="1572768"/>
          </a:xfrm>
          <a:prstGeom prst="roundRect">
            <a:avLst>
              <a:gd name="adj" fmla="val 3488"/>
            </a:avLst>
          </a:prstGeom>
          <a:solidFill>
            <a:srgbClr val="121C2E">
              <a:alpha val="74000"/>
            </a:srgbClr>
          </a:solidFill>
          <a:ln w="12700">
            <a:solidFill>
              <a:srgbClr val="24384B"/>
            </a:solidFill>
            <a:prstDash val="solid"/>
          </a:ln>
        </p:spPr>
      </p:sp>
      <p:sp>
        <p:nvSpPr>
          <p:cNvPr id="10" name="Text 8"/>
          <p:cNvSpPr txBox="1"/>
          <p:nvPr/>
        </p:nvSpPr>
        <p:spPr>
          <a:xfrm>
            <a:off x="3625596" y="2743200"/>
            <a:ext cx="2089404" cy="658368"/>
          </a:xfrm>
          <a:prstGeom prst="rect">
            <a:avLst/>
          </a:prstGeom>
          <a:noFill/>
          <a:ln/>
        </p:spPr>
        <p:txBody>
          <a:bodyPr wrap="square" lIns="0" tIns="0" rIns="0" bIns="0" rtlCol="0" anchor="ctr"/>
          <a:lstStyle/>
          <a:p>
            <a:pPr indent="0" marL="0">
              <a:buNone/>
            </a:pPr>
            <a:r>
              <a:rPr lang="en-US" sz="3800" b="1" dirty="0">
                <a:solidFill>
                  <a:srgbClr val="8EE0FF"/>
                </a:solidFill>
                <a:latin typeface="Calibri" pitchFamily="34" charset="0"/>
                <a:ea typeface="Calibri" pitchFamily="34" charset="-122"/>
                <a:cs typeface="Calibri" pitchFamily="34" charset="-120"/>
              </a:rPr>
              <a:t>107</a:t>
            </a:r>
            <a:endParaRPr lang="en-US" sz="3800" dirty="0"/>
          </a:p>
        </p:txBody>
      </p:sp>
      <p:sp>
        <p:nvSpPr>
          <p:cNvPr id="11" name="Text 9"/>
          <p:cNvSpPr txBox="1"/>
          <p:nvPr/>
        </p:nvSpPr>
        <p:spPr>
          <a:xfrm>
            <a:off x="3625596" y="3438144"/>
            <a:ext cx="2089404" cy="219456"/>
          </a:xfrm>
          <a:prstGeom prst="rect">
            <a:avLst/>
          </a:prstGeom>
          <a:noFill/>
          <a:ln/>
        </p:spPr>
        <p:txBody>
          <a:bodyPr wrap="square" lIns="0" tIns="0" rIns="0" bIns="0" rtlCol="0" anchor="ctr"/>
          <a:lstStyle/>
          <a:p>
            <a:pPr indent="0" marL="0">
              <a:buNone/>
            </a:pPr>
            <a:r>
              <a:rPr lang="en-US" sz="950" b="1" spc="220" kern="0" dirty="0">
                <a:solidFill>
                  <a:srgbClr val="A9BCCB"/>
                </a:solidFill>
                <a:latin typeface="Calibri" pitchFamily="34" charset="0"/>
                <a:ea typeface="Calibri" pitchFamily="34" charset="-122"/>
                <a:cs typeface="Calibri" pitchFamily="34" charset="-120"/>
              </a:rPr>
              <a:t>MÜFREDAT KONUSU</a:t>
            </a:r>
            <a:endParaRPr lang="en-US" sz="950" dirty="0"/>
          </a:p>
        </p:txBody>
      </p:sp>
      <p:sp>
        <p:nvSpPr>
          <p:cNvPr id="12" name="Text 10"/>
          <p:cNvSpPr txBox="1"/>
          <p:nvPr/>
        </p:nvSpPr>
        <p:spPr>
          <a:xfrm>
            <a:off x="3625596" y="3675888"/>
            <a:ext cx="2089404" cy="292608"/>
          </a:xfrm>
          <a:prstGeom prst="rect">
            <a:avLst/>
          </a:prstGeom>
          <a:noFill/>
          <a:ln/>
        </p:spPr>
        <p:txBody>
          <a:bodyPr wrap="square" lIns="0" tIns="0" rIns="0" bIns="0" rtlCol="0" anchor="ctr"/>
          <a:lstStyle/>
          <a:p>
            <a:pPr indent="0" marL="0">
              <a:lnSpc>
                <a:spcPts val="1300"/>
              </a:lnSpc>
              <a:buNone/>
            </a:pPr>
            <a:r>
              <a:rPr lang="en-US" sz="1000" dirty="0">
                <a:solidFill>
                  <a:srgbClr val="6F8597"/>
                </a:solidFill>
                <a:latin typeface="Calibri" pitchFamily="34" charset="0"/>
                <a:ea typeface="Calibri" pitchFamily="34" charset="-122"/>
                <a:cs typeface="Calibri" pitchFamily="34" charset="-120"/>
              </a:rPr>
              <a:t>noktalı konu kimlikleriyle</a:t>
            </a:r>
            <a:endParaRPr lang="en-US" sz="1000" dirty="0"/>
          </a:p>
        </p:txBody>
      </p:sp>
      <p:sp>
        <p:nvSpPr>
          <p:cNvPr id="13" name="Shape 11"/>
          <p:cNvSpPr/>
          <p:nvPr/>
        </p:nvSpPr>
        <p:spPr>
          <a:xfrm>
            <a:off x="6208776" y="2542032"/>
            <a:ext cx="2564892" cy="1572768"/>
          </a:xfrm>
          <a:prstGeom prst="roundRect">
            <a:avLst>
              <a:gd name="adj" fmla="val 3488"/>
            </a:avLst>
          </a:prstGeom>
          <a:solidFill>
            <a:srgbClr val="121C2E">
              <a:alpha val="74000"/>
            </a:srgbClr>
          </a:solidFill>
          <a:ln w="12700">
            <a:solidFill>
              <a:srgbClr val="24384B"/>
            </a:solidFill>
            <a:prstDash val="solid"/>
          </a:ln>
        </p:spPr>
      </p:sp>
      <p:sp>
        <p:nvSpPr>
          <p:cNvPr id="14" name="Text 12"/>
          <p:cNvSpPr txBox="1"/>
          <p:nvPr/>
        </p:nvSpPr>
        <p:spPr>
          <a:xfrm>
            <a:off x="6446520" y="2743200"/>
            <a:ext cx="2089404" cy="658368"/>
          </a:xfrm>
          <a:prstGeom prst="rect">
            <a:avLst/>
          </a:prstGeom>
          <a:noFill/>
          <a:ln/>
        </p:spPr>
        <p:txBody>
          <a:bodyPr wrap="square" lIns="0" tIns="0" rIns="0" bIns="0" rtlCol="0" anchor="ctr"/>
          <a:lstStyle/>
          <a:p>
            <a:pPr indent="0" marL="0">
              <a:buNone/>
            </a:pPr>
            <a:r>
              <a:rPr lang="en-US" sz="3800" b="1" dirty="0">
                <a:solidFill>
                  <a:srgbClr val="8EE0FF"/>
                </a:solidFill>
                <a:latin typeface="Calibri" pitchFamily="34" charset="0"/>
                <a:ea typeface="Calibri" pitchFamily="34" charset="-122"/>
                <a:cs typeface="Calibri" pitchFamily="34" charset="-120"/>
              </a:rPr>
              <a:t>127</a:t>
            </a:r>
            <a:endParaRPr lang="en-US" sz="3800" dirty="0"/>
          </a:p>
        </p:txBody>
      </p:sp>
      <p:sp>
        <p:nvSpPr>
          <p:cNvPr id="15" name="Text 13"/>
          <p:cNvSpPr txBox="1"/>
          <p:nvPr/>
        </p:nvSpPr>
        <p:spPr>
          <a:xfrm>
            <a:off x="6446520" y="3438144"/>
            <a:ext cx="2089404" cy="219456"/>
          </a:xfrm>
          <a:prstGeom prst="rect">
            <a:avLst/>
          </a:prstGeom>
          <a:noFill/>
          <a:ln/>
        </p:spPr>
        <p:txBody>
          <a:bodyPr wrap="square" lIns="0" tIns="0" rIns="0" bIns="0" rtlCol="0" anchor="ctr"/>
          <a:lstStyle/>
          <a:p>
            <a:pPr indent="0" marL="0">
              <a:buNone/>
            </a:pPr>
            <a:r>
              <a:rPr lang="en-US" sz="950" b="1" spc="220" kern="0" dirty="0">
                <a:solidFill>
                  <a:srgbClr val="A9BCCB"/>
                </a:solidFill>
                <a:latin typeface="Calibri" pitchFamily="34" charset="0"/>
                <a:ea typeface="Calibri" pitchFamily="34" charset="-122"/>
                <a:cs typeface="Calibri" pitchFamily="34" charset="-120"/>
              </a:rPr>
              <a:t>ANATOMIK YAPI</a:t>
            </a:r>
            <a:endParaRPr lang="en-US" sz="950" dirty="0"/>
          </a:p>
        </p:txBody>
      </p:sp>
      <p:sp>
        <p:nvSpPr>
          <p:cNvPr id="16" name="Text 14"/>
          <p:cNvSpPr txBox="1"/>
          <p:nvPr/>
        </p:nvSpPr>
        <p:spPr>
          <a:xfrm>
            <a:off x="6446520" y="3675888"/>
            <a:ext cx="2089404" cy="292608"/>
          </a:xfrm>
          <a:prstGeom prst="rect">
            <a:avLst/>
          </a:prstGeom>
          <a:noFill/>
          <a:ln/>
        </p:spPr>
        <p:txBody>
          <a:bodyPr wrap="square" lIns="0" tIns="0" rIns="0" bIns="0" rtlCol="0" anchor="ctr"/>
          <a:lstStyle/>
          <a:p>
            <a:pPr indent="0" marL="0">
              <a:lnSpc>
                <a:spcPts val="1300"/>
              </a:lnSpc>
              <a:buNone/>
            </a:pPr>
            <a:r>
              <a:rPr lang="en-US" sz="1000" dirty="0">
                <a:solidFill>
                  <a:srgbClr val="6F8597"/>
                </a:solidFill>
                <a:latin typeface="Calibri" pitchFamily="34" charset="0"/>
                <a:ea typeface="Calibri" pitchFamily="34" charset="-122"/>
                <a:cs typeface="Calibri" pitchFamily="34" charset="-120"/>
              </a:rPr>
              <a:t>278 işaret noktası</a:t>
            </a:r>
            <a:endParaRPr lang="en-US" sz="1000" dirty="0"/>
          </a:p>
        </p:txBody>
      </p:sp>
      <p:sp>
        <p:nvSpPr>
          <p:cNvPr id="17" name="Shape 15"/>
          <p:cNvSpPr/>
          <p:nvPr/>
        </p:nvSpPr>
        <p:spPr>
          <a:xfrm>
            <a:off x="9029700" y="2542032"/>
            <a:ext cx="2564892" cy="1572768"/>
          </a:xfrm>
          <a:prstGeom prst="roundRect">
            <a:avLst>
              <a:gd name="adj" fmla="val 3488"/>
            </a:avLst>
          </a:prstGeom>
          <a:solidFill>
            <a:srgbClr val="121C2E">
              <a:alpha val="74000"/>
            </a:srgbClr>
          </a:solidFill>
          <a:ln w="12700">
            <a:solidFill>
              <a:srgbClr val="24384B"/>
            </a:solidFill>
            <a:prstDash val="solid"/>
          </a:ln>
        </p:spPr>
      </p:sp>
      <p:sp>
        <p:nvSpPr>
          <p:cNvPr id="18" name="Text 16"/>
          <p:cNvSpPr txBox="1"/>
          <p:nvPr/>
        </p:nvSpPr>
        <p:spPr>
          <a:xfrm>
            <a:off x="9267444" y="2743200"/>
            <a:ext cx="2089404" cy="658368"/>
          </a:xfrm>
          <a:prstGeom prst="rect">
            <a:avLst/>
          </a:prstGeom>
          <a:noFill/>
          <a:ln/>
        </p:spPr>
        <p:txBody>
          <a:bodyPr wrap="square" lIns="0" tIns="0" rIns="0" bIns="0" rtlCol="0" anchor="ctr"/>
          <a:lstStyle/>
          <a:p>
            <a:pPr indent="0" marL="0">
              <a:buNone/>
            </a:pPr>
            <a:r>
              <a:rPr lang="en-US" sz="3800" b="1" dirty="0">
                <a:solidFill>
                  <a:srgbClr val="B8A8FF"/>
                </a:solidFill>
                <a:latin typeface="Calibri" pitchFamily="34" charset="0"/>
                <a:ea typeface="Calibri" pitchFamily="34" charset="-122"/>
                <a:cs typeface="Calibri" pitchFamily="34" charset="-120"/>
              </a:rPr>
              <a:t>86</a:t>
            </a:r>
            <a:endParaRPr lang="en-US" sz="3800" dirty="0"/>
          </a:p>
        </p:txBody>
      </p:sp>
      <p:sp>
        <p:nvSpPr>
          <p:cNvPr id="19" name="Text 17"/>
          <p:cNvSpPr txBox="1"/>
          <p:nvPr/>
        </p:nvSpPr>
        <p:spPr>
          <a:xfrm>
            <a:off x="9267444" y="3438144"/>
            <a:ext cx="2089404" cy="219456"/>
          </a:xfrm>
          <a:prstGeom prst="rect">
            <a:avLst/>
          </a:prstGeom>
          <a:noFill/>
          <a:ln/>
        </p:spPr>
        <p:txBody>
          <a:bodyPr wrap="square" lIns="0" tIns="0" rIns="0" bIns="0" rtlCol="0" anchor="ctr"/>
          <a:lstStyle/>
          <a:p>
            <a:pPr indent="0" marL="0">
              <a:buNone/>
            </a:pPr>
            <a:r>
              <a:rPr lang="en-US" sz="950" b="1" spc="220" kern="0" dirty="0">
                <a:solidFill>
                  <a:srgbClr val="A9BCCB"/>
                </a:solidFill>
                <a:latin typeface="Calibri" pitchFamily="34" charset="0"/>
                <a:ea typeface="Calibri" pitchFamily="34" charset="-122"/>
                <a:cs typeface="Calibri" pitchFamily="34" charset="-120"/>
              </a:rPr>
              <a:t>LATINCE TERIM</a:t>
            </a:r>
            <a:endParaRPr lang="en-US" sz="950" dirty="0"/>
          </a:p>
        </p:txBody>
      </p:sp>
      <p:sp>
        <p:nvSpPr>
          <p:cNvPr id="20" name="Text 18"/>
          <p:cNvSpPr txBox="1"/>
          <p:nvPr/>
        </p:nvSpPr>
        <p:spPr>
          <a:xfrm>
            <a:off x="9267444" y="3675888"/>
            <a:ext cx="2089404" cy="292608"/>
          </a:xfrm>
          <a:prstGeom prst="rect">
            <a:avLst/>
          </a:prstGeom>
          <a:noFill/>
          <a:ln/>
        </p:spPr>
        <p:txBody>
          <a:bodyPr wrap="square" lIns="0" tIns="0" rIns="0" bIns="0" rtlCol="0" anchor="ctr"/>
          <a:lstStyle/>
          <a:p>
            <a:pPr indent="0" marL="0">
              <a:lnSpc>
                <a:spcPts val="1300"/>
              </a:lnSpc>
              <a:buNone/>
            </a:pPr>
            <a:r>
              <a:rPr lang="en-US" sz="1000" dirty="0">
                <a:solidFill>
                  <a:srgbClr val="6F8597"/>
                </a:solidFill>
                <a:latin typeface="Calibri" pitchFamily="34" charset="0"/>
                <a:ea typeface="Calibri" pitchFamily="34" charset="-122"/>
                <a:cs typeface="Calibri" pitchFamily="34" charset="-120"/>
              </a:rPr>
              <a:t>takma adlarıyla tanınır</a:t>
            </a:r>
            <a:endParaRPr lang="en-US" sz="1000" dirty="0"/>
          </a:p>
        </p:txBody>
      </p:sp>
      <p:sp>
        <p:nvSpPr>
          <p:cNvPr id="21" name="Shape 19"/>
          <p:cNvSpPr/>
          <p:nvPr/>
        </p:nvSpPr>
        <p:spPr>
          <a:xfrm>
            <a:off x="566928" y="4352544"/>
            <a:ext cx="1147572" cy="420624"/>
          </a:xfrm>
          <a:prstGeom prst="roundRect">
            <a:avLst>
              <a:gd name="adj" fmla="val 13043"/>
            </a:avLst>
          </a:prstGeom>
          <a:solidFill>
            <a:srgbClr val="121C2E">
              <a:alpha val="66000"/>
            </a:srgbClr>
          </a:solidFill>
          <a:ln w="12700">
            <a:solidFill>
              <a:srgbClr val="7FE0B2"/>
            </a:solidFill>
            <a:prstDash val="solid"/>
          </a:ln>
        </p:spPr>
      </p:sp>
      <p:sp>
        <p:nvSpPr>
          <p:cNvPr id="22" name="Text 20"/>
          <p:cNvSpPr txBox="1"/>
          <p:nvPr/>
        </p:nvSpPr>
        <p:spPr>
          <a:xfrm>
            <a:off x="566928" y="4352544"/>
            <a:ext cx="1147572" cy="420624"/>
          </a:xfrm>
          <a:prstGeom prst="rect">
            <a:avLst/>
          </a:prstGeom>
          <a:noFill/>
          <a:ln/>
        </p:spPr>
        <p:txBody>
          <a:bodyPr wrap="square" lIns="0" tIns="0" rIns="0" bIns="0" rtlCol="0" anchor="ctr"/>
          <a:lstStyle/>
          <a:p>
            <a:pPr algn="ctr" indent="0" marL="0">
              <a:buNone/>
            </a:pPr>
            <a:r>
              <a:rPr lang="en-US" sz="1150" dirty="0">
                <a:solidFill>
                  <a:srgbClr val="7FE0B2"/>
                </a:solidFill>
                <a:latin typeface="Calibri" pitchFamily="34" charset="0"/>
                <a:ea typeface="Calibri" pitchFamily="34" charset="-122"/>
                <a:cs typeface="Calibri" pitchFamily="34" charset="-120"/>
              </a:rPr>
              <a:t>Anatomi</a:t>
            </a:r>
            <a:endParaRPr lang="en-US" sz="1150" dirty="0"/>
          </a:p>
        </p:txBody>
      </p:sp>
      <p:sp>
        <p:nvSpPr>
          <p:cNvPr id="23" name="Shape 21"/>
          <p:cNvSpPr/>
          <p:nvPr/>
        </p:nvSpPr>
        <p:spPr>
          <a:xfrm>
            <a:off x="1860804" y="4352544"/>
            <a:ext cx="1339596" cy="420624"/>
          </a:xfrm>
          <a:prstGeom prst="roundRect">
            <a:avLst>
              <a:gd name="adj" fmla="val 13043"/>
            </a:avLst>
          </a:prstGeom>
          <a:solidFill>
            <a:srgbClr val="121C2E">
              <a:alpha val="66000"/>
            </a:srgbClr>
          </a:solidFill>
          <a:ln w="12700">
            <a:solidFill>
              <a:srgbClr val="7FE0B2"/>
            </a:solidFill>
            <a:prstDash val="solid"/>
          </a:ln>
        </p:spPr>
      </p:sp>
      <p:sp>
        <p:nvSpPr>
          <p:cNvPr id="24" name="Text 22"/>
          <p:cNvSpPr txBox="1"/>
          <p:nvPr/>
        </p:nvSpPr>
        <p:spPr>
          <a:xfrm>
            <a:off x="1860804" y="4352544"/>
            <a:ext cx="1339596" cy="420624"/>
          </a:xfrm>
          <a:prstGeom prst="rect">
            <a:avLst/>
          </a:prstGeom>
          <a:noFill/>
          <a:ln/>
        </p:spPr>
        <p:txBody>
          <a:bodyPr wrap="square" lIns="0" tIns="0" rIns="0" bIns="0" rtlCol="0" anchor="ctr"/>
          <a:lstStyle/>
          <a:p>
            <a:pPr algn="ctr" indent="0" marL="0">
              <a:buNone/>
            </a:pPr>
            <a:r>
              <a:rPr lang="en-US" sz="1150" dirty="0">
                <a:solidFill>
                  <a:srgbClr val="7FE0B2"/>
                </a:solidFill>
                <a:latin typeface="Calibri" pitchFamily="34" charset="0"/>
                <a:ea typeface="Calibri" pitchFamily="34" charset="-122"/>
                <a:cs typeface="Calibri" pitchFamily="34" charset="-120"/>
              </a:rPr>
              <a:t>Histoloji</a:t>
            </a:r>
            <a:endParaRPr lang="en-US" sz="1150" dirty="0"/>
          </a:p>
        </p:txBody>
      </p:sp>
      <p:sp>
        <p:nvSpPr>
          <p:cNvPr id="25" name="Shape 23"/>
          <p:cNvSpPr/>
          <p:nvPr/>
        </p:nvSpPr>
        <p:spPr>
          <a:xfrm>
            <a:off x="3346704" y="4352544"/>
            <a:ext cx="1723644" cy="420624"/>
          </a:xfrm>
          <a:prstGeom prst="roundRect">
            <a:avLst>
              <a:gd name="adj" fmla="val 13043"/>
            </a:avLst>
          </a:prstGeom>
          <a:solidFill>
            <a:srgbClr val="121C2E">
              <a:alpha val="66000"/>
            </a:srgbClr>
          </a:solidFill>
          <a:ln w="12700">
            <a:solidFill>
              <a:srgbClr val="7FE0B2"/>
            </a:solidFill>
            <a:prstDash val="solid"/>
          </a:ln>
        </p:spPr>
      </p:sp>
      <p:sp>
        <p:nvSpPr>
          <p:cNvPr id="26" name="Text 24"/>
          <p:cNvSpPr txBox="1"/>
          <p:nvPr/>
        </p:nvSpPr>
        <p:spPr>
          <a:xfrm>
            <a:off x="3346704" y="4352544"/>
            <a:ext cx="1723644" cy="420624"/>
          </a:xfrm>
          <a:prstGeom prst="rect">
            <a:avLst/>
          </a:prstGeom>
          <a:noFill/>
          <a:ln/>
        </p:spPr>
        <p:txBody>
          <a:bodyPr wrap="square" lIns="0" tIns="0" rIns="0" bIns="0" rtlCol="0" anchor="ctr"/>
          <a:lstStyle/>
          <a:p>
            <a:pPr algn="ctr" indent="0" marL="0">
              <a:buNone/>
            </a:pPr>
            <a:r>
              <a:rPr lang="en-US" sz="1150" dirty="0">
                <a:solidFill>
                  <a:srgbClr val="7FE0B2"/>
                </a:solidFill>
                <a:latin typeface="Calibri" pitchFamily="34" charset="0"/>
                <a:ea typeface="Calibri" pitchFamily="34" charset="-122"/>
                <a:cs typeface="Calibri" pitchFamily="34" charset="-120"/>
              </a:rPr>
              <a:t>Mikrobiyoloji</a:t>
            </a:r>
            <a:endParaRPr lang="en-US" sz="1150" dirty="0"/>
          </a:p>
        </p:txBody>
      </p:sp>
      <p:sp>
        <p:nvSpPr>
          <p:cNvPr id="27" name="Shape 25"/>
          <p:cNvSpPr/>
          <p:nvPr/>
        </p:nvSpPr>
        <p:spPr>
          <a:xfrm>
            <a:off x="5216652" y="4352544"/>
            <a:ext cx="1339596" cy="420624"/>
          </a:xfrm>
          <a:prstGeom prst="roundRect">
            <a:avLst>
              <a:gd name="adj" fmla="val 13043"/>
            </a:avLst>
          </a:prstGeom>
          <a:solidFill>
            <a:srgbClr val="121C2E">
              <a:alpha val="66000"/>
            </a:srgbClr>
          </a:solidFill>
          <a:ln w="12700">
            <a:solidFill>
              <a:srgbClr val="7FE0B2"/>
            </a:solidFill>
            <a:prstDash val="solid"/>
          </a:ln>
        </p:spPr>
      </p:sp>
      <p:sp>
        <p:nvSpPr>
          <p:cNvPr id="28" name="Text 26"/>
          <p:cNvSpPr txBox="1"/>
          <p:nvPr/>
        </p:nvSpPr>
        <p:spPr>
          <a:xfrm>
            <a:off x="5216652" y="4352544"/>
            <a:ext cx="1339596" cy="420624"/>
          </a:xfrm>
          <a:prstGeom prst="rect">
            <a:avLst/>
          </a:prstGeom>
          <a:noFill/>
          <a:ln/>
        </p:spPr>
        <p:txBody>
          <a:bodyPr wrap="square" lIns="0" tIns="0" rIns="0" bIns="0" rtlCol="0" anchor="ctr"/>
          <a:lstStyle/>
          <a:p>
            <a:pPr algn="ctr" indent="0" marL="0">
              <a:buNone/>
            </a:pPr>
            <a:r>
              <a:rPr lang="en-US" sz="1150" dirty="0">
                <a:solidFill>
                  <a:srgbClr val="7FE0B2"/>
                </a:solidFill>
                <a:latin typeface="Calibri" pitchFamily="34" charset="0"/>
                <a:ea typeface="Calibri" pitchFamily="34" charset="-122"/>
                <a:cs typeface="Calibri" pitchFamily="34" charset="-120"/>
              </a:rPr>
              <a:t>Biyokimya</a:t>
            </a:r>
            <a:endParaRPr lang="en-US" sz="1150" dirty="0"/>
          </a:p>
        </p:txBody>
      </p:sp>
      <p:sp>
        <p:nvSpPr>
          <p:cNvPr id="29" name="Shape 27"/>
          <p:cNvSpPr/>
          <p:nvPr/>
        </p:nvSpPr>
        <p:spPr>
          <a:xfrm>
            <a:off x="6702552" y="4352544"/>
            <a:ext cx="1339596" cy="420624"/>
          </a:xfrm>
          <a:prstGeom prst="roundRect">
            <a:avLst>
              <a:gd name="adj" fmla="val 13043"/>
            </a:avLst>
          </a:prstGeom>
          <a:solidFill>
            <a:srgbClr val="121C2E">
              <a:alpha val="66000"/>
            </a:srgbClr>
          </a:solidFill>
          <a:ln w="12700">
            <a:solidFill>
              <a:srgbClr val="7FE0B2"/>
            </a:solidFill>
            <a:prstDash val="solid"/>
          </a:ln>
        </p:spPr>
      </p:sp>
      <p:sp>
        <p:nvSpPr>
          <p:cNvPr id="30" name="Text 28"/>
          <p:cNvSpPr txBox="1"/>
          <p:nvPr/>
        </p:nvSpPr>
        <p:spPr>
          <a:xfrm>
            <a:off x="6702552" y="4352544"/>
            <a:ext cx="1339596" cy="420624"/>
          </a:xfrm>
          <a:prstGeom prst="rect">
            <a:avLst/>
          </a:prstGeom>
          <a:noFill/>
          <a:ln/>
        </p:spPr>
        <p:txBody>
          <a:bodyPr wrap="square" lIns="0" tIns="0" rIns="0" bIns="0" rtlCol="0" anchor="ctr"/>
          <a:lstStyle/>
          <a:p>
            <a:pPr algn="ctr" indent="0" marL="0">
              <a:buNone/>
            </a:pPr>
            <a:r>
              <a:rPr lang="en-US" sz="1150" dirty="0">
                <a:solidFill>
                  <a:srgbClr val="7FE0B2"/>
                </a:solidFill>
                <a:latin typeface="Calibri" pitchFamily="34" charset="0"/>
                <a:ea typeface="Calibri" pitchFamily="34" charset="-122"/>
                <a:cs typeface="Calibri" pitchFamily="34" charset="-120"/>
              </a:rPr>
              <a:t>Biyofizik</a:t>
            </a:r>
            <a:endParaRPr lang="en-US" sz="1150" dirty="0"/>
          </a:p>
        </p:txBody>
      </p:sp>
      <p:sp>
        <p:nvSpPr>
          <p:cNvPr id="31" name="Shape 29"/>
          <p:cNvSpPr/>
          <p:nvPr/>
        </p:nvSpPr>
        <p:spPr>
          <a:xfrm>
            <a:off x="8188452" y="4352544"/>
            <a:ext cx="1339596" cy="420624"/>
          </a:xfrm>
          <a:prstGeom prst="roundRect">
            <a:avLst>
              <a:gd name="adj" fmla="val 13043"/>
            </a:avLst>
          </a:prstGeom>
          <a:solidFill>
            <a:srgbClr val="121C2E">
              <a:alpha val="66000"/>
            </a:srgbClr>
          </a:solidFill>
          <a:ln w="12700">
            <a:solidFill>
              <a:srgbClr val="7FE0B2"/>
            </a:solidFill>
            <a:prstDash val="solid"/>
          </a:ln>
        </p:spPr>
      </p:sp>
      <p:sp>
        <p:nvSpPr>
          <p:cNvPr id="32" name="Text 30"/>
          <p:cNvSpPr txBox="1"/>
          <p:nvPr/>
        </p:nvSpPr>
        <p:spPr>
          <a:xfrm>
            <a:off x="8188452" y="4352544"/>
            <a:ext cx="1339596" cy="420624"/>
          </a:xfrm>
          <a:prstGeom prst="rect">
            <a:avLst/>
          </a:prstGeom>
          <a:noFill/>
          <a:ln/>
        </p:spPr>
        <p:txBody>
          <a:bodyPr wrap="square" lIns="0" tIns="0" rIns="0" bIns="0" rtlCol="0" anchor="ctr"/>
          <a:lstStyle/>
          <a:p>
            <a:pPr algn="ctr" indent="0" marL="0">
              <a:buNone/>
            </a:pPr>
            <a:r>
              <a:rPr lang="en-US" sz="1150" dirty="0">
                <a:solidFill>
                  <a:srgbClr val="7FE0B2"/>
                </a:solidFill>
                <a:latin typeface="Calibri" pitchFamily="34" charset="0"/>
                <a:ea typeface="Calibri" pitchFamily="34" charset="-122"/>
                <a:cs typeface="Calibri" pitchFamily="34" charset="-120"/>
              </a:rPr>
              <a:t>Fizyoloji</a:t>
            </a:r>
            <a:endParaRPr lang="en-US" sz="1150" dirty="0"/>
          </a:p>
        </p:txBody>
      </p:sp>
      <p:sp>
        <p:nvSpPr>
          <p:cNvPr id="33" name="Shape 31"/>
          <p:cNvSpPr/>
          <p:nvPr/>
        </p:nvSpPr>
        <p:spPr>
          <a:xfrm>
            <a:off x="9674352" y="4352544"/>
            <a:ext cx="1243584" cy="420624"/>
          </a:xfrm>
          <a:prstGeom prst="roundRect">
            <a:avLst>
              <a:gd name="adj" fmla="val 13043"/>
            </a:avLst>
          </a:prstGeom>
          <a:solidFill>
            <a:srgbClr val="121C2E">
              <a:alpha val="66000"/>
            </a:srgbClr>
          </a:solidFill>
          <a:ln w="12700">
            <a:solidFill>
              <a:srgbClr val="7FE0B2"/>
            </a:solidFill>
            <a:prstDash val="solid"/>
          </a:ln>
        </p:spPr>
      </p:sp>
      <p:sp>
        <p:nvSpPr>
          <p:cNvPr id="34" name="Text 32"/>
          <p:cNvSpPr txBox="1"/>
          <p:nvPr/>
        </p:nvSpPr>
        <p:spPr>
          <a:xfrm>
            <a:off x="9674352" y="4352544"/>
            <a:ext cx="1243584" cy="420624"/>
          </a:xfrm>
          <a:prstGeom prst="rect">
            <a:avLst/>
          </a:prstGeom>
          <a:noFill/>
          <a:ln/>
        </p:spPr>
        <p:txBody>
          <a:bodyPr wrap="square" lIns="0" tIns="0" rIns="0" bIns="0" rtlCol="0" anchor="ctr"/>
          <a:lstStyle/>
          <a:p>
            <a:pPr algn="ctr" indent="0" marL="0">
              <a:buNone/>
            </a:pPr>
            <a:r>
              <a:rPr lang="en-US" sz="1150" dirty="0">
                <a:solidFill>
                  <a:srgbClr val="7FE0B2"/>
                </a:solidFill>
                <a:latin typeface="Calibri" pitchFamily="34" charset="0"/>
                <a:ea typeface="Calibri" pitchFamily="34" charset="-122"/>
                <a:cs typeface="Calibri" pitchFamily="34" charset="-120"/>
              </a:rPr>
              <a:t>Biyoloji</a:t>
            </a:r>
            <a:endParaRPr lang="en-US" sz="1150" dirty="0"/>
          </a:p>
        </p:txBody>
      </p:sp>
      <p:sp>
        <p:nvSpPr>
          <p:cNvPr id="35" name="Shape 33"/>
          <p:cNvSpPr/>
          <p:nvPr/>
        </p:nvSpPr>
        <p:spPr>
          <a:xfrm>
            <a:off x="566928" y="4992624"/>
            <a:ext cx="5394960" cy="1225296"/>
          </a:xfrm>
          <a:prstGeom prst="roundRect">
            <a:avLst>
              <a:gd name="adj" fmla="val 4478"/>
            </a:avLst>
          </a:prstGeom>
          <a:solidFill>
            <a:srgbClr val="121C2E">
              <a:alpha val="74000"/>
            </a:srgbClr>
          </a:solidFill>
          <a:ln w="12700">
            <a:solidFill>
              <a:srgbClr val="24384B"/>
            </a:solidFill>
            <a:prstDash val="solid"/>
          </a:ln>
        </p:spPr>
      </p:sp>
      <p:sp>
        <p:nvSpPr>
          <p:cNvPr id="36" name="Text 34"/>
          <p:cNvSpPr txBox="1"/>
          <p:nvPr/>
        </p:nvSpPr>
        <p:spPr>
          <a:xfrm>
            <a:off x="841248" y="5266944"/>
            <a:ext cx="4846320" cy="201168"/>
          </a:xfrm>
          <a:prstGeom prst="rect">
            <a:avLst/>
          </a:prstGeom>
          <a:noFill/>
          <a:ln/>
        </p:spPr>
        <p:txBody>
          <a:bodyPr wrap="square" lIns="0" tIns="0" rIns="0" bIns="0" rtlCol="0" anchor="ctr"/>
          <a:lstStyle/>
          <a:p>
            <a:pPr indent="0" marL="0">
              <a:buNone/>
            </a:pPr>
            <a:r>
              <a:rPr lang="en-US" sz="900" b="1" spc="260" kern="0" dirty="0">
                <a:solidFill>
                  <a:srgbClr val="4CC3EA"/>
                </a:solidFill>
                <a:latin typeface="Calibri" pitchFamily="34" charset="0"/>
                <a:ea typeface="Calibri" pitchFamily="34" charset="-122"/>
                <a:cs typeface="Calibri" pitchFamily="34" charset="-120"/>
              </a:rPr>
              <a:t>KAVRAM GRAFI</a:t>
            </a:r>
            <a:endParaRPr lang="en-US" sz="900" dirty="0"/>
          </a:p>
        </p:txBody>
      </p:sp>
      <p:sp>
        <p:nvSpPr>
          <p:cNvPr id="37" name="Text 35"/>
          <p:cNvSpPr txBox="1"/>
          <p:nvPr/>
        </p:nvSpPr>
        <p:spPr>
          <a:xfrm>
            <a:off x="841248" y="5559552"/>
            <a:ext cx="4846320" cy="530352"/>
          </a:xfrm>
          <a:prstGeom prst="rect">
            <a:avLst/>
          </a:prstGeom>
          <a:noFill/>
          <a:ln/>
        </p:spPr>
        <p:txBody>
          <a:bodyPr wrap="square" lIns="0" tIns="0" rIns="0" bIns="0" rtlCol="0" anchor="t"/>
          <a:lstStyle/>
          <a:p>
            <a:pPr indent="0" marL="0">
              <a:lnSpc>
                <a:spcPts val="1800"/>
              </a:lnSpc>
              <a:buNone/>
            </a:pPr>
            <a:r>
              <a:rPr lang="en-US" sz="1150" dirty="0">
                <a:solidFill>
                  <a:srgbClr val="A9BCCB"/>
                </a:solidFill>
                <a:latin typeface="Calibri" pitchFamily="34" charset="0"/>
                <a:ea typeface="Calibri" pitchFamily="34" charset="-122"/>
                <a:cs typeface="Calibri" pitchFamily="34" charset="-120"/>
              </a:rPr>
              <a:t>~200 öğrenilebilir kavram ve aralarındaki ilişkiler bir grafta tutulur; ilişkiler iki yönden de sorgulanabilir.</a:t>
            </a:r>
            <a:endParaRPr lang="en-US" sz="1150" dirty="0"/>
          </a:p>
        </p:txBody>
      </p:sp>
      <p:sp>
        <p:nvSpPr>
          <p:cNvPr id="38" name="Shape 36"/>
          <p:cNvSpPr/>
          <p:nvPr/>
        </p:nvSpPr>
        <p:spPr>
          <a:xfrm>
            <a:off x="6199632" y="4992624"/>
            <a:ext cx="5394960" cy="1225296"/>
          </a:xfrm>
          <a:prstGeom prst="roundRect">
            <a:avLst>
              <a:gd name="adj" fmla="val 4478"/>
            </a:avLst>
          </a:prstGeom>
          <a:solidFill>
            <a:srgbClr val="121C2E">
              <a:alpha val="74000"/>
            </a:srgbClr>
          </a:solidFill>
          <a:ln w="12700">
            <a:solidFill>
              <a:srgbClr val="24384B"/>
            </a:solidFill>
            <a:prstDash val="solid"/>
          </a:ln>
        </p:spPr>
      </p:sp>
      <p:sp>
        <p:nvSpPr>
          <p:cNvPr id="39" name="Text 37"/>
          <p:cNvSpPr txBox="1"/>
          <p:nvPr/>
        </p:nvSpPr>
        <p:spPr>
          <a:xfrm>
            <a:off x="6473952" y="5266944"/>
            <a:ext cx="4846320" cy="201168"/>
          </a:xfrm>
          <a:prstGeom prst="rect">
            <a:avLst/>
          </a:prstGeom>
          <a:noFill/>
          <a:ln/>
        </p:spPr>
        <p:txBody>
          <a:bodyPr wrap="square" lIns="0" tIns="0" rIns="0" bIns="0" rtlCol="0" anchor="ctr"/>
          <a:lstStyle/>
          <a:p>
            <a:pPr indent="0" marL="0">
              <a:buNone/>
            </a:pPr>
            <a:r>
              <a:rPr lang="en-US" sz="900" b="1" spc="260" kern="0" dirty="0">
                <a:solidFill>
                  <a:srgbClr val="4CC3EA"/>
                </a:solidFill>
                <a:latin typeface="Calibri" pitchFamily="34" charset="0"/>
                <a:ea typeface="Calibri" pitchFamily="34" charset="-122"/>
                <a:cs typeface="Calibri" pitchFamily="34" charset="-120"/>
              </a:rPr>
              <a:t>ÖN KOŞULLAR</a:t>
            </a:r>
            <a:endParaRPr lang="en-US" sz="900" dirty="0"/>
          </a:p>
        </p:txBody>
      </p:sp>
      <p:sp>
        <p:nvSpPr>
          <p:cNvPr id="40" name="Text 38"/>
          <p:cNvSpPr txBox="1"/>
          <p:nvPr/>
        </p:nvSpPr>
        <p:spPr>
          <a:xfrm>
            <a:off x="6473952" y="5559552"/>
            <a:ext cx="4846320" cy="530352"/>
          </a:xfrm>
          <a:prstGeom prst="rect">
            <a:avLst/>
          </a:prstGeom>
          <a:noFill/>
          <a:ln/>
        </p:spPr>
        <p:txBody>
          <a:bodyPr wrap="square" lIns="0" tIns="0" rIns="0" bIns="0" rtlCol="0" anchor="t"/>
          <a:lstStyle/>
          <a:p>
            <a:pPr indent="0" marL="0">
              <a:lnSpc>
                <a:spcPts val="1800"/>
              </a:lnSpc>
              <a:buNone/>
            </a:pPr>
            <a:r>
              <a:rPr lang="en-US" sz="1150" dirty="0">
                <a:solidFill>
                  <a:srgbClr val="A9BCCB"/>
                </a:solidFill>
                <a:latin typeface="Calibri" pitchFamily="34" charset="0"/>
                <a:ea typeface="Calibri" pitchFamily="34" charset="-122"/>
                <a:cs typeface="Calibri" pitchFamily="34" charset="-120"/>
              </a:rPr>
              <a:t>63 ön koşul bağı müfredat sırasına göre gözden geçirilmiştir; her biri neden önemli olduğunu kendi gerekçesiyle taşır.</a:t>
            </a:r>
            <a:endParaRPr lang="en-US" sz="1150" dirty="0"/>
          </a:p>
        </p:txBody>
      </p:sp>
      <p:sp>
        <p:nvSpPr>
          <p:cNvPr id="41" name="Text 39"/>
          <p:cNvSpPr txBox="1"/>
          <p:nvPr/>
        </p:nvSpPr>
        <p:spPr>
          <a:xfrm>
            <a:off x="566928" y="6382512"/>
            <a:ext cx="2377440" cy="237744"/>
          </a:xfrm>
          <a:prstGeom prst="rect">
            <a:avLst/>
          </a:prstGeom>
          <a:noFill/>
          <a:ln/>
        </p:spPr>
        <p:txBody>
          <a:bodyPr wrap="square" lIns="0" tIns="0" rIns="0" bIns="0" rtlCol="0" anchor="ctr"/>
          <a:lstStyle/>
          <a:p>
            <a:pPr indent="0" marL="0">
              <a:buNone/>
            </a:pPr>
            <a:r>
              <a:rPr lang="en-US" sz="850" spc="220" kern="0" dirty="0">
                <a:solidFill>
                  <a:srgbClr val="43566A"/>
                </a:solidFill>
                <a:latin typeface="Calibri" pitchFamily="34" charset="0"/>
                <a:ea typeface="Calibri" pitchFamily="34" charset="-122"/>
                <a:cs typeface="Calibri" pitchFamily="34" charset="-120"/>
              </a:rPr>
              <a:t>TIP AKADEMİSİ</a:t>
            </a:r>
            <a:endParaRPr lang="en-US" sz="850" dirty="0"/>
          </a:p>
        </p:txBody>
      </p:sp>
      <p:sp>
        <p:nvSpPr>
          <p:cNvPr id="42" name="Text 40"/>
          <p:cNvSpPr txBox="1"/>
          <p:nvPr/>
        </p:nvSpPr>
        <p:spPr>
          <a:xfrm>
            <a:off x="8229600" y="6382512"/>
            <a:ext cx="3364992" cy="237744"/>
          </a:xfrm>
          <a:prstGeom prst="rect">
            <a:avLst/>
          </a:prstGeom>
          <a:noFill/>
          <a:ln/>
        </p:spPr>
        <p:txBody>
          <a:bodyPr wrap="square" lIns="0" tIns="0" rIns="0" bIns="0" rtlCol="0" anchor="ctr"/>
          <a:lstStyle/>
          <a:p>
            <a:pPr algn="r" indent="0" marL="0">
              <a:buNone/>
            </a:pPr>
            <a:r>
              <a:rPr lang="en-US" sz="850" spc="220" kern="0" dirty="0">
                <a:solidFill>
                  <a:srgbClr val="43566A"/>
                </a:solidFill>
                <a:latin typeface="Calibri" pitchFamily="34" charset="0"/>
                <a:ea typeface="Calibri" pitchFamily="34" charset="-122"/>
                <a:cs typeface="Calibri" pitchFamily="34" charset="-120"/>
              </a:rPr>
              <a:t>03  ·  Bir bakışta</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66928" y="566928"/>
            <a:ext cx="7680960" cy="237744"/>
          </a:xfrm>
          <a:prstGeom prst="rect">
            <a:avLst/>
          </a:prstGeom>
          <a:noFill/>
          <a:ln/>
        </p:spPr>
        <p:txBody>
          <a:bodyPr wrap="square" lIns="0" tIns="0" rIns="0" bIns="0" rtlCol="0" anchor="ctr"/>
          <a:lstStyle/>
          <a:p>
            <a:pPr indent="0" marL="0">
              <a:buNone/>
            </a:pPr>
            <a:r>
              <a:rPr lang="en-US" sz="1000" b="1" spc="340" kern="0" dirty="0">
                <a:solidFill>
                  <a:srgbClr val="4CC3EA"/>
                </a:solidFill>
                <a:latin typeface="Calibri" pitchFamily="34" charset="0"/>
                <a:ea typeface="Calibri" pitchFamily="34" charset="-122"/>
                <a:cs typeface="Calibri" pitchFamily="34" charset="-120"/>
              </a:rPr>
              <a:t>TEMEL ILKE</a:t>
            </a:r>
            <a:endParaRPr lang="en-US" sz="1000" dirty="0"/>
          </a:p>
        </p:txBody>
      </p:sp>
      <p:sp>
        <p:nvSpPr>
          <p:cNvPr id="3" name="Text 1"/>
          <p:cNvSpPr txBox="1"/>
          <p:nvPr/>
        </p:nvSpPr>
        <p:spPr>
          <a:xfrm>
            <a:off x="548640" y="841248"/>
            <a:ext cx="8229600" cy="786384"/>
          </a:xfrm>
          <a:prstGeom prst="rect">
            <a:avLst/>
          </a:prstGeom>
          <a:noFill/>
          <a:ln/>
        </p:spPr>
        <p:txBody>
          <a:bodyPr wrap="square" lIns="0" tIns="0" rIns="0" bIns="0" rtlCol="0" anchor="t"/>
          <a:lstStyle/>
          <a:p>
            <a:pPr indent="0" marL="0">
              <a:buNone/>
            </a:pPr>
            <a:r>
              <a:rPr lang="en-US" sz="3600" spc="40" kern="0" dirty="0">
                <a:solidFill>
                  <a:srgbClr val="E9F2F8"/>
                </a:solidFill>
                <a:latin typeface="Calibri" pitchFamily="34" charset="0"/>
                <a:ea typeface="Calibri" pitchFamily="34" charset="-122"/>
                <a:cs typeface="Calibri" pitchFamily="34" charset="-120"/>
              </a:rPr>
              <a:t>Akademinin üç sözü</a:t>
            </a:r>
            <a:endParaRPr lang="en-US" sz="3600" dirty="0"/>
          </a:p>
        </p:txBody>
      </p:sp>
      <p:sp>
        <p:nvSpPr>
          <p:cNvPr id="4" name="Text 2"/>
          <p:cNvSpPr txBox="1"/>
          <p:nvPr/>
        </p:nvSpPr>
        <p:spPr>
          <a:xfrm>
            <a:off x="566928" y="1719072"/>
            <a:ext cx="10881360" cy="822960"/>
          </a:xfrm>
          <a:prstGeom prst="rect">
            <a:avLst/>
          </a:prstGeom>
          <a:noFill/>
          <a:ln/>
        </p:spPr>
        <p:txBody>
          <a:bodyPr wrap="square" lIns="0" tIns="0" rIns="0" bIns="0" rtlCol="0" anchor="t"/>
          <a:lstStyle/>
          <a:p>
            <a:pPr indent="0" marL="0">
              <a:lnSpc>
                <a:spcPts val="2200"/>
              </a:lnSpc>
              <a:buNone/>
            </a:pPr>
            <a:r>
              <a:rPr lang="en-US" sz="1450" dirty="0">
                <a:solidFill>
                  <a:srgbClr val="A9BCCB"/>
                </a:solidFill>
                <a:latin typeface="Calibri" pitchFamily="34" charset="0"/>
                <a:ea typeface="Calibri" pitchFamily="34" charset="-122"/>
                <a:cs typeface="Calibri" pitchFamily="34" charset="-120"/>
              </a:rPr>
              <a:t>Bir çalışma aracının en tehlikeli hatası, emin görünerek yanlış söylemektir. Akademi bunu üç kesin kuralla engeller.</a:t>
            </a:r>
            <a:endParaRPr lang="en-US" sz="1450" dirty="0"/>
          </a:p>
        </p:txBody>
      </p:sp>
      <p:sp>
        <p:nvSpPr>
          <p:cNvPr id="5" name="Shape 3"/>
          <p:cNvSpPr/>
          <p:nvPr/>
        </p:nvSpPr>
        <p:spPr>
          <a:xfrm>
            <a:off x="566928" y="2651760"/>
            <a:ext cx="3480206" cy="2067458"/>
          </a:xfrm>
          <a:prstGeom prst="roundRect">
            <a:avLst>
              <a:gd name="adj" fmla="val 2654"/>
            </a:avLst>
          </a:prstGeom>
          <a:solidFill>
            <a:srgbClr val="121C2E">
              <a:alpha val="74000"/>
            </a:srgbClr>
          </a:solidFill>
          <a:ln w="12700">
            <a:solidFill>
              <a:srgbClr val="8EE0FF"/>
            </a:solidFill>
            <a:prstDash val="solid"/>
          </a:ln>
        </p:spPr>
      </p:sp>
      <p:sp>
        <p:nvSpPr>
          <p:cNvPr id="6" name="Text 4"/>
          <p:cNvSpPr txBox="1"/>
          <p:nvPr/>
        </p:nvSpPr>
        <p:spPr>
          <a:xfrm>
            <a:off x="841248" y="2926080"/>
            <a:ext cx="2931566" cy="201168"/>
          </a:xfrm>
          <a:prstGeom prst="rect">
            <a:avLst/>
          </a:prstGeom>
          <a:noFill/>
          <a:ln/>
        </p:spPr>
        <p:txBody>
          <a:bodyPr wrap="square" lIns="0" tIns="0" rIns="0" bIns="0" rtlCol="0" anchor="ctr"/>
          <a:lstStyle/>
          <a:p>
            <a:pPr indent="0" marL="0">
              <a:buNone/>
            </a:pPr>
            <a:r>
              <a:rPr lang="en-US" sz="900" b="1" spc="260" kern="0" dirty="0">
                <a:solidFill>
                  <a:srgbClr val="8EE0FF"/>
                </a:solidFill>
                <a:latin typeface="Calibri" pitchFamily="34" charset="0"/>
                <a:ea typeface="Calibri" pitchFamily="34" charset="-122"/>
                <a:cs typeface="Calibri" pitchFamily="34" charset="-120"/>
              </a:rPr>
              <a:t>SÖZ 1</a:t>
            </a:r>
            <a:endParaRPr lang="en-US" sz="900" dirty="0"/>
          </a:p>
        </p:txBody>
      </p:sp>
      <p:sp>
        <p:nvSpPr>
          <p:cNvPr id="7" name="Text 5"/>
          <p:cNvSpPr txBox="1"/>
          <p:nvPr/>
        </p:nvSpPr>
        <p:spPr>
          <a:xfrm>
            <a:off x="841248" y="3218688"/>
            <a:ext cx="2931566" cy="310896"/>
          </a:xfrm>
          <a:prstGeom prst="rect">
            <a:avLst/>
          </a:prstGeom>
          <a:noFill/>
          <a:ln/>
        </p:spPr>
        <p:txBody>
          <a:bodyPr wrap="square" lIns="0" tIns="0" rIns="0" bIns="0" rtlCol="0" anchor="ctr"/>
          <a:lstStyle/>
          <a:p>
            <a:pPr indent="0" marL="0">
              <a:buNone/>
            </a:pPr>
            <a:r>
              <a:rPr lang="en-US" sz="1550" b="1" dirty="0">
                <a:solidFill>
                  <a:srgbClr val="E9F2F8"/>
                </a:solidFill>
                <a:latin typeface="Calibri" pitchFamily="34" charset="0"/>
                <a:ea typeface="Calibri" pitchFamily="34" charset="-122"/>
                <a:cs typeface="Calibri" pitchFamily="34" charset="-120"/>
              </a:rPr>
              <a:t>Sayfa numarası uydurmaz</a:t>
            </a:r>
            <a:endParaRPr lang="en-US" sz="1550" dirty="0"/>
          </a:p>
        </p:txBody>
      </p:sp>
      <p:sp>
        <p:nvSpPr>
          <p:cNvPr id="8" name="Text 6"/>
          <p:cNvSpPr txBox="1"/>
          <p:nvPr/>
        </p:nvSpPr>
        <p:spPr>
          <a:xfrm>
            <a:off x="841248" y="3602736"/>
            <a:ext cx="2931566" cy="988466"/>
          </a:xfrm>
          <a:prstGeom prst="rect">
            <a:avLst/>
          </a:prstGeom>
          <a:noFill/>
          <a:ln/>
        </p:spPr>
        <p:txBody>
          <a:bodyPr wrap="square" lIns="0" tIns="0" rIns="0" bIns="0" rtlCol="0" anchor="t"/>
          <a:lstStyle/>
          <a:p>
            <a:pPr indent="0" marL="0">
              <a:lnSpc>
                <a:spcPts val="1800"/>
              </a:lnSpc>
              <a:buNone/>
            </a:pPr>
            <a:r>
              <a:rPr lang="en-US" sz="1150" dirty="0">
                <a:solidFill>
                  <a:srgbClr val="A9BCCB"/>
                </a:solidFill>
                <a:latin typeface="Calibri" pitchFamily="34" charset="0"/>
                <a:ea typeface="Calibri" pitchFamily="34" charset="-122"/>
                <a:cs typeface="Calibri" pitchFamily="34" charset="-120"/>
              </a:rPr>
              <a:t>Her alıntı, deponun gerçekten tuttuğu bir parçaya işaret eder. Model bir sayfa söyler ama kanıt onu doğrulamazsa, soru kaynaksız saklanır — yanlış sayfayı açan bir etiket dürüst değildir.</a:t>
            </a:r>
            <a:endParaRPr lang="en-US" sz="1150" dirty="0"/>
          </a:p>
        </p:txBody>
      </p:sp>
      <p:sp>
        <p:nvSpPr>
          <p:cNvPr id="9" name="Shape 7"/>
          <p:cNvSpPr/>
          <p:nvPr/>
        </p:nvSpPr>
        <p:spPr>
          <a:xfrm>
            <a:off x="4339742" y="2651760"/>
            <a:ext cx="3480206" cy="2067458"/>
          </a:xfrm>
          <a:prstGeom prst="roundRect">
            <a:avLst>
              <a:gd name="adj" fmla="val 2654"/>
            </a:avLst>
          </a:prstGeom>
          <a:solidFill>
            <a:srgbClr val="121C2E">
              <a:alpha val="74000"/>
            </a:srgbClr>
          </a:solidFill>
          <a:ln w="12700">
            <a:solidFill>
              <a:srgbClr val="F0C68A"/>
            </a:solidFill>
            <a:prstDash val="solid"/>
          </a:ln>
        </p:spPr>
      </p:sp>
      <p:sp>
        <p:nvSpPr>
          <p:cNvPr id="10" name="Text 8"/>
          <p:cNvSpPr txBox="1"/>
          <p:nvPr/>
        </p:nvSpPr>
        <p:spPr>
          <a:xfrm>
            <a:off x="4614062" y="2926080"/>
            <a:ext cx="2931566" cy="201168"/>
          </a:xfrm>
          <a:prstGeom prst="rect">
            <a:avLst/>
          </a:prstGeom>
          <a:noFill/>
          <a:ln/>
        </p:spPr>
        <p:txBody>
          <a:bodyPr wrap="square" lIns="0" tIns="0" rIns="0" bIns="0" rtlCol="0" anchor="ctr"/>
          <a:lstStyle/>
          <a:p>
            <a:pPr indent="0" marL="0">
              <a:buNone/>
            </a:pPr>
            <a:r>
              <a:rPr lang="en-US" sz="900" b="1" spc="260" kern="0" dirty="0">
                <a:solidFill>
                  <a:srgbClr val="F0C68A"/>
                </a:solidFill>
                <a:latin typeface="Calibri" pitchFamily="34" charset="0"/>
                <a:ea typeface="Calibri" pitchFamily="34" charset="-122"/>
                <a:cs typeface="Calibri" pitchFamily="34" charset="-120"/>
              </a:rPr>
              <a:t>SÖZ 2</a:t>
            </a:r>
            <a:endParaRPr lang="en-US" sz="900" dirty="0"/>
          </a:p>
        </p:txBody>
      </p:sp>
      <p:sp>
        <p:nvSpPr>
          <p:cNvPr id="11" name="Text 9"/>
          <p:cNvSpPr txBox="1"/>
          <p:nvPr/>
        </p:nvSpPr>
        <p:spPr>
          <a:xfrm>
            <a:off x="4614062" y="3218688"/>
            <a:ext cx="2931566" cy="310896"/>
          </a:xfrm>
          <a:prstGeom prst="rect">
            <a:avLst/>
          </a:prstGeom>
          <a:noFill/>
          <a:ln/>
        </p:spPr>
        <p:txBody>
          <a:bodyPr wrap="square" lIns="0" tIns="0" rIns="0" bIns="0" rtlCol="0" anchor="ctr"/>
          <a:lstStyle/>
          <a:p>
            <a:pPr indent="0" marL="0">
              <a:buNone/>
            </a:pPr>
            <a:r>
              <a:rPr lang="en-US" sz="1550" b="1" dirty="0">
                <a:solidFill>
                  <a:srgbClr val="E9F2F8"/>
                </a:solidFill>
                <a:latin typeface="Calibri" pitchFamily="34" charset="0"/>
                <a:ea typeface="Calibri" pitchFamily="34" charset="-122"/>
                <a:cs typeface="Calibri" pitchFamily="34" charset="-120"/>
              </a:rPr>
              <a:t>Cevap anahtarını tahmin etmez</a:t>
            </a:r>
            <a:endParaRPr lang="en-US" sz="1550" dirty="0"/>
          </a:p>
        </p:txBody>
      </p:sp>
      <p:sp>
        <p:nvSpPr>
          <p:cNvPr id="12" name="Text 10"/>
          <p:cNvSpPr txBox="1"/>
          <p:nvPr/>
        </p:nvSpPr>
        <p:spPr>
          <a:xfrm>
            <a:off x="4614062" y="3602736"/>
            <a:ext cx="2931566" cy="988466"/>
          </a:xfrm>
          <a:prstGeom prst="rect">
            <a:avLst/>
          </a:prstGeom>
          <a:noFill/>
          <a:ln/>
        </p:spPr>
        <p:txBody>
          <a:bodyPr wrap="square" lIns="0" tIns="0" rIns="0" bIns="0" rtlCol="0" anchor="t"/>
          <a:lstStyle/>
          <a:p>
            <a:pPr indent="0" marL="0">
              <a:lnSpc>
                <a:spcPts val="1800"/>
              </a:lnSpc>
              <a:buNone/>
            </a:pPr>
            <a:r>
              <a:rPr lang="en-US" sz="1150" dirty="0">
                <a:solidFill>
                  <a:srgbClr val="A9BCCB"/>
                </a:solidFill>
                <a:latin typeface="Calibri" pitchFamily="34" charset="0"/>
                <a:ea typeface="Calibri" pitchFamily="34" charset="-122"/>
                <a:cs typeface="Calibri" pitchFamily="34" charset="-120"/>
              </a:rPr>
              <a:t>Metnin anahtarını söylemediği bir soru anahtarsız saklanır ve "cevap anahtarı yok" olarak gösterilir. Öğrenci isterse kendisi işaretler.</a:t>
            </a:r>
            <a:endParaRPr lang="en-US" sz="1150" dirty="0"/>
          </a:p>
        </p:txBody>
      </p:sp>
      <p:sp>
        <p:nvSpPr>
          <p:cNvPr id="13" name="Shape 11"/>
          <p:cNvSpPr/>
          <p:nvPr/>
        </p:nvSpPr>
        <p:spPr>
          <a:xfrm>
            <a:off x="8112557" y="2651760"/>
            <a:ext cx="3480206" cy="2067458"/>
          </a:xfrm>
          <a:prstGeom prst="roundRect">
            <a:avLst>
              <a:gd name="adj" fmla="val 2654"/>
            </a:avLst>
          </a:prstGeom>
          <a:solidFill>
            <a:srgbClr val="121C2E">
              <a:alpha val="74000"/>
            </a:srgbClr>
          </a:solidFill>
          <a:ln w="12700">
            <a:solidFill>
              <a:srgbClr val="7FE0B2"/>
            </a:solidFill>
            <a:prstDash val="solid"/>
          </a:ln>
        </p:spPr>
      </p:sp>
      <p:sp>
        <p:nvSpPr>
          <p:cNvPr id="14" name="Text 12"/>
          <p:cNvSpPr txBox="1"/>
          <p:nvPr/>
        </p:nvSpPr>
        <p:spPr>
          <a:xfrm>
            <a:off x="8386877" y="2926080"/>
            <a:ext cx="2931566" cy="201168"/>
          </a:xfrm>
          <a:prstGeom prst="rect">
            <a:avLst/>
          </a:prstGeom>
          <a:noFill/>
          <a:ln/>
        </p:spPr>
        <p:txBody>
          <a:bodyPr wrap="square" lIns="0" tIns="0" rIns="0" bIns="0" rtlCol="0" anchor="ctr"/>
          <a:lstStyle/>
          <a:p>
            <a:pPr indent="0" marL="0">
              <a:buNone/>
            </a:pPr>
            <a:r>
              <a:rPr lang="en-US" sz="900" b="1" spc="260" kern="0" dirty="0">
                <a:solidFill>
                  <a:srgbClr val="7FE0B2"/>
                </a:solidFill>
                <a:latin typeface="Calibri" pitchFamily="34" charset="0"/>
                <a:ea typeface="Calibri" pitchFamily="34" charset="-122"/>
                <a:cs typeface="Calibri" pitchFamily="34" charset="-120"/>
              </a:rPr>
              <a:t>SÖZ 3</a:t>
            </a:r>
            <a:endParaRPr lang="en-US" sz="900" dirty="0"/>
          </a:p>
        </p:txBody>
      </p:sp>
      <p:sp>
        <p:nvSpPr>
          <p:cNvPr id="15" name="Text 13"/>
          <p:cNvSpPr txBox="1"/>
          <p:nvPr/>
        </p:nvSpPr>
        <p:spPr>
          <a:xfrm>
            <a:off x="8386877" y="3218688"/>
            <a:ext cx="2931566" cy="310896"/>
          </a:xfrm>
          <a:prstGeom prst="rect">
            <a:avLst/>
          </a:prstGeom>
          <a:noFill/>
          <a:ln/>
        </p:spPr>
        <p:txBody>
          <a:bodyPr wrap="square" lIns="0" tIns="0" rIns="0" bIns="0" rtlCol="0" anchor="ctr"/>
          <a:lstStyle/>
          <a:p>
            <a:pPr indent="0" marL="0">
              <a:buNone/>
            </a:pPr>
            <a:r>
              <a:rPr lang="en-US" sz="1550" b="1" dirty="0">
                <a:solidFill>
                  <a:srgbClr val="E9F2F8"/>
                </a:solidFill>
                <a:latin typeface="Calibri" pitchFamily="34" charset="0"/>
                <a:ea typeface="Calibri" pitchFamily="34" charset="-122"/>
                <a:cs typeface="Calibri" pitchFamily="34" charset="-120"/>
              </a:rPr>
              <a:t>Anatomi çizmez</a:t>
            </a:r>
            <a:endParaRPr lang="en-US" sz="1550" dirty="0"/>
          </a:p>
        </p:txBody>
      </p:sp>
      <p:sp>
        <p:nvSpPr>
          <p:cNvPr id="16" name="Text 14"/>
          <p:cNvSpPr txBox="1"/>
          <p:nvPr/>
        </p:nvSpPr>
        <p:spPr>
          <a:xfrm>
            <a:off x="8386877" y="3602736"/>
            <a:ext cx="2931566" cy="988466"/>
          </a:xfrm>
          <a:prstGeom prst="rect">
            <a:avLst/>
          </a:prstGeom>
          <a:noFill/>
          <a:ln/>
        </p:spPr>
        <p:txBody>
          <a:bodyPr wrap="square" lIns="0" tIns="0" rIns="0" bIns="0" rtlCol="0" anchor="t"/>
          <a:lstStyle/>
          <a:p>
            <a:pPr indent="0" marL="0">
              <a:lnSpc>
                <a:spcPts val="1800"/>
              </a:lnSpc>
              <a:buNone/>
            </a:pPr>
            <a:r>
              <a:rPr lang="en-US" sz="1150" dirty="0">
                <a:solidFill>
                  <a:srgbClr val="A9BCCB"/>
                </a:solidFill>
                <a:latin typeface="Calibri" pitchFamily="34" charset="0"/>
                <a:ea typeface="Calibri" pitchFamily="34" charset="-122"/>
                <a:cs typeface="Calibri" pitchFamily="34" charset="-120"/>
              </a:rPr>
              <a:t>Lisanslı bir 3B model kayıtlı değilse laboratuvar bunu söyler ve şematik ilişki haritasını çizer — açıkça "şematik" etiketiyle, anatomi diye değil.</a:t>
            </a:r>
            <a:endParaRPr lang="en-US" sz="1150" dirty="0"/>
          </a:p>
        </p:txBody>
      </p:sp>
      <p:sp>
        <p:nvSpPr>
          <p:cNvPr id="17" name="Shape 15"/>
          <p:cNvSpPr/>
          <p:nvPr/>
        </p:nvSpPr>
        <p:spPr>
          <a:xfrm>
            <a:off x="566928" y="4956962"/>
            <a:ext cx="11027664" cy="548640"/>
          </a:xfrm>
          <a:prstGeom prst="roundRect">
            <a:avLst>
              <a:gd name="adj" fmla="val 10000"/>
            </a:avLst>
          </a:prstGeom>
          <a:solidFill>
            <a:srgbClr val="121C2E">
              <a:alpha val="60000"/>
            </a:srgbClr>
          </a:solidFill>
          <a:ln w="12700">
            <a:solidFill>
              <a:srgbClr val="1B7BA0"/>
            </a:solidFill>
            <a:prstDash val="solid"/>
          </a:ln>
        </p:spPr>
      </p:sp>
      <p:sp>
        <p:nvSpPr>
          <p:cNvPr id="18" name="Text 16"/>
          <p:cNvSpPr txBox="1"/>
          <p:nvPr/>
        </p:nvSpPr>
        <p:spPr>
          <a:xfrm>
            <a:off x="841248" y="4956962"/>
            <a:ext cx="10515600" cy="548640"/>
          </a:xfrm>
          <a:prstGeom prst="rect">
            <a:avLst/>
          </a:prstGeom>
          <a:noFill/>
          <a:ln/>
        </p:spPr>
        <p:txBody>
          <a:bodyPr wrap="square" lIns="0" tIns="0" rIns="0" bIns="0" rtlCol="0" anchor="ctr"/>
          <a:lstStyle/>
          <a:p>
            <a:pPr indent="0" marL="0">
              <a:buNone/>
            </a:pPr>
            <a:r>
              <a:rPr lang="en-US" sz="1200" dirty="0">
                <a:solidFill>
                  <a:srgbClr val="A9BCCB"/>
                </a:solidFill>
                <a:latin typeface="Calibri" pitchFamily="34" charset="0"/>
                <a:ea typeface="Calibri" pitchFamily="34" charset="-122"/>
                <a:cs typeface="Calibri" pitchFamily="34" charset="-120"/>
              </a:rPr>
              <a:t>Eksik bir alıntı dürüsttür; yanlış sayfayı açan bir alıntı değildir.</a:t>
            </a:r>
            <a:endParaRPr lang="en-US" sz="1200" dirty="0"/>
          </a:p>
        </p:txBody>
      </p:sp>
      <p:sp>
        <p:nvSpPr>
          <p:cNvPr id="19" name="Text 17"/>
          <p:cNvSpPr txBox="1"/>
          <p:nvPr/>
        </p:nvSpPr>
        <p:spPr>
          <a:xfrm>
            <a:off x="566928" y="6382512"/>
            <a:ext cx="2377440" cy="237744"/>
          </a:xfrm>
          <a:prstGeom prst="rect">
            <a:avLst/>
          </a:prstGeom>
          <a:noFill/>
          <a:ln/>
        </p:spPr>
        <p:txBody>
          <a:bodyPr wrap="square" lIns="0" tIns="0" rIns="0" bIns="0" rtlCol="0" anchor="ctr"/>
          <a:lstStyle/>
          <a:p>
            <a:pPr indent="0" marL="0">
              <a:buNone/>
            </a:pPr>
            <a:r>
              <a:rPr lang="en-US" sz="850" spc="220" kern="0" dirty="0">
                <a:solidFill>
                  <a:srgbClr val="43566A"/>
                </a:solidFill>
                <a:latin typeface="Calibri" pitchFamily="34" charset="0"/>
                <a:ea typeface="Calibri" pitchFamily="34" charset="-122"/>
                <a:cs typeface="Calibri" pitchFamily="34" charset="-120"/>
              </a:rPr>
              <a:t>TIP AKADEMİSİ</a:t>
            </a:r>
            <a:endParaRPr lang="en-US" sz="850" dirty="0"/>
          </a:p>
        </p:txBody>
      </p:sp>
      <p:sp>
        <p:nvSpPr>
          <p:cNvPr id="20" name="Text 18"/>
          <p:cNvSpPr txBox="1"/>
          <p:nvPr/>
        </p:nvSpPr>
        <p:spPr>
          <a:xfrm>
            <a:off x="8229600" y="6382512"/>
            <a:ext cx="3364992" cy="237744"/>
          </a:xfrm>
          <a:prstGeom prst="rect">
            <a:avLst/>
          </a:prstGeom>
          <a:noFill/>
          <a:ln/>
        </p:spPr>
        <p:txBody>
          <a:bodyPr wrap="square" lIns="0" tIns="0" rIns="0" bIns="0" rtlCol="0" anchor="ctr"/>
          <a:lstStyle/>
          <a:p>
            <a:pPr algn="r" indent="0" marL="0">
              <a:buNone/>
            </a:pPr>
            <a:r>
              <a:rPr lang="en-US" sz="850" spc="220" kern="0" dirty="0">
                <a:solidFill>
                  <a:srgbClr val="43566A"/>
                </a:solidFill>
                <a:latin typeface="Calibri" pitchFamily="34" charset="0"/>
                <a:ea typeface="Calibri" pitchFamily="34" charset="-122"/>
                <a:cs typeface="Calibri" pitchFamily="34" charset="-120"/>
              </a:rPr>
              <a:t>04  ·  Temel ilke</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035040" y="2286000"/>
            <a:ext cx="1828800" cy="1097280"/>
          </a:xfrm>
          <a:prstGeom prst="rect">
            <a:avLst/>
          </a:prstGeom>
          <a:noFill/>
          <a:ln/>
        </p:spPr>
        <p:txBody>
          <a:bodyPr wrap="square" lIns="0" tIns="0" rIns="0" bIns="0" rtlCol="0" anchor="ctr"/>
          <a:lstStyle/>
          <a:p>
            <a:pPr indent="0" marL="0">
              <a:buNone/>
            </a:pPr>
            <a:r>
              <a:rPr lang="en-US" sz="7400" b="1" dirty="0">
                <a:solidFill>
                  <a:srgbClr val="1B7BA0"/>
                </a:solidFill>
                <a:latin typeface="Calibri" pitchFamily="34" charset="0"/>
                <a:ea typeface="Calibri" pitchFamily="34" charset="-122"/>
                <a:cs typeface="Calibri" pitchFamily="34" charset="-120"/>
              </a:rPr>
              <a:t>I</a:t>
            </a:r>
            <a:endParaRPr lang="en-US" sz="7400" dirty="0"/>
          </a:p>
        </p:txBody>
      </p:sp>
      <p:sp>
        <p:nvSpPr>
          <p:cNvPr id="3" name="Text 1"/>
          <p:cNvSpPr txBox="1"/>
          <p:nvPr/>
        </p:nvSpPr>
        <p:spPr>
          <a:xfrm>
            <a:off x="6053328" y="3456432"/>
            <a:ext cx="7680960" cy="237744"/>
          </a:xfrm>
          <a:prstGeom prst="rect">
            <a:avLst/>
          </a:prstGeom>
          <a:noFill/>
          <a:ln/>
        </p:spPr>
        <p:txBody>
          <a:bodyPr wrap="square" lIns="0" tIns="0" rIns="0" bIns="0" rtlCol="0" anchor="ctr"/>
          <a:lstStyle/>
          <a:p>
            <a:pPr indent="0" marL="0">
              <a:buNone/>
            </a:pPr>
            <a:r>
              <a:rPr lang="en-US" sz="1000" b="1" spc="340" kern="0" dirty="0">
                <a:solidFill>
                  <a:srgbClr val="4CC3EA"/>
                </a:solidFill>
                <a:latin typeface="Calibri" pitchFamily="34" charset="0"/>
                <a:ea typeface="Calibri" pitchFamily="34" charset="-122"/>
                <a:cs typeface="Calibri" pitchFamily="34" charset="-120"/>
              </a:rPr>
              <a:t>BÖLÜM BIR</a:t>
            </a:r>
            <a:endParaRPr lang="en-US" sz="1000" dirty="0"/>
          </a:p>
        </p:txBody>
      </p:sp>
      <p:sp>
        <p:nvSpPr>
          <p:cNvPr id="4" name="Text 2"/>
          <p:cNvSpPr txBox="1"/>
          <p:nvPr/>
        </p:nvSpPr>
        <p:spPr>
          <a:xfrm>
            <a:off x="6035040" y="3712464"/>
            <a:ext cx="5577840" cy="868680"/>
          </a:xfrm>
          <a:prstGeom prst="rect">
            <a:avLst/>
          </a:prstGeom>
          <a:noFill/>
          <a:ln/>
        </p:spPr>
        <p:txBody>
          <a:bodyPr wrap="square" lIns="0" tIns="0" rIns="0" bIns="0" rtlCol="0" anchor="ctr"/>
          <a:lstStyle/>
          <a:p>
            <a:pPr indent="0" marL="0">
              <a:buNone/>
            </a:pPr>
            <a:r>
              <a:rPr lang="en-US" sz="3800" spc="40" kern="0" dirty="0">
                <a:solidFill>
                  <a:srgbClr val="E9F2F8"/>
                </a:solidFill>
                <a:latin typeface="Calibri" pitchFamily="34" charset="0"/>
                <a:ea typeface="Calibri" pitchFamily="34" charset="-122"/>
                <a:cs typeface="Calibri" pitchFamily="34" charset="-120"/>
              </a:rPr>
              <a:t>Nasıl bağlanır</a:t>
            </a:r>
            <a:endParaRPr lang="en-US" sz="3800" dirty="0"/>
          </a:p>
        </p:txBody>
      </p:sp>
      <p:sp>
        <p:nvSpPr>
          <p:cNvPr id="5" name="Text 3"/>
          <p:cNvSpPr txBox="1"/>
          <p:nvPr/>
        </p:nvSpPr>
        <p:spPr>
          <a:xfrm>
            <a:off x="6053328" y="4590288"/>
            <a:ext cx="5394960" cy="822960"/>
          </a:xfrm>
          <a:prstGeom prst="rect">
            <a:avLst/>
          </a:prstGeom>
          <a:noFill/>
          <a:ln/>
        </p:spPr>
        <p:txBody>
          <a:bodyPr wrap="square" lIns="0" tIns="0" rIns="0" bIns="0" rtlCol="0" anchor="t"/>
          <a:lstStyle/>
          <a:p>
            <a:pPr indent="0" marL="0">
              <a:lnSpc>
                <a:spcPts val="2200"/>
              </a:lnSpc>
              <a:buNone/>
            </a:pPr>
            <a:r>
              <a:rPr lang="en-US" sz="1350" dirty="0">
                <a:solidFill>
                  <a:srgbClr val="A9BCCB"/>
                </a:solidFill>
                <a:latin typeface="Calibri" pitchFamily="34" charset="0"/>
                <a:ea typeface="Calibri" pitchFamily="34" charset="-122"/>
                <a:cs typeface="Calibri" pitchFamily="34" charset="-120"/>
              </a:rPr>
              <a:t>Akademi, çekirdeğin tek bir alan katmanı arayüzüne takılır — ve turu yalnızca istek gerçekten tıbbi olduğunda üstlenir.</a:t>
            </a:r>
            <a:endParaRPr lang="en-US" sz="1350" dirty="0"/>
          </a:p>
        </p:txBody>
      </p:sp>
      <p:sp>
        <p:nvSpPr>
          <p:cNvPr id="6" name="Text 4"/>
          <p:cNvSpPr txBox="1"/>
          <p:nvPr/>
        </p:nvSpPr>
        <p:spPr>
          <a:xfrm>
            <a:off x="566928" y="6382512"/>
            <a:ext cx="2377440" cy="237744"/>
          </a:xfrm>
          <a:prstGeom prst="rect">
            <a:avLst/>
          </a:prstGeom>
          <a:noFill/>
          <a:ln/>
        </p:spPr>
        <p:txBody>
          <a:bodyPr wrap="square" lIns="0" tIns="0" rIns="0" bIns="0" rtlCol="0" anchor="ctr"/>
          <a:lstStyle/>
          <a:p>
            <a:pPr indent="0" marL="0">
              <a:buNone/>
            </a:pPr>
            <a:r>
              <a:rPr lang="en-US" sz="850" spc="220" kern="0" dirty="0">
                <a:solidFill>
                  <a:srgbClr val="43566A"/>
                </a:solidFill>
                <a:latin typeface="Calibri" pitchFamily="34" charset="0"/>
                <a:ea typeface="Calibri" pitchFamily="34" charset="-122"/>
                <a:cs typeface="Calibri" pitchFamily="34" charset="-120"/>
              </a:rPr>
              <a:t>TIP AKADEMİSİ</a:t>
            </a:r>
            <a:endParaRPr lang="en-US" sz="850" dirty="0"/>
          </a:p>
        </p:txBody>
      </p:sp>
      <p:sp>
        <p:nvSpPr>
          <p:cNvPr id="7" name="Text 5"/>
          <p:cNvSpPr txBox="1"/>
          <p:nvPr/>
        </p:nvSpPr>
        <p:spPr>
          <a:xfrm>
            <a:off x="8229600" y="6382512"/>
            <a:ext cx="3364992" cy="237744"/>
          </a:xfrm>
          <a:prstGeom prst="rect">
            <a:avLst/>
          </a:prstGeom>
          <a:noFill/>
          <a:ln/>
        </p:spPr>
        <p:txBody>
          <a:bodyPr wrap="square" lIns="0" tIns="0" rIns="0" bIns="0" rtlCol="0" anchor="ctr"/>
          <a:lstStyle/>
          <a:p>
            <a:pPr algn="r" indent="0" marL="0">
              <a:buNone/>
            </a:pPr>
            <a:r>
              <a:rPr lang="en-US" sz="850" spc="220" kern="0" dirty="0">
                <a:solidFill>
                  <a:srgbClr val="43566A"/>
                </a:solidFill>
                <a:latin typeface="Calibri" pitchFamily="34" charset="0"/>
                <a:ea typeface="Calibri" pitchFamily="34" charset="-122"/>
                <a:cs typeface="Calibri" pitchFamily="34" charset="-120"/>
              </a:rPr>
              <a:t>05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66928" y="566928"/>
            <a:ext cx="7680960" cy="237744"/>
          </a:xfrm>
          <a:prstGeom prst="rect">
            <a:avLst/>
          </a:prstGeom>
          <a:noFill/>
          <a:ln/>
        </p:spPr>
        <p:txBody>
          <a:bodyPr wrap="square" lIns="0" tIns="0" rIns="0" bIns="0" rtlCol="0" anchor="ctr"/>
          <a:lstStyle/>
          <a:p>
            <a:pPr indent="0" marL="0">
              <a:buNone/>
            </a:pPr>
            <a:r>
              <a:rPr lang="en-US" sz="1000" b="1" spc="340" kern="0" dirty="0">
                <a:solidFill>
                  <a:srgbClr val="4CC3EA"/>
                </a:solidFill>
                <a:latin typeface="Calibri" pitchFamily="34" charset="0"/>
                <a:ea typeface="Calibri" pitchFamily="34" charset="-122"/>
                <a:cs typeface="Calibri" pitchFamily="34" charset="-120"/>
              </a:rPr>
              <a:t>BAĞLANMA</a:t>
            </a:r>
            <a:endParaRPr lang="en-US" sz="1000" dirty="0"/>
          </a:p>
        </p:txBody>
      </p:sp>
      <p:sp>
        <p:nvSpPr>
          <p:cNvPr id="3" name="Text 1"/>
          <p:cNvSpPr txBox="1"/>
          <p:nvPr/>
        </p:nvSpPr>
        <p:spPr>
          <a:xfrm>
            <a:off x="548640" y="841248"/>
            <a:ext cx="8778240" cy="786384"/>
          </a:xfrm>
          <a:prstGeom prst="rect">
            <a:avLst/>
          </a:prstGeom>
          <a:noFill/>
          <a:ln/>
        </p:spPr>
        <p:txBody>
          <a:bodyPr wrap="square" lIns="0" tIns="0" rIns="0" bIns="0" rtlCol="0" anchor="t"/>
          <a:lstStyle/>
          <a:p>
            <a:pPr indent="0" marL="0">
              <a:buNone/>
            </a:pPr>
            <a:r>
              <a:rPr lang="en-US" sz="3400" spc="40" kern="0" dirty="0">
                <a:solidFill>
                  <a:srgbClr val="E9F2F8"/>
                </a:solidFill>
                <a:latin typeface="Calibri" pitchFamily="34" charset="0"/>
                <a:ea typeface="Calibri" pitchFamily="34" charset="-122"/>
                <a:cs typeface="Calibri" pitchFamily="34" charset="-120"/>
              </a:rPr>
              <a:t>Bir tur akademiye nasıl ulaşır?</a:t>
            </a:r>
            <a:endParaRPr lang="en-US" sz="3400" dirty="0"/>
          </a:p>
        </p:txBody>
      </p:sp>
      <p:sp>
        <p:nvSpPr>
          <p:cNvPr id="4" name="Shape 2"/>
          <p:cNvSpPr/>
          <p:nvPr/>
        </p:nvSpPr>
        <p:spPr>
          <a:xfrm>
            <a:off x="566928" y="1847088"/>
            <a:ext cx="6784848" cy="438912"/>
          </a:xfrm>
          <a:prstGeom prst="roundRect">
            <a:avLst>
              <a:gd name="adj" fmla="val 12500"/>
            </a:avLst>
          </a:prstGeom>
          <a:solidFill>
            <a:srgbClr val="121C2E">
              <a:alpha val="74000"/>
            </a:srgbClr>
          </a:solidFill>
          <a:ln w="12700">
            <a:solidFill>
              <a:srgbClr val="24384B"/>
            </a:solidFill>
            <a:prstDash val="solid"/>
          </a:ln>
        </p:spPr>
      </p:sp>
      <p:sp>
        <p:nvSpPr>
          <p:cNvPr id="5" name="Text 3"/>
          <p:cNvSpPr txBox="1"/>
          <p:nvPr/>
        </p:nvSpPr>
        <p:spPr>
          <a:xfrm>
            <a:off x="768096" y="1847088"/>
            <a:ext cx="384048" cy="438912"/>
          </a:xfrm>
          <a:prstGeom prst="rect">
            <a:avLst/>
          </a:prstGeom>
          <a:noFill/>
          <a:ln/>
        </p:spPr>
        <p:txBody>
          <a:bodyPr wrap="square" lIns="0" tIns="0" rIns="0" bIns="0" rtlCol="0" anchor="ctr"/>
          <a:lstStyle/>
          <a:p>
            <a:pPr indent="0" marL="0">
              <a:buNone/>
            </a:pPr>
            <a:r>
              <a:rPr lang="en-US" sz="1050" dirty="0">
                <a:solidFill>
                  <a:srgbClr val="43566A"/>
                </a:solidFill>
                <a:latin typeface="Consolas" pitchFamily="34" charset="0"/>
                <a:ea typeface="Consolas" pitchFamily="34" charset="-122"/>
                <a:cs typeface="Consolas" pitchFamily="34" charset="-120"/>
              </a:rPr>
              <a:t>01</a:t>
            </a:r>
            <a:endParaRPr lang="en-US" sz="1050" dirty="0"/>
          </a:p>
        </p:txBody>
      </p:sp>
      <p:sp>
        <p:nvSpPr>
          <p:cNvPr id="6" name="Text 4"/>
          <p:cNvSpPr txBox="1"/>
          <p:nvPr/>
        </p:nvSpPr>
        <p:spPr>
          <a:xfrm>
            <a:off x="1225296" y="1847088"/>
            <a:ext cx="5916168" cy="438912"/>
          </a:xfrm>
          <a:prstGeom prst="rect">
            <a:avLst/>
          </a:prstGeom>
          <a:noFill/>
          <a:ln/>
        </p:spPr>
        <p:txBody>
          <a:bodyPr wrap="square" lIns="0" tIns="0" rIns="0" bIns="0" rtlCol="0" anchor="ctr"/>
          <a:lstStyle/>
          <a:p>
            <a:pPr indent="0" marL="0">
              <a:buNone/>
            </a:pPr>
            <a:r>
              <a:rPr lang="en-US" sz="1200" dirty="0">
                <a:solidFill>
                  <a:srgbClr val="A9BCCB"/>
                </a:solidFill>
                <a:latin typeface="Calibri" pitchFamily="34" charset="0"/>
                <a:ea typeface="Calibri" pitchFamily="34" charset="-122"/>
                <a:cs typeface="Calibri" pitchFamily="34" charset="-120"/>
              </a:rPr>
              <a:t>Kullanıcı bir şey yazar ya da söyler</a:t>
            </a:r>
            <a:endParaRPr lang="en-US" sz="1200" dirty="0"/>
          </a:p>
        </p:txBody>
      </p:sp>
      <p:sp>
        <p:nvSpPr>
          <p:cNvPr id="7" name="Shape 5"/>
          <p:cNvSpPr/>
          <p:nvPr/>
        </p:nvSpPr>
        <p:spPr>
          <a:xfrm>
            <a:off x="960120" y="2286000"/>
            <a:ext cx="0" cy="128016"/>
          </a:xfrm>
          <a:prstGeom prst="line">
            <a:avLst/>
          </a:prstGeom>
          <a:noFill/>
          <a:ln w="15875">
            <a:solidFill>
              <a:srgbClr val="31506A"/>
            </a:solidFill>
            <a:prstDash val="solid"/>
            <a:tailEnd type="triangle"/>
          </a:ln>
        </p:spPr>
      </p:sp>
      <p:sp>
        <p:nvSpPr>
          <p:cNvPr id="8" name="Shape 6"/>
          <p:cNvSpPr/>
          <p:nvPr/>
        </p:nvSpPr>
        <p:spPr>
          <a:xfrm>
            <a:off x="566928" y="2414016"/>
            <a:ext cx="6784848" cy="438912"/>
          </a:xfrm>
          <a:prstGeom prst="roundRect">
            <a:avLst>
              <a:gd name="adj" fmla="val 12500"/>
            </a:avLst>
          </a:prstGeom>
          <a:solidFill>
            <a:srgbClr val="121C2E">
              <a:alpha val="74000"/>
            </a:srgbClr>
          </a:solidFill>
          <a:ln w="12700">
            <a:solidFill>
              <a:srgbClr val="24384B"/>
            </a:solidFill>
            <a:prstDash val="solid"/>
          </a:ln>
        </p:spPr>
      </p:sp>
      <p:sp>
        <p:nvSpPr>
          <p:cNvPr id="9" name="Text 7"/>
          <p:cNvSpPr txBox="1"/>
          <p:nvPr/>
        </p:nvSpPr>
        <p:spPr>
          <a:xfrm>
            <a:off x="768096" y="2414016"/>
            <a:ext cx="384048" cy="438912"/>
          </a:xfrm>
          <a:prstGeom prst="rect">
            <a:avLst/>
          </a:prstGeom>
          <a:noFill/>
          <a:ln/>
        </p:spPr>
        <p:txBody>
          <a:bodyPr wrap="square" lIns="0" tIns="0" rIns="0" bIns="0" rtlCol="0" anchor="ctr"/>
          <a:lstStyle/>
          <a:p>
            <a:pPr indent="0" marL="0">
              <a:buNone/>
            </a:pPr>
            <a:r>
              <a:rPr lang="en-US" sz="1050" dirty="0">
                <a:solidFill>
                  <a:srgbClr val="43566A"/>
                </a:solidFill>
                <a:latin typeface="Consolas" pitchFamily="34" charset="0"/>
                <a:ea typeface="Consolas" pitchFamily="34" charset="-122"/>
                <a:cs typeface="Consolas" pitchFamily="34" charset="-120"/>
              </a:rPr>
              <a:t>02</a:t>
            </a:r>
            <a:endParaRPr lang="en-US" sz="1050" dirty="0"/>
          </a:p>
        </p:txBody>
      </p:sp>
      <p:sp>
        <p:nvSpPr>
          <p:cNvPr id="10" name="Text 8"/>
          <p:cNvSpPr txBox="1"/>
          <p:nvPr/>
        </p:nvSpPr>
        <p:spPr>
          <a:xfrm>
            <a:off x="1225296" y="2414016"/>
            <a:ext cx="5916168" cy="438912"/>
          </a:xfrm>
          <a:prstGeom prst="rect">
            <a:avLst/>
          </a:prstGeom>
          <a:noFill/>
          <a:ln/>
        </p:spPr>
        <p:txBody>
          <a:bodyPr wrap="square" lIns="0" tIns="0" rIns="0" bIns="0" rtlCol="0" anchor="ctr"/>
          <a:lstStyle/>
          <a:p>
            <a:pPr indent="0" marL="0">
              <a:buNone/>
            </a:pPr>
            <a:r>
              <a:rPr lang="en-US" sz="1200" dirty="0">
                <a:solidFill>
                  <a:srgbClr val="A9BCCB"/>
                </a:solidFill>
                <a:latin typeface="Calibri" pitchFamily="34" charset="0"/>
                <a:ea typeface="Calibri" pitchFamily="34" charset="-122"/>
                <a:cs typeface="Calibri" pitchFamily="34" charset="-120"/>
              </a:rPr>
              <a:t>Çekirdek turu sınıflar  ·  kimlik, saat ve sosyal turlar devredilmez</a:t>
            </a:r>
            <a:endParaRPr lang="en-US" sz="1200" dirty="0"/>
          </a:p>
        </p:txBody>
      </p:sp>
      <p:sp>
        <p:nvSpPr>
          <p:cNvPr id="11" name="Shape 9"/>
          <p:cNvSpPr/>
          <p:nvPr/>
        </p:nvSpPr>
        <p:spPr>
          <a:xfrm>
            <a:off x="960120" y="2852928"/>
            <a:ext cx="0" cy="128016"/>
          </a:xfrm>
          <a:prstGeom prst="line">
            <a:avLst/>
          </a:prstGeom>
          <a:noFill/>
          <a:ln w="15875">
            <a:solidFill>
              <a:srgbClr val="31506A"/>
            </a:solidFill>
            <a:prstDash val="solid"/>
            <a:tailEnd type="triangle"/>
          </a:ln>
        </p:spPr>
      </p:sp>
      <p:sp>
        <p:nvSpPr>
          <p:cNvPr id="12" name="Shape 10"/>
          <p:cNvSpPr/>
          <p:nvPr/>
        </p:nvSpPr>
        <p:spPr>
          <a:xfrm>
            <a:off x="566928" y="2980944"/>
            <a:ext cx="6784848" cy="438912"/>
          </a:xfrm>
          <a:prstGeom prst="roundRect">
            <a:avLst>
              <a:gd name="adj" fmla="val 12500"/>
            </a:avLst>
          </a:prstGeom>
          <a:solidFill>
            <a:srgbClr val="121C2E">
              <a:alpha val="74000"/>
            </a:srgbClr>
          </a:solidFill>
          <a:ln w="12700">
            <a:solidFill>
              <a:srgbClr val="24384B"/>
            </a:solidFill>
            <a:prstDash val="solid"/>
          </a:ln>
        </p:spPr>
      </p:sp>
      <p:sp>
        <p:nvSpPr>
          <p:cNvPr id="13" name="Text 11"/>
          <p:cNvSpPr txBox="1"/>
          <p:nvPr/>
        </p:nvSpPr>
        <p:spPr>
          <a:xfrm>
            <a:off x="768096" y="2980944"/>
            <a:ext cx="384048" cy="438912"/>
          </a:xfrm>
          <a:prstGeom prst="rect">
            <a:avLst/>
          </a:prstGeom>
          <a:noFill/>
          <a:ln/>
        </p:spPr>
        <p:txBody>
          <a:bodyPr wrap="square" lIns="0" tIns="0" rIns="0" bIns="0" rtlCol="0" anchor="ctr"/>
          <a:lstStyle/>
          <a:p>
            <a:pPr indent="0" marL="0">
              <a:buNone/>
            </a:pPr>
            <a:r>
              <a:rPr lang="en-US" sz="1050" dirty="0">
                <a:solidFill>
                  <a:srgbClr val="43566A"/>
                </a:solidFill>
                <a:latin typeface="Consolas" pitchFamily="34" charset="0"/>
                <a:ea typeface="Consolas" pitchFamily="34" charset="-122"/>
                <a:cs typeface="Consolas" pitchFamily="34" charset="-120"/>
              </a:rPr>
              <a:t>03</a:t>
            </a:r>
            <a:endParaRPr lang="en-US" sz="1050" dirty="0"/>
          </a:p>
        </p:txBody>
      </p:sp>
      <p:sp>
        <p:nvSpPr>
          <p:cNvPr id="14" name="Text 12"/>
          <p:cNvSpPr txBox="1"/>
          <p:nvPr/>
        </p:nvSpPr>
        <p:spPr>
          <a:xfrm>
            <a:off x="1225296" y="2980944"/>
            <a:ext cx="5916168" cy="438912"/>
          </a:xfrm>
          <a:prstGeom prst="rect">
            <a:avLst/>
          </a:prstGeom>
          <a:noFill/>
          <a:ln/>
        </p:spPr>
        <p:txBody>
          <a:bodyPr wrap="square" lIns="0" tIns="0" rIns="0" bIns="0" rtlCol="0" anchor="ctr"/>
          <a:lstStyle/>
          <a:p>
            <a:pPr indent="0" marL="0">
              <a:buNone/>
            </a:pPr>
            <a:r>
              <a:rPr lang="en-US" sz="1200" dirty="0">
                <a:solidFill>
                  <a:srgbClr val="A9BCCB"/>
                </a:solidFill>
                <a:latin typeface="Calibri" pitchFamily="34" charset="0"/>
                <a:ea typeface="Calibri" pitchFamily="34" charset="-122"/>
                <a:cs typeface="Calibri" pitchFamily="34" charset="-120"/>
              </a:rPr>
              <a:t>Genel tur alan katmanına sunulur</a:t>
            </a:r>
            <a:endParaRPr lang="en-US" sz="1200" dirty="0"/>
          </a:p>
        </p:txBody>
      </p:sp>
      <p:sp>
        <p:nvSpPr>
          <p:cNvPr id="15" name="Shape 13"/>
          <p:cNvSpPr/>
          <p:nvPr/>
        </p:nvSpPr>
        <p:spPr>
          <a:xfrm>
            <a:off x="960120" y="3419856"/>
            <a:ext cx="0" cy="128016"/>
          </a:xfrm>
          <a:prstGeom prst="line">
            <a:avLst/>
          </a:prstGeom>
          <a:noFill/>
          <a:ln w="15875">
            <a:solidFill>
              <a:srgbClr val="31506A"/>
            </a:solidFill>
            <a:prstDash val="solid"/>
            <a:tailEnd type="triangle"/>
          </a:ln>
        </p:spPr>
      </p:sp>
      <p:sp>
        <p:nvSpPr>
          <p:cNvPr id="16" name="Shape 14"/>
          <p:cNvSpPr/>
          <p:nvPr/>
        </p:nvSpPr>
        <p:spPr>
          <a:xfrm>
            <a:off x="566928" y="3547872"/>
            <a:ext cx="6784848" cy="438912"/>
          </a:xfrm>
          <a:prstGeom prst="roundRect">
            <a:avLst>
              <a:gd name="adj" fmla="val 12500"/>
            </a:avLst>
          </a:prstGeom>
          <a:solidFill>
            <a:srgbClr val="121C2E">
              <a:alpha val="74000"/>
            </a:srgbClr>
          </a:solidFill>
          <a:ln w="12700">
            <a:solidFill>
              <a:srgbClr val="24384B"/>
            </a:solidFill>
            <a:prstDash val="solid"/>
          </a:ln>
        </p:spPr>
      </p:sp>
      <p:sp>
        <p:nvSpPr>
          <p:cNvPr id="17" name="Text 15"/>
          <p:cNvSpPr txBox="1"/>
          <p:nvPr/>
        </p:nvSpPr>
        <p:spPr>
          <a:xfrm>
            <a:off x="768096" y="3547872"/>
            <a:ext cx="384048" cy="438912"/>
          </a:xfrm>
          <a:prstGeom prst="rect">
            <a:avLst/>
          </a:prstGeom>
          <a:noFill/>
          <a:ln/>
        </p:spPr>
        <p:txBody>
          <a:bodyPr wrap="square" lIns="0" tIns="0" rIns="0" bIns="0" rtlCol="0" anchor="ctr"/>
          <a:lstStyle/>
          <a:p>
            <a:pPr indent="0" marL="0">
              <a:buNone/>
            </a:pPr>
            <a:r>
              <a:rPr lang="en-US" sz="1050" dirty="0">
                <a:solidFill>
                  <a:srgbClr val="43566A"/>
                </a:solidFill>
                <a:latin typeface="Consolas" pitchFamily="34" charset="0"/>
                <a:ea typeface="Consolas" pitchFamily="34" charset="-122"/>
                <a:cs typeface="Consolas" pitchFamily="34" charset="-120"/>
              </a:rPr>
              <a:t>04</a:t>
            </a:r>
            <a:endParaRPr lang="en-US" sz="1050" dirty="0"/>
          </a:p>
        </p:txBody>
      </p:sp>
      <p:sp>
        <p:nvSpPr>
          <p:cNvPr id="18" name="Text 16"/>
          <p:cNvSpPr txBox="1"/>
          <p:nvPr/>
        </p:nvSpPr>
        <p:spPr>
          <a:xfrm>
            <a:off x="1225296" y="3547872"/>
            <a:ext cx="5916168" cy="438912"/>
          </a:xfrm>
          <a:prstGeom prst="rect">
            <a:avLst/>
          </a:prstGeom>
          <a:noFill/>
          <a:ln/>
        </p:spPr>
        <p:txBody>
          <a:bodyPr wrap="square" lIns="0" tIns="0" rIns="0" bIns="0" rtlCol="0" anchor="ctr"/>
          <a:lstStyle/>
          <a:p>
            <a:pPr indent="0" marL="0">
              <a:buNone/>
            </a:pPr>
            <a:r>
              <a:rPr lang="en-US" sz="1200" dirty="0">
                <a:solidFill>
                  <a:srgbClr val="A9BCCB"/>
                </a:solidFill>
                <a:latin typeface="Calibri" pitchFamily="34" charset="0"/>
                <a:ea typeface="Calibri" pitchFamily="34" charset="-122"/>
                <a:cs typeface="Calibri" pitchFamily="34" charset="-120"/>
              </a:rPr>
              <a:t>Akademi isteği modelsiz ayrıştırır  ·  yaklaşık 0,5 ms</a:t>
            </a:r>
            <a:endParaRPr lang="en-US" sz="1200" dirty="0"/>
          </a:p>
        </p:txBody>
      </p:sp>
      <p:sp>
        <p:nvSpPr>
          <p:cNvPr id="19" name="Shape 17"/>
          <p:cNvSpPr/>
          <p:nvPr/>
        </p:nvSpPr>
        <p:spPr>
          <a:xfrm>
            <a:off x="960120" y="3986784"/>
            <a:ext cx="0" cy="128016"/>
          </a:xfrm>
          <a:prstGeom prst="line">
            <a:avLst/>
          </a:prstGeom>
          <a:noFill/>
          <a:ln w="15875">
            <a:solidFill>
              <a:srgbClr val="31506A"/>
            </a:solidFill>
            <a:prstDash val="solid"/>
            <a:tailEnd type="triangle"/>
          </a:ln>
        </p:spPr>
      </p:sp>
      <p:sp>
        <p:nvSpPr>
          <p:cNvPr id="20" name="Shape 18"/>
          <p:cNvSpPr/>
          <p:nvPr/>
        </p:nvSpPr>
        <p:spPr>
          <a:xfrm>
            <a:off x="566928" y="4114800"/>
            <a:ext cx="6784848" cy="438912"/>
          </a:xfrm>
          <a:prstGeom prst="roundRect">
            <a:avLst>
              <a:gd name="adj" fmla="val 12500"/>
            </a:avLst>
          </a:prstGeom>
          <a:solidFill>
            <a:srgbClr val="121C2E">
              <a:alpha val="74000"/>
            </a:srgbClr>
          </a:solidFill>
          <a:ln w="12700">
            <a:solidFill>
              <a:srgbClr val="24384B"/>
            </a:solidFill>
            <a:prstDash val="solid"/>
          </a:ln>
        </p:spPr>
      </p:sp>
      <p:sp>
        <p:nvSpPr>
          <p:cNvPr id="21" name="Text 19"/>
          <p:cNvSpPr txBox="1"/>
          <p:nvPr/>
        </p:nvSpPr>
        <p:spPr>
          <a:xfrm>
            <a:off x="768096" y="4114800"/>
            <a:ext cx="384048" cy="438912"/>
          </a:xfrm>
          <a:prstGeom prst="rect">
            <a:avLst/>
          </a:prstGeom>
          <a:noFill/>
          <a:ln/>
        </p:spPr>
        <p:txBody>
          <a:bodyPr wrap="square" lIns="0" tIns="0" rIns="0" bIns="0" rtlCol="0" anchor="ctr"/>
          <a:lstStyle/>
          <a:p>
            <a:pPr indent="0" marL="0">
              <a:buNone/>
            </a:pPr>
            <a:r>
              <a:rPr lang="en-US" sz="1050" dirty="0">
                <a:solidFill>
                  <a:srgbClr val="43566A"/>
                </a:solidFill>
                <a:latin typeface="Consolas" pitchFamily="34" charset="0"/>
                <a:ea typeface="Consolas" pitchFamily="34" charset="-122"/>
                <a:cs typeface="Consolas" pitchFamily="34" charset="-120"/>
              </a:rPr>
              <a:t>05</a:t>
            </a:r>
            <a:endParaRPr lang="en-US" sz="1050" dirty="0"/>
          </a:p>
        </p:txBody>
      </p:sp>
      <p:sp>
        <p:nvSpPr>
          <p:cNvPr id="22" name="Text 20"/>
          <p:cNvSpPr txBox="1"/>
          <p:nvPr/>
        </p:nvSpPr>
        <p:spPr>
          <a:xfrm>
            <a:off x="1225296" y="4114800"/>
            <a:ext cx="5916168" cy="438912"/>
          </a:xfrm>
          <a:prstGeom prst="rect">
            <a:avLst/>
          </a:prstGeom>
          <a:noFill/>
          <a:ln/>
        </p:spPr>
        <p:txBody>
          <a:bodyPr wrap="square" lIns="0" tIns="0" rIns="0" bIns="0" rtlCol="0" anchor="ctr"/>
          <a:lstStyle/>
          <a:p>
            <a:pPr indent="0" marL="0">
              <a:buNone/>
            </a:pPr>
            <a:r>
              <a:rPr lang="en-US" sz="1200" dirty="0">
                <a:solidFill>
                  <a:srgbClr val="A9BCCB"/>
                </a:solidFill>
                <a:latin typeface="Calibri" pitchFamily="34" charset="0"/>
                <a:ea typeface="Calibri" pitchFamily="34" charset="-122"/>
                <a:cs typeface="Calibri" pitchFamily="34" charset="-120"/>
              </a:rPr>
              <a:t>Tıbbi değilse  ·  MedicalIntent.NONE, akademi dokunmaz</a:t>
            </a:r>
            <a:endParaRPr lang="en-US" sz="1200" dirty="0"/>
          </a:p>
        </p:txBody>
      </p:sp>
      <p:sp>
        <p:nvSpPr>
          <p:cNvPr id="23" name="Shape 21"/>
          <p:cNvSpPr/>
          <p:nvPr/>
        </p:nvSpPr>
        <p:spPr>
          <a:xfrm>
            <a:off x="960120" y="4553712"/>
            <a:ext cx="0" cy="128016"/>
          </a:xfrm>
          <a:prstGeom prst="line">
            <a:avLst/>
          </a:prstGeom>
          <a:noFill/>
          <a:ln w="15875">
            <a:solidFill>
              <a:srgbClr val="31506A"/>
            </a:solidFill>
            <a:prstDash val="solid"/>
            <a:tailEnd type="triangle"/>
          </a:ln>
        </p:spPr>
      </p:sp>
      <p:sp>
        <p:nvSpPr>
          <p:cNvPr id="24" name="Shape 22"/>
          <p:cNvSpPr/>
          <p:nvPr/>
        </p:nvSpPr>
        <p:spPr>
          <a:xfrm>
            <a:off x="566928" y="4681728"/>
            <a:ext cx="6784848" cy="438912"/>
          </a:xfrm>
          <a:prstGeom prst="roundRect">
            <a:avLst>
              <a:gd name="adj" fmla="val 12500"/>
            </a:avLst>
          </a:prstGeom>
          <a:solidFill>
            <a:srgbClr val="1B7BA0">
              <a:alpha val="38000"/>
            </a:srgbClr>
          </a:solidFill>
          <a:ln w="12700">
            <a:solidFill>
              <a:srgbClr val="1B7BA0"/>
            </a:solidFill>
            <a:prstDash val="solid"/>
          </a:ln>
        </p:spPr>
      </p:sp>
      <p:sp>
        <p:nvSpPr>
          <p:cNvPr id="25" name="Text 23"/>
          <p:cNvSpPr txBox="1"/>
          <p:nvPr/>
        </p:nvSpPr>
        <p:spPr>
          <a:xfrm>
            <a:off x="768096" y="4681728"/>
            <a:ext cx="384048" cy="438912"/>
          </a:xfrm>
          <a:prstGeom prst="rect">
            <a:avLst/>
          </a:prstGeom>
          <a:noFill/>
          <a:ln/>
        </p:spPr>
        <p:txBody>
          <a:bodyPr wrap="square" lIns="0" tIns="0" rIns="0" bIns="0" rtlCol="0" anchor="ctr"/>
          <a:lstStyle/>
          <a:p>
            <a:pPr indent="0" marL="0">
              <a:buNone/>
            </a:pPr>
            <a:r>
              <a:rPr lang="en-US" sz="1050" dirty="0">
                <a:solidFill>
                  <a:srgbClr val="8EE0FF"/>
                </a:solidFill>
                <a:latin typeface="Consolas" pitchFamily="34" charset="0"/>
                <a:ea typeface="Consolas" pitchFamily="34" charset="-122"/>
                <a:cs typeface="Consolas" pitchFamily="34" charset="-120"/>
              </a:rPr>
              <a:t>06</a:t>
            </a:r>
            <a:endParaRPr lang="en-US" sz="1050" dirty="0"/>
          </a:p>
        </p:txBody>
      </p:sp>
      <p:sp>
        <p:nvSpPr>
          <p:cNvPr id="26" name="Text 24"/>
          <p:cNvSpPr txBox="1"/>
          <p:nvPr/>
        </p:nvSpPr>
        <p:spPr>
          <a:xfrm>
            <a:off x="1225296" y="4681728"/>
            <a:ext cx="5916168" cy="438912"/>
          </a:xfrm>
          <a:prstGeom prst="rect">
            <a:avLst/>
          </a:prstGeom>
          <a:noFill/>
          <a:ln/>
        </p:spPr>
        <p:txBody>
          <a:bodyPr wrap="square" lIns="0" tIns="0" rIns="0" bIns="0" rtlCol="0" anchor="ctr"/>
          <a:lstStyle/>
          <a:p>
            <a:pPr indent="0" marL="0">
              <a:buNone/>
            </a:pPr>
            <a:r>
              <a:rPr lang="en-US" sz="1200" dirty="0">
                <a:solidFill>
                  <a:srgbClr val="E9F2F8"/>
                </a:solidFill>
                <a:latin typeface="Calibri" pitchFamily="34" charset="0"/>
                <a:ea typeface="Calibri" pitchFamily="34" charset="-122"/>
                <a:cs typeface="Calibri" pitchFamily="34" charset="-120"/>
              </a:rPr>
              <a:t>Tıbbiyse  ·  sistem istemi, daraltılmış araçlar, doğrudan yanıt</a:t>
            </a:r>
            <a:endParaRPr lang="en-US" sz="1200" dirty="0"/>
          </a:p>
        </p:txBody>
      </p:sp>
      <p:sp>
        <p:nvSpPr>
          <p:cNvPr id="27" name="Shape 25"/>
          <p:cNvSpPr/>
          <p:nvPr/>
        </p:nvSpPr>
        <p:spPr>
          <a:xfrm>
            <a:off x="7607808" y="1847088"/>
            <a:ext cx="3986784" cy="1975104"/>
          </a:xfrm>
          <a:prstGeom prst="roundRect">
            <a:avLst>
              <a:gd name="adj" fmla="val 2778"/>
            </a:avLst>
          </a:prstGeom>
          <a:solidFill>
            <a:srgbClr val="121C2E">
              <a:alpha val="74000"/>
            </a:srgbClr>
          </a:solidFill>
          <a:ln w="12700">
            <a:solidFill>
              <a:srgbClr val="24384B"/>
            </a:solidFill>
            <a:prstDash val="solid"/>
          </a:ln>
        </p:spPr>
      </p:sp>
      <p:sp>
        <p:nvSpPr>
          <p:cNvPr id="28" name="Text 26"/>
          <p:cNvSpPr txBox="1"/>
          <p:nvPr/>
        </p:nvSpPr>
        <p:spPr>
          <a:xfrm>
            <a:off x="7882128" y="2121408"/>
            <a:ext cx="3438144" cy="201168"/>
          </a:xfrm>
          <a:prstGeom prst="rect">
            <a:avLst/>
          </a:prstGeom>
          <a:noFill/>
          <a:ln/>
        </p:spPr>
        <p:txBody>
          <a:bodyPr wrap="square" lIns="0" tIns="0" rIns="0" bIns="0" rtlCol="0" anchor="ctr"/>
          <a:lstStyle/>
          <a:p>
            <a:pPr indent="0" marL="0">
              <a:buNone/>
            </a:pPr>
            <a:r>
              <a:rPr lang="en-US" sz="900" b="1" spc="260" kern="0" dirty="0">
                <a:solidFill>
                  <a:srgbClr val="4CC3EA"/>
                </a:solidFill>
                <a:latin typeface="Calibri" pitchFamily="34" charset="0"/>
                <a:ea typeface="Calibri" pitchFamily="34" charset="-122"/>
                <a:cs typeface="Calibri" pitchFamily="34" charset="-120"/>
              </a:rPr>
              <a:t>YETKI</a:t>
            </a:r>
            <a:endParaRPr lang="en-US" sz="900" dirty="0"/>
          </a:p>
        </p:txBody>
      </p:sp>
      <p:sp>
        <p:nvSpPr>
          <p:cNvPr id="29" name="Text 27"/>
          <p:cNvSpPr txBox="1"/>
          <p:nvPr/>
        </p:nvSpPr>
        <p:spPr>
          <a:xfrm>
            <a:off x="7882128" y="2414016"/>
            <a:ext cx="3438144" cy="310896"/>
          </a:xfrm>
          <a:prstGeom prst="rect">
            <a:avLst/>
          </a:prstGeom>
          <a:noFill/>
          <a:ln/>
        </p:spPr>
        <p:txBody>
          <a:bodyPr wrap="square" lIns="0" tIns="0" rIns="0" bIns="0" rtlCol="0" anchor="ctr"/>
          <a:lstStyle/>
          <a:p>
            <a:pPr indent="0" marL="0">
              <a:buNone/>
            </a:pPr>
            <a:r>
              <a:rPr lang="en-US" sz="1450" b="1" dirty="0">
                <a:solidFill>
                  <a:srgbClr val="E9F2F8"/>
                </a:solidFill>
                <a:latin typeface="Calibri" pitchFamily="34" charset="0"/>
                <a:ea typeface="Calibri" pitchFamily="34" charset="-122"/>
                <a:cs typeface="Calibri" pitchFamily="34" charset="-120"/>
              </a:rPr>
              <a:t>Katmanın dört hakkı</a:t>
            </a:r>
            <a:endParaRPr lang="en-US" sz="1450" dirty="0"/>
          </a:p>
        </p:txBody>
      </p:sp>
      <p:sp>
        <p:nvSpPr>
          <p:cNvPr id="30" name="Text 28"/>
          <p:cNvSpPr txBox="1"/>
          <p:nvPr/>
        </p:nvSpPr>
        <p:spPr>
          <a:xfrm>
            <a:off x="7882128" y="2798064"/>
            <a:ext cx="3438144" cy="896112"/>
          </a:xfrm>
          <a:prstGeom prst="rect">
            <a:avLst/>
          </a:prstGeom>
          <a:noFill/>
          <a:ln/>
        </p:spPr>
        <p:txBody>
          <a:bodyPr wrap="square" lIns="0" tIns="0" rIns="0" bIns="0" rtlCol="0" anchor="t"/>
          <a:lstStyle/>
          <a:p>
            <a:pPr indent="0" marL="0">
              <a:lnSpc>
                <a:spcPts val="1800"/>
              </a:lnSpc>
              <a:buNone/>
            </a:pPr>
            <a:r>
              <a:rPr lang="en-US" sz="1100" dirty="0">
                <a:solidFill>
                  <a:srgbClr val="A9BCCB"/>
                </a:solidFill>
                <a:latin typeface="Calibri" pitchFamily="34" charset="0"/>
                <a:ea typeface="Calibri" pitchFamily="34" charset="-122"/>
                <a:cs typeface="Calibri" pitchFamily="34" charset="-120"/>
              </a:rPr>
              <a:t>O tur için sistem istemini değiştirebilir, araç kümesini daraltabilir, modeli atlayarak doğrudan yanıt verebilir ve turun kişisel hafızaya yazılmasını durdurabilir.</a:t>
            </a:r>
            <a:endParaRPr lang="en-US" sz="1100" dirty="0"/>
          </a:p>
        </p:txBody>
      </p:sp>
      <p:sp>
        <p:nvSpPr>
          <p:cNvPr id="31" name="Shape 29"/>
          <p:cNvSpPr/>
          <p:nvPr/>
        </p:nvSpPr>
        <p:spPr>
          <a:xfrm>
            <a:off x="7607808" y="3986784"/>
            <a:ext cx="3986784" cy="1847088"/>
          </a:xfrm>
          <a:prstGeom prst="roundRect">
            <a:avLst>
              <a:gd name="adj" fmla="val 2970"/>
            </a:avLst>
          </a:prstGeom>
          <a:solidFill>
            <a:srgbClr val="121C2E">
              <a:alpha val="74000"/>
            </a:srgbClr>
          </a:solidFill>
          <a:ln w="12700">
            <a:solidFill>
              <a:srgbClr val="B8A8FF"/>
            </a:solidFill>
            <a:prstDash val="solid"/>
          </a:ln>
        </p:spPr>
      </p:sp>
      <p:sp>
        <p:nvSpPr>
          <p:cNvPr id="32" name="Text 30"/>
          <p:cNvSpPr txBox="1"/>
          <p:nvPr/>
        </p:nvSpPr>
        <p:spPr>
          <a:xfrm>
            <a:off x="7882128" y="4261104"/>
            <a:ext cx="3438144" cy="201168"/>
          </a:xfrm>
          <a:prstGeom prst="rect">
            <a:avLst/>
          </a:prstGeom>
          <a:noFill/>
          <a:ln/>
        </p:spPr>
        <p:txBody>
          <a:bodyPr wrap="square" lIns="0" tIns="0" rIns="0" bIns="0" rtlCol="0" anchor="ctr"/>
          <a:lstStyle/>
          <a:p>
            <a:pPr indent="0" marL="0">
              <a:buNone/>
            </a:pPr>
            <a:r>
              <a:rPr lang="en-US" sz="900" b="1" spc="260" kern="0" dirty="0">
                <a:solidFill>
                  <a:srgbClr val="4CC3EA"/>
                </a:solidFill>
                <a:latin typeface="Calibri" pitchFamily="34" charset="0"/>
                <a:ea typeface="Calibri" pitchFamily="34" charset="-122"/>
                <a:cs typeface="Calibri" pitchFamily="34" charset="-120"/>
              </a:rPr>
              <a:t>SÜREKLILIK</a:t>
            </a:r>
            <a:endParaRPr lang="en-US" sz="900" dirty="0"/>
          </a:p>
        </p:txBody>
      </p:sp>
      <p:sp>
        <p:nvSpPr>
          <p:cNvPr id="33" name="Text 31"/>
          <p:cNvSpPr txBox="1"/>
          <p:nvPr/>
        </p:nvSpPr>
        <p:spPr>
          <a:xfrm>
            <a:off x="7882128" y="4553712"/>
            <a:ext cx="3438144" cy="310896"/>
          </a:xfrm>
          <a:prstGeom prst="rect">
            <a:avLst/>
          </a:prstGeom>
          <a:noFill/>
          <a:ln/>
        </p:spPr>
        <p:txBody>
          <a:bodyPr wrap="square" lIns="0" tIns="0" rIns="0" bIns="0" rtlCol="0" anchor="ctr"/>
          <a:lstStyle/>
          <a:p>
            <a:pPr indent="0" marL="0">
              <a:buNone/>
            </a:pPr>
            <a:r>
              <a:rPr lang="en-US" sz="1450" b="1" dirty="0">
                <a:solidFill>
                  <a:srgbClr val="E9F2F8"/>
                </a:solidFill>
                <a:latin typeface="Calibri" pitchFamily="34" charset="0"/>
                <a:ea typeface="Calibri" pitchFamily="34" charset="-122"/>
                <a:cs typeface="Calibri" pitchFamily="34" charset="-120"/>
              </a:rPr>
              <a:t>Bağlamsal takip</a:t>
            </a:r>
            <a:endParaRPr lang="en-US" sz="1450" dirty="0"/>
          </a:p>
        </p:txBody>
      </p:sp>
      <p:sp>
        <p:nvSpPr>
          <p:cNvPr id="34" name="Text 32"/>
          <p:cNvSpPr txBox="1"/>
          <p:nvPr/>
        </p:nvSpPr>
        <p:spPr>
          <a:xfrm>
            <a:off x="7882128" y="4937760"/>
            <a:ext cx="3438144" cy="768096"/>
          </a:xfrm>
          <a:prstGeom prst="rect">
            <a:avLst/>
          </a:prstGeom>
          <a:noFill/>
          <a:ln/>
        </p:spPr>
        <p:txBody>
          <a:bodyPr wrap="square" lIns="0" tIns="0" rIns="0" bIns="0" rtlCol="0" anchor="t"/>
          <a:lstStyle/>
          <a:p>
            <a:pPr indent="0" marL="0">
              <a:lnSpc>
                <a:spcPts val="1800"/>
              </a:lnSpc>
              <a:buNone/>
            </a:pPr>
            <a:r>
              <a:rPr lang="en-US" sz="1100" dirty="0">
                <a:solidFill>
                  <a:srgbClr val="A9BCCB"/>
                </a:solidFill>
                <a:latin typeface="Calibri" pitchFamily="34" charset="0"/>
                <a:ea typeface="Calibri" pitchFamily="34" charset="-122"/>
                <a:cs typeface="Calibri" pitchFamily="34" charset="-120"/>
              </a:rPr>
              <a:t>"5 şıklı olsun" gibi devam istekleri, ancak güçlü bir işaret taşıyorsa (soru sayısı, hoca, sınav sözcüğü) ya da son 20 dakikada çalışma etkinliği varsa tıbbi sayılır.</a:t>
            </a:r>
            <a:endParaRPr lang="en-US" sz="1100" dirty="0"/>
          </a:p>
        </p:txBody>
      </p:sp>
      <p:sp>
        <p:nvSpPr>
          <p:cNvPr id="35" name="Text 33"/>
          <p:cNvSpPr txBox="1"/>
          <p:nvPr/>
        </p:nvSpPr>
        <p:spPr>
          <a:xfrm>
            <a:off x="566928" y="6382512"/>
            <a:ext cx="2377440" cy="237744"/>
          </a:xfrm>
          <a:prstGeom prst="rect">
            <a:avLst/>
          </a:prstGeom>
          <a:noFill/>
          <a:ln/>
        </p:spPr>
        <p:txBody>
          <a:bodyPr wrap="square" lIns="0" tIns="0" rIns="0" bIns="0" rtlCol="0" anchor="ctr"/>
          <a:lstStyle/>
          <a:p>
            <a:pPr indent="0" marL="0">
              <a:buNone/>
            </a:pPr>
            <a:r>
              <a:rPr lang="en-US" sz="850" spc="220" kern="0" dirty="0">
                <a:solidFill>
                  <a:srgbClr val="43566A"/>
                </a:solidFill>
                <a:latin typeface="Calibri" pitchFamily="34" charset="0"/>
                <a:ea typeface="Calibri" pitchFamily="34" charset="-122"/>
                <a:cs typeface="Calibri" pitchFamily="34" charset="-120"/>
              </a:rPr>
              <a:t>TIP AKADEMİSİ</a:t>
            </a:r>
            <a:endParaRPr lang="en-US" sz="850" dirty="0"/>
          </a:p>
        </p:txBody>
      </p:sp>
      <p:sp>
        <p:nvSpPr>
          <p:cNvPr id="36" name="Text 34"/>
          <p:cNvSpPr txBox="1"/>
          <p:nvPr/>
        </p:nvSpPr>
        <p:spPr>
          <a:xfrm>
            <a:off x="8229600" y="6382512"/>
            <a:ext cx="3364992" cy="237744"/>
          </a:xfrm>
          <a:prstGeom prst="rect">
            <a:avLst/>
          </a:prstGeom>
          <a:noFill/>
          <a:ln/>
        </p:spPr>
        <p:txBody>
          <a:bodyPr wrap="square" lIns="0" tIns="0" rIns="0" bIns="0" rtlCol="0" anchor="ctr"/>
          <a:lstStyle/>
          <a:p>
            <a:pPr algn="r" indent="0" marL="0">
              <a:buNone/>
            </a:pPr>
            <a:r>
              <a:rPr lang="en-US" sz="850" spc="220" kern="0" dirty="0">
                <a:solidFill>
                  <a:srgbClr val="43566A"/>
                </a:solidFill>
                <a:latin typeface="Calibri" pitchFamily="34" charset="0"/>
                <a:ea typeface="Calibri" pitchFamily="34" charset="-122"/>
                <a:cs typeface="Calibri" pitchFamily="34" charset="-120"/>
              </a:rPr>
              <a:t>06  ·  Bağlanma</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66928" y="566928"/>
            <a:ext cx="7680960" cy="237744"/>
          </a:xfrm>
          <a:prstGeom prst="rect">
            <a:avLst/>
          </a:prstGeom>
          <a:noFill/>
          <a:ln/>
        </p:spPr>
        <p:txBody>
          <a:bodyPr wrap="square" lIns="0" tIns="0" rIns="0" bIns="0" rtlCol="0" anchor="ctr"/>
          <a:lstStyle/>
          <a:p>
            <a:pPr indent="0" marL="0">
              <a:buNone/>
            </a:pPr>
            <a:r>
              <a:rPr lang="en-US" sz="1000" b="1" spc="340" kern="0" dirty="0">
                <a:solidFill>
                  <a:srgbClr val="4CC3EA"/>
                </a:solidFill>
                <a:latin typeface="Calibri" pitchFamily="34" charset="0"/>
                <a:ea typeface="Calibri" pitchFamily="34" charset="-122"/>
                <a:cs typeface="Calibri" pitchFamily="34" charset="-120"/>
              </a:rPr>
              <a:t>BAĞLANMA</a:t>
            </a:r>
            <a:endParaRPr lang="en-US" sz="1000" dirty="0"/>
          </a:p>
        </p:txBody>
      </p:sp>
      <p:sp>
        <p:nvSpPr>
          <p:cNvPr id="3" name="Text 1"/>
          <p:cNvSpPr txBox="1"/>
          <p:nvPr/>
        </p:nvSpPr>
        <p:spPr>
          <a:xfrm>
            <a:off x="548640" y="841248"/>
            <a:ext cx="8778240" cy="786384"/>
          </a:xfrm>
          <a:prstGeom prst="rect">
            <a:avLst/>
          </a:prstGeom>
          <a:noFill/>
          <a:ln/>
        </p:spPr>
        <p:txBody>
          <a:bodyPr wrap="square" lIns="0" tIns="0" rIns="0" bIns="0" rtlCol="0" anchor="t"/>
          <a:lstStyle/>
          <a:p>
            <a:pPr indent="0" marL="0">
              <a:buNone/>
            </a:pPr>
            <a:r>
              <a:rPr lang="en-US" sz="3400" spc="40" kern="0" dirty="0">
                <a:solidFill>
                  <a:srgbClr val="E9F2F8"/>
                </a:solidFill>
                <a:latin typeface="Calibri" pitchFamily="34" charset="0"/>
                <a:ea typeface="Calibri" pitchFamily="34" charset="-122"/>
                <a:cs typeface="Calibri" pitchFamily="34" charset="-120"/>
              </a:rPr>
              <a:t>Modelsiz niyet ayrıştırma</a:t>
            </a:r>
            <a:endParaRPr lang="en-US" sz="3400" dirty="0"/>
          </a:p>
        </p:txBody>
      </p:sp>
      <p:sp>
        <p:nvSpPr>
          <p:cNvPr id="4" name="Text 2"/>
          <p:cNvSpPr txBox="1"/>
          <p:nvPr/>
        </p:nvSpPr>
        <p:spPr>
          <a:xfrm>
            <a:off x="566928" y="1719072"/>
            <a:ext cx="6035040" cy="822960"/>
          </a:xfrm>
          <a:prstGeom prst="rect">
            <a:avLst/>
          </a:prstGeom>
          <a:noFill/>
          <a:ln/>
        </p:spPr>
        <p:txBody>
          <a:bodyPr wrap="square" lIns="0" tIns="0" rIns="0" bIns="0" rtlCol="0" anchor="t"/>
          <a:lstStyle/>
          <a:p>
            <a:pPr indent="0" marL="0">
              <a:lnSpc>
                <a:spcPts val="2200"/>
              </a:lnSpc>
              <a:buNone/>
            </a:pPr>
            <a:r>
              <a:rPr lang="en-US" sz="1350" dirty="0">
                <a:solidFill>
                  <a:srgbClr val="A9BCCB"/>
                </a:solidFill>
                <a:latin typeface="Calibri" pitchFamily="34" charset="0"/>
                <a:ea typeface="Calibri" pitchFamily="34" charset="-122"/>
                <a:cs typeface="Calibri" pitchFamily="34" charset="-120"/>
              </a:rPr>
              <a:t>Ayrıştırma her genel turda çalışır, yani maliyeti tüm asistanın maliyetidir. Bu yüzden tek bir model çağrısı bile yapmaz.</a:t>
            </a:r>
            <a:endParaRPr lang="en-US" sz="1350" dirty="0"/>
          </a:p>
        </p:txBody>
      </p:sp>
      <p:sp>
        <p:nvSpPr>
          <p:cNvPr id="5" name="Text 3"/>
          <p:cNvSpPr txBox="1"/>
          <p:nvPr/>
        </p:nvSpPr>
        <p:spPr>
          <a:xfrm>
            <a:off x="566928" y="2743200"/>
            <a:ext cx="219456" cy="402336"/>
          </a:xfrm>
          <a:prstGeom prst="rect">
            <a:avLst/>
          </a:prstGeom>
          <a:noFill/>
          <a:ln/>
        </p:spPr>
        <p:txBody>
          <a:bodyPr wrap="square" lIns="0" tIns="0" rIns="0" bIns="0" rtlCol="0" anchor="ctr"/>
          <a:lstStyle/>
          <a:p>
            <a:pPr indent="0" marL="0">
              <a:buNone/>
            </a:pPr>
            <a:r>
              <a:rPr lang="en-US" sz="1100" dirty="0">
                <a:solidFill>
                  <a:srgbClr val="1B7BA0"/>
                </a:solidFill>
                <a:latin typeface="Calibri" pitchFamily="34" charset="0"/>
                <a:ea typeface="Calibri" pitchFamily="34" charset="-122"/>
                <a:cs typeface="Calibri" pitchFamily="34" charset="-120"/>
              </a:rPr>
              <a:t>—</a:t>
            </a:r>
            <a:endParaRPr lang="en-US" sz="1100" dirty="0"/>
          </a:p>
        </p:txBody>
      </p:sp>
      <p:sp>
        <p:nvSpPr>
          <p:cNvPr id="6" name="Text 4"/>
          <p:cNvSpPr txBox="1"/>
          <p:nvPr/>
        </p:nvSpPr>
        <p:spPr>
          <a:xfrm>
            <a:off x="841248" y="2743200"/>
            <a:ext cx="5577840" cy="402336"/>
          </a:xfrm>
          <a:prstGeom prst="rect">
            <a:avLst/>
          </a:prstGeom>
          <a:noFill/>
          <a:ln/>
        </p:spPr>
        <p:txBody>
          <a:bodyPr wrap="square" lIns="0" tIns="0" rIns="0" bIns="0" rtlCol="0" anchor="ctr"/>
          <a:lstStyle/>
          <a:p>
            <a:pPr indent="0" marL="0">
              <a:buNone/>
            </a:pPr>
            <a:r>
              <a:rPr lang="en-US" sz="1200" dirty="0">
                <a:solidFill>
                  <a:srgbClr val="A9BCCB"/>
                </a:solidFill>
                <a:latin typeface="Calibri" pitchFamily="34" charset="0"/>
                <a:ea typeface="Calibri" pitchFamily="34" charset="-122"/>
                <a:cs typeface="Calibri" pitchFamily="34" charset="-120"/>
              </a:rPr>
              <a:t>Ders, konu, anatomik yapı ve işaret noktası</a:t>
            </a:r>
            <a:endParaRPr lang="en-US" sz="1200" dirty="0"/>
          </a:p>
        </p:txBody>
      </p:sp>
      <p:sp>
        <p:nvSpPr>
          <p:cNvPr id="7" name="Text 5"/>
          <p:cNvSpPr txBox="1"/>
          <p:nvPr/>
        </p:nvSpPr>
        <p:spPr>
          <a:xfrm>
            <a:off x="566928" y="3145536"/>
            <a:ext cx="219456" cy="402336"/>
          </a:xfrm>
          <a:prstGeom prst="rect">
            <a:avLst/>
          </a:prstGeom>
          <a:noFill/>
          <a:ln/>
        </p:spPr>
        <p:txBody>
          <a:bodyPr wrap="square" lIns="0" tIns="0" rIns="0" bIns="0" rtlCol="0" anchor="ctr"/>
          <a:lstStyle/>
          <a:p>
            <a:pPr indent="0" marL="0">
              <a:buNone/>
            </a:pPr>
            <a:r>
              <a:rPr lang="en-US" sz="1100" dirty="0">
                <a:solidFill>
                  <a:srgbClr val="1B7BA0"/>
                </a:solidFill>
                <a:latin typeface="Calibri" pitchFamily="34" charset="0"/>
                <a:ea typeface="Calibri" pitchFamily="34" charset="-122"/>
                <a:cs typeface="Calibri" pitchFamily="34" charset="-120"/>
              </a:rPr>
              <a:t>—</a:t>
            </a:r>
            <a:endParaRPr lang="en-US" sz="1100" dirty="0"/>
          </a:p>
        </p:txBody>
      </p:sp>
      <p:sp>
        <p:nvSpPr>
          <p:cNvPr id="8" name="Text 6"/>
          <p:cNvSpPr txBox="1"/>
          <p:nvPr/>
        </p:nvSpPr>
        <p:spPr>
          <a:xfrm>
            <a:off x="841248" y="3145536"/>
            <a:ext cx="5577840" cy="402336"/>
          </a:xfrm>
          <a:prstGeom prst="rect">
            <a:avLst/>
          </a:prstGeom>
          <a:noFill/>
          <a:ln/>
        </p:spPr>
        <p:txBody>
          <a:bodyPr wrap="square" lIns="0" tIns="0" rIns="0" bIns="0" rtlCol="0" anchor="ctr"/>
          <a:lstStyle/>
          <a:p>
            <a:pPr indent="0" marL="0">
              <a:buNone/>
            </a:pPr>
            <a:r>
              <a:rPr lang="en-US" sz="1200" dirty="0">
                <a:solidFill>
                  <a:srgbClr val="A9BCCB"/>
                </a:solidFill>
                <a:latin typeface="Calibri" pitchFamily="34" charset="0"/>
                <a:ea typeface="Calibri" pitchFamily="34" charset="-122"/>
                <a:cs typeface="Calibri" pitchFamily="34" charset="-120"/>
              </a:rPr>
              <a:t>Çalışma modu ve zorluk</a:t>
            </a:r>
            <a:endParaRPr lang="en-US" sz="1200" dirty="0"/>
          </a:p>
        </p:txBody>
      </p:sp>
      <p:sp>
        <p:nvSpPr>
          <p:cNvPr id="9" name="Text 7"/>
          <p:cNvSpPr txBox="1"/>
          <p:nvPr/>
        </p:nvSpPr>
        <p:spPr>
          <a:xfrm>
            <a:off x="566928" y="3547872"/>
            <a:ext cx="219456" cy="402336"/>
          </a:xfrm>
          <a:prstGeom prst="rect">
            <a:avLst/>
          </a:prstGeom>
          <a:noFill/>
          <a:ln/>
        </p:spPr>
        <p:txBody>
          <a:bodyPr wrap="square" lIns="0" tIns="0" rIns="0" bIns="0" rtlCol="0" anchor="ctr"/>
          <a:lstStyle/>
          <a:p>
            <a:pPr indent="0" marL="0">
              <a:buNone/>
            </a:pPr>
            <a:r>
              <a:rPr lang="en-US" sz="1100" dirty="0">
                <a:solidFill>
                  <a:srgbClr val="1B7BA0"/>
                </a:solidFill>
                <a:latin typeface="Calibri" pitchFamily="34" charset="0"/>
                <a:ea typeface="Calibri" pitchFamily="34" charset="-122"/>
                <a:cs typeface="Calibri" pitchFamily="34" charset="-120"/>
              </a:rPr>
              <a:t>—</a:t>
            </a:r>
            <a:endParaRPr lang="en-US" sz="1100" dirty="0"/>
          </a:p>
        </p:txBody>
      </p:sp>
      <p:sp>
        <p:nvSpPr>
          <p:cNvPr id="10" name="Text 8"/>
          <p:cNvSpPr txBox="1"/>
          <p:nvPr/>
        </p:nvSpPr>
        <p:spPr>
          <a:xfrm>
            <a:off x="841248" y="3547872"/>
            <a:ext cx="5577840" cy="402336"/>
          </a:xfrm>
          <a:prstGeom prst="rect">
            <a:avLst/>
          </a:prstGeom>
          <a:noFill/>
          <a:ln/>
        </p:spPr>
        <p:txBody>
          <a:bodyPr wrap="square" lIns="0" tIns="0" rIns="0" bIns="0" rtlCol="0" anchor="ctr"/>
          <a:lstStyle/>
          <a:p>
            <a:pPr indent="0" marL="0">
              <a:buNone/>
            </a:pPr>
            <a:r>
              <a:rPr lang="en-US" sz="1200" dirty="0">
                <a:solidFill>
                  <a:srgbClr val="A9BCCB"/>
                </a:solidFill>
                <a:latin typeface="Calibri" pitchFamily="34" charset="0"/>
                <a:ea typeface="Calibri" pitchFamily="34" charset="-122"/>
                <a:cs typeface="Calibri" pitchFamily="34" charset="-120"/>
              </a:rPr>
              <a:t>Soru ve şık sayısı, sayfa aralığı</a:t>
            </a:r>
            <a:endParaRPr lang="en-US" sz="1200" dirty="0"/>
          </a:p>
        </p:txBody>
      </p:sp>
      <p:sp>
        <p:nvSpPr>
          <p:cNvPr id="11" name="Text 9"/>
          <p:cNvSpPr txBox="1"/>
          <p:nvPr/>
        </p:nvSpPr>
        <p:spPr>
          <a:xfrm>
            <a:off x="566928" y="3950208"/>
            <a:ext cx="219456" cy="402336"/>
          </a:xfrm>
          <a:prstGeom prst="rect">
            <a:avLst/>
          </a:prstGeom>
          <a:noFill/>
          <a:ln/>
        </p:spPr>
        <p:txBody>
          <a:bodyPr wrap="square" lIns="0" tIns="0" rIns="0" bIns="0" rtlCol="0" anchor="ctr"/>
          <a:lstStyle/>
          <a:p>
            <a:pPr indent="0" marL="0">
              <a:buNone/>
            </a:pPr>
            <a:r>
              <a:rPr lang="en-US" sz="1100" dirty="0">
                <a:solidFill>
                  <a:srgbClr val="1B7BA0"/>
                </a:solidFill>
                <a:latin typeface="Calibri" pitchFamily="34" charset="0"/>
                <a:ea typeface="Calibri" pitchFamily="34" charset="-122"/>
                <a:cs typeface="Calibri" pitchFamily="34" charset="-120"/>
              </a:rPr>
              <a:t>—</a:t>
            </a:r>
            <a:endParaRPr lang="en-US" sz="1100" dirty="0"/>
          </a:p>
        </p:txBody>
      </p:sp>
      <p:sp>
        <p:nvSpPr>
          <p:cNvPr id="12" name="Text 10"/>
          <p:cNvSpPr txBox="1"/>
          <p:nvPr/>
        </p:nvSpPr>
        <p:spPr>
          <a:xfrm>
            <a:off x="841248" y="3950208"/>
            <a:ext cx="5577840" cy="402336"/>
          </a:xfrm>
          <a:prstGeom prst="rect">
            <a:avLst/>
          </a:prstGeom>
          <a:noFill/>
          <a:ln/>
        </p:spPr>
        <p:txBody>
          <a:bodyPr wrap="square" lIns="0" tIns="0" rIns="0" bIns="0" rtlCol="0" anchor="ctr"/>
          <a:lstStyle/>
          <a:p>
            <a:pPr indent="0" marL="0">
              <a:buNone/>
            </a:pPr>
            <a:r>
              <a:rPr lang="en-US" sz="1200" dirty="0">
                <a:solidFill>
                  <a:srgbClr val="A9BCCB"/>
                </a:solidFill>
                <a:latin typeface="Calibri" pitchFamily="34" charset="0"/>
                <a:ea typeface="Calibri" pitchFamily="34" charset="-122"/>
                <a:cs typeface="Calibri" pitchFamily="34" charset="-120"/>
              </a:rPr>
              <a:t>"cevaplar en sonda", "tek tek sor"</a:t>
            </a:r>
            <a:endParaRPr lang="en-US" sz="1200" dirty="0"/>
          </a:p>
        </p:txBody>
      </p:sp>
      <p:sp>
        <p:nvSpPr>
          <p:cNvPr id="13" name="Text 11"/>
          <p:cNvSpPr txBox="1"/>
          <p:nvPr/>
        </p:nvSpPr>
        <p:spPr>
          <a:xfrm>
            <a:off x="566928" y="4352544"/>
            <a:ext cx="219456" cy="402336"/>
          </a:xfrm>
          <a:prstGeom prst="rect">
            <a:avLst/>
          </a:prstGeom>
          <a:noFill/>
          <a:ln/>
        </p:spPr>
        <p:txBody>
          <a:bodyPr wrap="square" lIns="0" tIns="0" rIns="0" bIns="0" rtlCol="0" anchor="ctr"/>
          <a:lstStyle/>
          <a:p>
            <a:pPr indent="0" marL="0">
              <a:buNone/>
            </a:pPr>
            <a:r>
              <a:rPr lang="en-US" sz="1100" dirty="0">
                <a:solidFill>
                  <a:srgbClr val="1B7BA0"/>
                </a:solidFill>
                <a:latin typeface="Calibri" pitchFamily="34" charset="0"/>
                <a:ea typeface="Calibri" pitchFamily="34" charset="-122"/>
                <a:cs typeface="Calibri" pitchFamily="34" charset="-120"/>
              </a:rPr>
              <a:t>—</a:t>
            </a:r>
            <a:endParaRPr lang="en-US" sz="1100" dirty="0"/>
          </a:p>
        </p:txBody>
      </p:sp>
      <p:sp>
        <p:nvSpPr>
          <p:cNvPr id="14" name="Text 12"/>
          <p:cNvSpPr txBox="1"/>
          <p:nvPr/>
        </p:nvSpPr>
        <p:spPr>
          <a:xfrm>
            <a:off x="841248" y="4352544"/>
            <a:ext cx="5577840" cy="402336"/>
          </a:xfrm>
          <a:prstGeom prst="rect">
            <a:avLst/>
          </a:prstGeom>
          <a:noFill/>
          <a:ln/>
        </p:spPr>
        <p:txBody>
          <a:bodyPr wrap="square" lIns="0" tIns="0" rIns="0" bIns="0" rtlCol="0" anchor="ctr"/>
          <a:lstStyle/>
          <a:p>
            <a:pPr indent="0" marL="0">
              <a:buNone/>
            </a:pPr>
            <a:r>
              <a:rPr lang="en-US" sz="1200" dirty="0">
                <a:solidFill>
                  <a:srgbClr val="A9BCCB"/>
                </a:solidFill>
                <a:latin typeface="Calibri" pitchFamily="34" charset="0"/>
                <a:ea typeface="Calibri" pitchFamily="34" charset="-122"/>
                <a:cs typeface="Calibri" pitchFamily="34" charset="-120"/>
              </a:rPr>
              <a:t>"sadece yanlış yaptıklarım", "hocanın tarzında"</a:t>
            </a:r>
            <a:endParaRPr lang="en-US" sz="1200" dirty="0"/>
          </a:p>
        </p:txBody>
      </p:sp>
      <p:sp>
        <p:nvSpPr>
          <p:cNvPr id="15" name="Text 13"/>
          <p:cNvSpPr txBox="1"/>
          <p:nvPr/>
        </p:nvSpPr>
        <p:spPr>
          <a:xfrm>
            <a:off x="566928" y="4846320"/>
            <a:ext cx="5852160" cy="274320"/>
          </a:xfrm>
          <a:prstGeom prst="rect">
            <a:avLst/>
          </a:prstGeom>
          <a:noFill/>
          <a:ln/>
        </p:spPr>
        <p:txBody>
          <a:bodyPr wrap="square" lIns="0" tIns="0" rIns="0" bIns="0" rtlCol="0" anchor="ctr"/>
          <a:lstStyle/>
          <a:p>
            <a:pPr indent="0" marL="0">
              <a:buNone/>
            </a:pPr>
            <a:r>
              <a:rPr lang="en-US" sz="1150" dirty="0">
                <a:solidFill>
                  <a:srgbClr val="6F8597"/>
                </a:solidFill>
                <a:latin typeface="Calibri" pitchFamily="34" charset="0"/>
                <a:ea typeface="Calibri" pitchFamily="34" charset="-122"/>
                <a:cs typeface="Calibri" pitchFamily="34" charset="-120"/>
              </a:rPr>
              <a:t>Tıbbi olmayanlar dokunulmadan geçer:</a:t>
            </a:r>
            <a:endParaRPr lang="en-US" sz="1150" dirty="0"/>
          </a:p>
        </p:txBody>
      </p:sp>
      <p:sp>
        <p:nvSpPr>
          <p:cNvPr id="16" name="Shape 14"/>
          <p:cNvSpPr/>
          <p:nvPr/>
        </p:nvSpPr>
        <p:spPr>
          <a:xfrm>
            <a:off x="566928" y="5193792"/>
            <a:ext cx="1078992" cy="310896"/>
          </a:xfrm>
          <a:prstGeom prst="roundRect">
            <a:avLst>
              <a:gd name="adj" fmla="val 147059"/>
            </a:avLst>
          </a:prstGeom>
          <a:solidFill>
            <a:srgbClr val="121C2E">
              <a:alpha val="66000"/>
            </a:srgbClr>
          </a:solidFill>
          <a:ln w="11430">
            <a:solidFill>
              <a:srgbClr val="43566A"/>
            </a:solidFill>
            <a:prstDash val="solid"/>
          </a:ln>
        </p:spPr>
      </p:sp>
      <p:sp>
        <p:nvSpPr>
          <p:cNvPr id="17" name="Text 15"/>
          <p:cNvSpPr txBox="1"/>
          <p:nvPr/>
        </p:nvSpPr>
        <p:spPr>
          <a:xfrm>
            <a:off x="566928" y="5193792"/>
            <a:ext cx="1078992" cy="310896"/>
          </a:xfrm>
          <a:prstGeom prst="rect">
            <a:avLst/>
          </a:prstGeom>
          <a:noFill/>
          <a:ln/>
        </p:spPr>
        <p:txBody>
          <a:bodyPr wrap="square" lIns="0" tIns="0" rIns="0" bIns="0" rtlCol="0" anchor="ctr"/>
          <a:lstStyle/>
          <a:p>
            <a:pPr algn="ctr" indent="0" marL="0">
              <a:buNone/>
            </a:pPr>
            <a:r>
              <a:rPr lang="en-US" sz="950" spc="80" kern="0" dirty="0">
                <a:solidFill>
                  <a:srgbClr val="43566A"/>
                </a:solidFill>
                <a:latin typeface="Calibri" pitchFamily="34" charset="0"/>
                <a:ea typeface="Calibri" pitchFamily="34" charset="-122"/>
                <a:cs typeface="Calibri" pitchFamily="34" charset="-120"/>
              </a:rPr>
              <a:t>hava nasıl</a:t>
            </a:r>
            <a:endParaRPr lang="en-US" sz="950" dirty="0"/>
          </a:p>
        </p:txBody>
      </p:sp>
      <p:sp>
        <p:nvSpPr>
          <p:cNvPr id="18" name="Shape 16"/>
          <p:cNvSpPr/>
          <p:nvPr/>
        </p:nvSpPr>
        <p:spPr>
          <a:xfrm>
            <a:off x="1773936" y="5193792"/>
            <a:ext cx="1753819" cy="310896"/>
          </a:xfrm>
          <a:prstGeom prst="roundRect">
            <a:avLst>
              <a:gd name="adj" fmla="val 147059"/>
            </a:avLst>
          </a:prstGeom>
          <a:solidFill>
            <a:srgbClr val="121C2E">
              <a:alpha val="66000"/>
            </a:srgbClr>
          </a:solidFill>
          <a:ln w="11430">
            <a:solidFill>
              <a:srgbClr val="43566A"/>
            </a:solidFill>
            <a:prstDash val="solid"/>
          </a:ln>
        </p:spPr>
      </p:sp>
      <p:sp>
        <p:nvSpPr>
          <p:cNvPr id="19" name="Text 17"/>
          <p:cNvSpPr txBox="1"/>
          <p:nvPr/>
        </p:nvSpPr>
        <p:spPr>
          <a:xfrm>
            <a:off x="1773936" y="5193792"/>
            <a:ext cx="1753819" cy="310896"/>
          </a:xfrm>
          <a:prstGeom prst="rect">
            <a:avLst/>
          </a:prstGeom>
          <a:noFill/>
          <a:ln/>
        </p:spPr>
        <p:txBody>
          <a:bodyPr wrap="square" lIns="0" tIns="0" rIns="0" bIns="0" rtlCol="0" anchor="ctr"/>
          <a:lstStyle/>
          <a:p>
            <a:pPr algn="ctr" indent="0" marL="0">
              <a:buNone/>
            </a:pPr>
            <a:r>
              <a:rPr lang="en-US" sz="950" spc="80" kern="0" dirty="0">
                <a:solidFill>
                  <a:srgbClr val="43566A"/>
                </a:solidFill>
                <a:latin typeface="Calibri" pitchFamily="34" charset="0"/>
                <a:ea typeface="Calibri" pitchFamily="34" charset="-122"/>
                <a:cs typeface="Calibri" pitchFamily="34" charset="-120"/>
              </a:rPr>
              <a:t>spotify'da müzik aç</a:t>
            </a:r>
            <a:endParaRPr lang="en-US" sz="950" dirty="0"/>
          </a:p>
        </p:txBody>
      </p:sp>
      <p:sp>
        <p:nvSpPr>
          <p:cNvPr id="20" name="Shape 18"/>
          <p:cNvSpPr/>
          <p:nvPr/>
        </p:nvSpPr>
        <p:spPr>
          <a:xfrm>
            <a:off x="3655771" y="5193792"/>
            <a:ext cx="1603858" cy="310896"/>
          </a:xfrm>
          <a:prstGeom prst="roundRect">
            <a:avLst>
              <a:gd name="adj" fmla="val 147059"/>
            </a:avLst>
          </a:prstGeom>
          <a:solidFill>
            <a:srgbClr val="121C2E">
              <a:alpha val="66000"/>
            </a:srgbClr>
          </a:solidFill>
          <a:ln w="11430">
            <a:solidFill>
              <a:srgbClr val="43566A"/>
            </a:solidFill>
            <a:prstDash val="solid"/>
          </a:ln>
        </p:spPr>
      </p:sp>
      <p:sp>
        <p:nvSpPr>
          <p:cNvPr id="21" name="Text 19"/>
          <p:cNvSpPr txBox="1"/>
          <p:nvPr/>
        </p:nvSpPr>
        <p:spPr>
          <a:xfrm>
            <a:off x="3655771" y="5193792"/>
            <a:ext cx="1603858" cy="310896"/>
          </a:xfrm>
          <a:prstGeom prst="rect">
            <a:avLst/>
          </a:prstGeom>
          <a:noFill/>
          <a:ln/>
        </p:spPr>
        <p:txBody>
          <a:bodyPr wrap="square" lIns="0" tIns="0" rIns="0" bIns="0" rtlCol="0" anchor="ctr"/>
          <a:lstStyle/>
          <a:p>
            <a:pPr algn="ctr" indent="0" marL="0">
              <a:buNone/>
            </a:pPr>
            <a:r>
              <a:rPr lang="en-US" sz="950" spc="80" kern="0" dirty="0">
                <a:solidFill>
                  <a:srgbClr val="43566A"/>
                </a:solidFill>
                <a:latin typeface="Calibri" pitchFamily="34" charset="0"/>
                <a:ea typeface="Calibri" pitchFamily="34" charset="-122"/>
                <a:cs typeface="Calibri" pitchFamily="34" charset="-120"/>
              </a:rPr>
              <a:t>dosyaları listele</a:t>
            </a:r>
            <a:endParaRPr lang="en-US" sz="950" dirty="0"/>
          </a:p>
        </p:txBody>
      </p:sp>
      <p:sp>
        <p:nvSpPr>
          <p:cNvPr id="22" name="Shape 20"/>
          <p:cNvSpPr/>
          <p:nvPr/>
        </p:nvSpPr>
        <p:spPr>
          <a:xfrm>
            <a:off x="6784848" y="1719072"/>
            <a:ext cx="4809744" cy="4114800"/>
          </a:xfrm>
          <a:prstGeom prst="roundRect">
            <a:avLst>
              <a:gd name="adj" fmla="val 1333"/>
            </a:avLst>
          </a:prstGeom>
          <a:solidFill>
            <a:srgbClr val="121C2E">
              <a:alpha val="74000"/>
            </a:srgbClr>
          </a:solidFill>
          <a:ln w="12700">
            <a:solidFill>
              <a:srgbClr val="24384B"/>
            </a:solidFill>
            <a:prstDash val="solid"/>
          </a:ln>
        </p:spPr>
      </p:sp>
      <p:sp>
        <p:nvSpPr>
          <p:cNvPr id="23" name="Text 21"/>
          <p:cNvSpPr txBox="1"/>
          <p:nvPr/>
        </p:nvSpPr>
        <p:spPr>
          <a:xfrm>
            <a:off x="7059168" y="1956816"/>
            <a:ext cx="4206240" cy="219456"/>
          </a:xfrm>
          <a:prstGeom prst="rect">
            <a:avLst/>
          </a:prstGeom>
          <a:noFill/>
          <a:ln/>
        </p:spPr>
        <p:txBody>
          <a:bodyPr wrap="square" lIns="0" tIns="0" rIns="0" bIns="0" rtlCol="0" anchor="ctr"/>
          <a:lstStyle/>
          <a:p>
            <a:pPr indent="0" marL="0">
              <a:buNone/>
            </a:pPr>
            <a:r>
              <a:rPr lang="en-US" sz="900" b="1" spc="260" kern="0" dirty="0">
                <a:solidFill>
                  <a:srgbClr val="4CC3EA"/>
                </a:solidFill>
                <a:latin typeface="Calibri" pitchFamily="34" charset="0"/>
                <a:ea typeface="Calibri" pitchFamily="34" charset="-122"/>
                <a:cs typeface="Calibri" pitchFamily="34" charset="-120"/>
              </a:rPr>
              <a:t>ÖLÇÜLEN GECİKME</a:t>
            </a:r>
            <a:endParaRPr lang="en-US" sz="900" dirty="0"/>
          </a:p>
        </p:txBody>
      </p:sp>
      <p:sp>
        <p:nvSpPr>
          <p:cNvPr id="24" name="Text 22"/>
          <p:cNvSpPr txBox="1"/>
          <p:nvPr/>
        </p:nvSpPr>
        <p:spPr>
          <a:xfrm>
            <a:off x="7059168" y="2304288"/>
            <a:ext cx="2194560" cy="219456"/>
          </a:xfrm>
          <a:prstGeom prst="rect">
            <a:avLst/>
          </a:prstGeom>
          <a:noFill/>
          <a:ln/>
        </p:spPr>
        <p:txBody>
          <a:bodyPr wrap="square" lIns="0" tIns="0" rIns="0" bIns="0" rtlCol="0" anchor="ctr"/>
          <a:lstStyle/>
          <a:p>
            <a:pPr indent="0" marL="0">
              <a:buNone/>
            </a:pPr>
            <a:r>
              <a:rPr lang="en-US" sz="850" spc="180" kern="0" dirty="0">
                <a:solidFill>
                  <a:srgbClr val="43566A"/>
                </a:solidFill>
                <a:latin typeface="Calibri" pitchFamily="34" charset="0"/>
                <a:ea typeface="Calibri" pitchFamily="34" charset="-122"/>
                <a:cs typeface="Calibri" pitchFamily="34" charset="-120"/>
              </a:rPr>
              <a:t>AŞAMA</a:t>
            </a:r>
            <a:endParaRPr lang="en-US" sz="850" dirty="0"/>
          </a:p>
        </p:txBody>
      </p:sp>
      <p:sp>
        <p:nvSpPr>
          <p:cNvPr id="25" name="Text 23"/>
          <p:cNvSpPr txBox="1"/>
          <p:nvPr/>
        </p:nvSpPr>
        <p:spPr>
          <a:xfrm>
            <a:off x="9345168" y="2304288"/>
            <a:ext cx="914400" cy="219456"/>
          </a:xfrm>
          <a:prstGeom prst="rect">
            <a:avLst/>
          </a:prstGeom>
          <a:noFill/>
          <a:ln/>
        </p:spPr>
        <p:txBody>
          <a:bodyPr wrap="square" lIns="0" tIns="0" rIns="0" bIns="0" rtlCol="0" anchor="ctr"/>
          <a:lstStyle/>
          <a:p>
            <a:pPr algn="r" indent="0" marL="0">
              <a:buNone/>
            </a:pPr>
            <a:r>
              <a:rPr lang="en-US" sz="850" spc="180" kern="0" dirty="0">
                <a:solidFill>
                  <a:srgbClr val="43566A"/>
                </a:solidFill>
                <a:latin typeface="Calibri" pitchFamily="34" charset="0"/>
                <a:ea typeface="Calibri" pitchFamily="34" charset="-122"/>
                <a:cs typeface="Calibri" pitchFamily="34" charset="-120"/>
              </a:rPr>
              <a:t>ÖNCE</a:t>
            </a:r>
            <a:endParaRPr lang="en-US" sz="850" dirty="0"/>
          </a:p>
        </p:txBody>
      </p:sp>
      <p:sp>
        <p:nvSpPr>
          <p:cNvPr id="26" name="Text 24"/>
          <p:cNvSpPr txBox="1"/>
          <p:nvPr/>
        </p:nvSpPr>
        <p:spPr>
          <a:xfrm>
            <a:off x="10332720" y="2304288"/>
            <a:ext cx="987552" cy="219456"/>
          </a:xfrm>
          <a:prstGeom prst="rect">
            <a:avLst/>
          </a:prstGeom>
          <a:noFill/>
          <a:ln/>
        </p:spPr>
        <p:txBody>
          <a:bodyPr wrap="square" lIns="0" tIns="0" rIns="0" bIns="0" rtlCol="0" anchor="ctr"/>
          <a:lstStyle/>
          <a:p>
            <a:pPr algn="r" indent="0" marL="0">
              <a:buNone/>
            </a:pPr>
            <a:r>
              <a:rPr lang="en-US" sz="850" spc="180" kern="0" dirty="0">
                <a:solidFill>
                  <a:srgbClr val="43566A"/>
                </a:solidFill>
                <a:latin typeface="Calibri" pitchFamily="34" charset="0"/>
                <a:ea typeface="Calibri" pitchFamily="34" charset="-122"/>
                <a:cs typeface="Calibri" pitchFamily="34" charset="-120"/>
              </a:rPr>
              <a:t>SONRA</a:t>
            </a:r>
            <a:endParaRPr lang="en-US" sz="850" dirty="0"/>
          </a:p>
        </p:txBody>
      </p:sp>
      <p:sp>
        <p:nvSpPr>
          <p:cNvPr id="27" name="Shape 25"/>
          <p:cNvSpPr/>
          <p:nvPr/>
        </p:nvSpPr>
        <p:spPr>
          <a:xfrm>
            <a:off x="7059168" y="2688336"/>
            <a:ext cx="4261104" cy="566928"/>
          </a:xfrm>
          <a:prstGeom prst="roundRect">
            <a:avLst>
              <a:gd name="adj" fmla="val 9677"/>
            </a:avLst>
          </a:prstGeom>
          <a:solidFill>
            <a:srgbClr val="121C2E">
              <a:alpha val="66000"/>
            </a:srgbClr>
          </a:solidFill>
          <a:ln w="12700">
            <a:solidFill>
              <a:srgbClr val="24384B"/>
            </a:solidFill>
            <a:prstDash val="solid"/>
          </a:ln>
        </p:spPr>
      </p:sp>
      <p:sp>
        <p:nvSpPr>
          <p:cNvPr id="28" name="Text 26"/>
          <p:cNvSpPr txBox="1"/>
          <p:nvPr/>
        </p:nvSpPr>
        <p:spPr>
          <a:xfrm>
            <a:off x="7223760" y="2688336"/>
            <a:ext cx="2194560" cy="566928"/>
          </a:xfrm>
          <a:prstGeom prst="rect">
            <a:avLst/>
          </a:prstGeom>
          <a:noFill/>
          <a:ln/>
        </p:spPr>
        <p:txBody>
          <a:bodyPr wrap="square" lIns="0" tIns="0" rIns="0" bIns="0" rtlCol="0" anchor="ctr"/>
          <a:lstStyle/>
          <a:p>
            <a:pPr indent="0" marL="0">
              <a:buNone/>
            </a:pPr>
            <a:r>
              <a:rPr lang="en-US" sz="900" dirty="0">
                <a:solidFill>
                  <a:srgbClr val="A9BCCB"/>
                </a:solidFill>
                <a:latin typeface="Consolas" pitchFamily="34" charset="0"/>
                <a:ea typeface="Consolas" pitchFamily="34" charset="-122"/>
                <a:cs typeface="Consolas" pitchFamily="34" charset="-120"/>
              </a:rPr>
              <a:t>find_in_text  (1449 takma ad)</a:t>
            </a:r>
            <a:endParaRPr lang="en-US" sz="900" dirty="0"/>
          </a:p>
        </p:txBody>
      </p:sp>
      <p:sp>
        <p:nvSpPr>
          <p:cNvPr id="29" name="Text 27"/>
          <p:cNvSpPr txBox="1"/>
          <p:nvPr/>
        </p:nvSpPr>
        <p:spPr>
          <a:xfrm>
            <a:off x="9308592" y="2688336"/>
            <a:ext cx="950976" cy="566928"/>
          </a:xfrm>
          <a:prstGeom prst="rect">
            <a:avLst/>
          </a:prstGeom>
          <a:noFill/>
          <a:ln/>
        </p:spPr>
        <p:txBody>
          <a:bodyPr wrap="square" lIns="0" tIns="0" rIns="0" bIns="0" rtlCol="0" anchor="ctr"/>
          <a:lstStyle/>
          <a:p>
            <a:pPr algn="r" indent="0" marL="0">
              <a:buNone/>
            </a:pPr>
            <a:r>
              <a:rPr lang="en-US" sz="1050" dirty="0">
                <a:solidFill>
                  <a:srgbClr val="43566A"/>
                </a:solidFill>
                <a:latin typeface="Calibri" pitchFamily="34" charset="0"/>
                <a:ea typeface="Calibri" pitchFamily="34" charset="-122"/>
                <a:cs typeface="Calibri" pitchFamily="34" charset="-120"/>
              </a:rPr>
              <a:t>115–150 ms</a:t>
            </a:r>
            <a:endParaRPr lang="en-US" sz="1050" dirty="0"/>
          </a:p>
        </p:txBody>
      </p:sp>
      <p:sp>
        <p:nvSpPr>
          <p:cNvPr id="30" name="Text 28"/>
          <p:cNvSpPr txBox="1"/>
          <p:nvPr/>
        </p:nvSpPr>
        <p:spPr>
          <a:xfrm>
            <a:off x="10296144" y="2688336"/>
            <a:ext cx="914400" cy="566928"/>
          </a:xfrm>
          <a:prstGeom prst="rect">
            <a:avLst/>
          </a:prstGeom>
          <a:noFill/>
          <a:ln/>
        </p:spPr>
        <p:txBody>
          <a:bodyPr wrap="square" lIns="0" tIns="0" rIns="0" bIns="0" rtlCol="0" anchor="ctr"/>
          <a:lstStyle/>
          <a:p>
            <a:pPr algn="r" indent="0" marL="0">
              <a:buNone/>
            </a:pPr>
            <a:r>
              <a:rPr lang="en-US" sz="1050" b="1" dirty="0">
                <a:solidFill>
                  <a:srgbClr val="7FE0B2"/>
                </a:solidFill>
                <a:latin typeface="Calibri" pitchFamily="34" charset="0"/>
                <a:ea typeface="Calibri" pitchFamily="34" charset="-122"/>
                <a:cs typeface="Calibri" pitchFamily="34" charset="-120"/>
              </a:rPr>
              <a:t>0,06 ms</a:t>
            </a:r>
            <a:endParaRPr lang="en-US" sz="1050" dirty="0"/>
          </a:p>
        </p:txBody>
      </p:sp>
      <p:sp>
        <p:nvSpPr>
          <p:cNvPr id="31" name="Shape 29"/>
          <p:cNvSpPr/>
          <p:nvPr/>
        </p:nvSpPr>
        <p:spPr>
          <a:xfrm>
            <a:off x="7059168" y="3401568"/>
            <a:ext cx="4261104" cy="566928"/>
          </a:xfrm>
          <a:prstGeom prst="roundRect">
            <a:avLst>
              <a:gd name="adj" fmla="val 9677"/>
            </a:avLst>
          </a:prstGeom>
          <a:solidFill>
            <a:srgbClr val="121C2E">
              <a:alpha val="66000"/>
            </a:srgbClr>
          </a:solidFill>
          <a:ln w="12700">
            <a:solidFill>
              <a:srgbClr val="24384B"/>
            </a:solidFill>
            <a:prstDash val="solid"/>
          </a:ln>
        </p:spPr>
      </p:sp>
      <p:sp>
        <p:nvSpPr>
          <p:cNvPr id="32" name="Text 30"/>
          <p:cNvSpPr txBox="1"/>
          <p:nvPr/>
        </p:nvSpPr>
        <p:spPr>
          <a:xfrm>
            <a:off x="7223760" y="3401568"/>
            <a:ext cx="2194560" cy="566928"/>
          </a:xfrm>
          <a:prstGeom prst="rect">
            <a:avLst/>
          </a:prstGeom>
          <a:noFill/>
          <a:ln/>
        </p:spPr>
        <p:txBody>
          <a:bodyPr wrap="square" lIns="0" tIns="0" rIns="0" bIns="0" rtlCol="0" anchor="ctr"/>
          <a:lstStyle/>
          <a:p>
            <a:pPr indent="0" marL="0">
              <a:buNone/>
            </a:pPr>
            <a:r>
              <a:rPr lang="en-US" sz="900" dirty="0">
                <a:solidFill>
                  <a:srgbClr val="A9BCCB"/>
                </a:solidFill>
                <a:latin typeface="Consolas" pitchFamily="34" charset="0"/>
                <a:ea typeface="Consolas" pitchFamily="34" charset="-122"/>
                <a:cs typeface="Consolas" pitchFamily="34" charset="-120"/>
              </a:rPr>
              <a:t>ConceptGraph.find</a:t>
            </a:r>
            <a:endParaRPr lang="en-US" sz="900" dirty="0"/>
          </a:p>
        </p:txBody>
      </p:sp>
      <p:sp>
        <p:nvSpPr>
          <p:cNvPr id="33" name="Text 31"/>
          <p:cNvSpPr txBox="1"/>
          <p:nvPr/>
        </p:nvSpPr>
        <p:spPr>
          <a:xfrm>
            <a:off x="9308592" y="3401568"/>
            <a:ext cx="950976" cy="566928"/>
          </a:xfrm>
          <a:prstGeom prst="rect">
            <a:avLst/>
          </a:prstGeom>
          <a:noFill/>
          <a:ln/>
        </p:spPr>
        <p:txBody>
          <a:bodyPr wrap="square" lIns="0" tIns="0" rIns="0" bIns="0" rtlCol="0" anchor="ctr"/>
          <a:lstStyle/>
          <a:p>
            <a:pPr algn="r" indent="0" marL="0">
              <a:buNone/>
            </a:pPr>
            <a:r>
              <a:rPr lang="en-US" sz="1050" dirty="0">
                <a:solidFill>
                  <a:srgbClr val="43566A"/>
                </a:solidFill>
                <a:latin typeface="Calibri" pitchFamily="34" charset="0"/>
                <a:ea typeface="Calibri" pitchFamily="34" charset="-122"/>
                <a:cs typeface="Calibri" pitchFamily="34" charset="-120"/>
              </a:rPr>
              <a:t>10–12 ms</a:t>
            </a:r>
            <a:endParaRPr lang="en-US" sz="1050" dirty="0"/>
          </a:p>
        </p:txBody>
      </p:sp>
      <p:sp>
        <p:nvSpPr>
          <p:cNvPr id="34" name="Text 32"/>
          <p:cNvSpPr txBox="1"/>
          <p:nvPr/>
        </p:nvSpPr>
        <p:spPr>
          <a:xfrm>
            <a:off x="10296144" y="3401568"/>
            <a:ext cx="914400" cy="566928"/>
          </a:xfrm>
          <a:prstGeom prst="rect">
            <a:avLst/>
          </a:prstGeom>
          <a:noFill/>
          <a:ln/>
        </p:spPr>
        <p:txBody>
          <a:bodyPr wrap="square" lIns="0" tIns="0" rIns="0" bIns="0" rtlCol="0" anchor="ctr"/>
          <a:lstStyle/>
          <a:p>
            <a:pPr algn="r" indent="0" marL="0">
              <a:buNone/>
            </a:pPr>
            <a:r>
              <a:rPr lang="en-US" sz="1050" b="1" dirty="0">
                <a:solidFill>
                  <a:srgbClr val="7FE0B2"/>
                </a:solidFill>
                <a:latin typeface="Calibri" pitchFamily="34" charset="0"/>
                <a:ea typeface="Calibri" pitchFamily="34" charset="-122"/>
                <a:cs typeface="Calibri" pitchFamily="34" charset="-120"/>
              </a:rPr>
              <a:t>&lt; 0,1 ms</a:t>
            </a:r>
            <a:endParaRPr lang="en-US" sz="1050" dirty="0"/>
          </a:p>
        </p:txBody>
      </p:sp>
      <p:sp>
        <p:nvSpPr>
          <p:cNvPr id="35" name="Shape 33"/>
          <p:cNvSpPr/>
          <p:nvPr/>
        </p:nvSpPr>
        <p:spPr>
          <a:xfrm>
            <a:off x="7059168" y="4114800"/>
            <a:ext cx="4261104" cy="566928"/>
          </a:xfrm>
          <a:prstGeom prst="roundRect">
            <a:avLst>
              <a:gd name="adj" fmla="val 9677"/>
            </a:avLst>
          </a:prstGeom>
          <a:solidFill>
            <a:srgbClr val="121C2E">
              <a:alpha val="66000"/>
            </a:srgbClr>
          </a:solidFill>
          <a:ln w="12700">
            <a:solidFill>
              <a:srgbClr val="24384B"/>
            </a:solidFill>
            <a:prstDash val="solid"/>
          </a:ln>
        </p:spPr>
      </p:sp>
      <p:sp>
        <p:nvSpPr>
          <p:cNvPr id="36" name="Text 34"/>
          <p:cNvSpPr txBox="1"/>
          <p:nvPr/>
        </p:nvSpPr>
        <p:spPr>
          <a:xfrm>
            <a:off x="7223760" y="4114800"/>
            <a:ext cx="2194560" cy="566928"/>
          </a:xfrm>
          <a:prstGeom prst="rect">
            <a:avLst/>
          </a:prstGeom>
          <a:noFill/>
          <a:ln/>
        </p:spPr>
        <p:txBody>
          <a:bodyPr wrap="square" lIns="0" tIns="0" rIns="0" bIns="0" rtlCol="0" anchor="ctr"/>
          <a:lstStyle/>
          <a:p>
            <a:pPr indent="0" marL="0">
              <a:buNone/>
            </a:pPr>
            <a:r>
              <a:rPr lang="en-US" sz="900" dirty="0">
                <a:solidFill>
                  <a:srgbClr val="A9BCCB"/>
                </a:solidFill>
                <a:latin typeface="Consolas" pitchFamily="34" charset="0"/>
                <a:ea typeface="Consolas" pitchFamily="34" charset="-122"/>
                <a:cs typeface="Consolas" pitchFamily="34" charset="-120"/>
              </a:rPr>
              <a:t>Curriculum.search</a:t>
            </a:r>
            <a:endParaRPr lang="en-US" sz="900" dirty="0"/>
          </a:p>
        </p:txBody>
      </p:sp>
      <p:sp>
        <p:nvSpPr>
          <p:cNvPr id="37" name="Text 35"/>
          <p:cNvSpPr txBox="1"/>
          <p:nvPr/>
        </p:nvSpPr>
        <p:spPr>
          <a:xfrm>
            <a:off x="9308592" y="4114800"/>
            <a:ext cx="950976" cy="566928"/>
          </a:xfrm>
          <a:prstGeom prst="rect">
            <a:avLst/>
          </a:prstGeom>
          <a:noFill/>
          <a:ln/>
        </p:spPr>
        <p:txBody>
          <a:bodyPr wrap="square" lIns="0" tIns="0" rIns="0" bIns="0" rtlCol="0" anchor="ctr"/>
          <a:lstStyle/>
          <a:p>
            <a:pPr algn="r" indent="0" marL="0">
              <a:buNone/>
            </a:pPr>
            <a:r>
              <a:rPr lang="en-US" sz="1050" dirty="0">
                <a:solidFill>
                  <a:srgbClr val="43566A"/>
                </a:solidFill>
                <a:latin typeface="Calibri" pitchFamily="34" charset="0"/>
                <a:ea typeface="Calibri" pitchFamily="34" charset="-122"/>
                <a:cs typeface="Calibri" pitchFamily="34" charset="-120"/>
              </a:rPr>
              <a:t>7,9 ms</a:t>
            </a:r>
            <a:endParaRPr lang="en-US" sz="1050" dirty="0"/>
          </a:p>
        </p:txBody>
      </p:sp>
      <p:sp>
        <p:nvSpPr>
          <p:cNvPr id="38" name="Text 36"/>
          <p:cNvSpPr txBox="1"/>
          <p:nvPr/>
        </p:nvSpPr>
        <p:spPr>
          <a:xfrm>
            <a:off x="10296144" y="4114800"/>
            <a:ext cx="914400" cy="566928"/>
          </a:xfrm>
          <a:prstGeom prst="rect">
            <a:avLst/>
          </a:prstGeom>
          <a:noFill/>
          <a:ln/>
        </p:spPr>
        <p:txBody>
          <a:bodyPr wrap="square" lIns="0" tIns="0" rIns="0" bIns="0" rtlCol="0" anchor="ctr"/>
          <a:lstStyle/>
          <a:p>
            <a:pPr algn="r" indent="0" marL="0">
              <a:buNone/>
            </a:pPr>
            <a:r>
              <a:rPr lang="en-US" sz="1050" b="1" dirty="0">
                <a:solidFill>
                  <a:srgbClr val="7FE0B2"/>
                </a:solidFill>
                <a:latin typeface="Calibri" pitchFamily="34" charset="0"/>
                <a:ea typeface="Calibri" pitchFamily="34" charset="-122"/>
                <a:cs typeface="Calibri" pitchFamily="34" charset="-120"/>
              </a:rPr>
              <a:t>&lt; 0,3 ms</a:t>
            </a:r>
            <a:endParaRPr lang="en-US" sz="1050" dirty="0"/>
          </a:p>
        </p:txBody>
      </p:sp>
      <p:sp>
        <p:nvSpPr>
          <p:cNvPr id="39" name="Shape 37"/>
          <p:cNvSpPr/>
          <p:nvPr/>
        </p:nvSpPr>
        <p:spPr>
          <a:xfrm>
            <a:off x="7059168" y="4828032"/>
            <a:ext cx="4261104" cy="566928"/>
          </a:xfrm>
          <a:prstGeom prst="roundRect">
            <a:avLst>
              <a:gd name="adj" fmla="val 9677"/>
            </a:avLst>
          </a:prstGeom>
          <a:solidFill>
            <a:srgbClr val="121C2E">
              <a:alpha val="66000"/>
            </a:srgbClr>
          </a:solidFill>
          <a:ln w="12700">
            <a:solidFill>
              <a:srgbClr val="24384B"/>
            </a:solidFill>
            <a:prstDash val="solid"/>
          </a:ln>
        </p:spPr>
      </p:sp>
      <p:sp>
        <p:nvSpPr>
          <p:cNvPr id="40" name="Text 38"/>
          <p:cNvSpPr txBox="1"/>
          <p:nvPr/>
        </p:nvSpPr>
        <p:spPr>
          <a:xfrm>
            <a:off x="7223760" y="4828032"/>
            <a:ext cx="2194560" cy="566928"/>
          </a:xfrm>
          <a:prstGeom prst="rect">
            <a:avLst/>
          </a:prstGeom>
          <a:noFill/>
          <a:ln/>
        </p:spPr>
        <p:txBody>
          <a:bodyPr wrap="square" lIns="0" tIns="0" rIns="0" bIns="0" rtlCol="0" anchor="ctr"/>
          <a:lstStyle/>
          <a:p>
            <a:pPr indent="0" marL="0">
              <a:buNone/>
            </a:pPr>
            <a:r>
              <a:rPr lang="en-US" sz="900" dirty="0">
                <a:solidFill>
                  <a:srgbClr val="A9BCCB"/>
                </a:solidFill>
                <a:latin typeface="Consolas" pitchFamily="34" charset="0"/>
                <a:ea typeface="Consolas" pitchFamily="34" charset="-122"/>
                <a:cs typeface="Consolas" pitchFamily="34" charset="-120"/>
              </a:rPr>
              <a:t>Tam parse</a:t>
            </a:r>
            <a:endParaRPr lang="en-US" sz="900" dirty="0"/>
          </a:p>
        </p:txBody>
      </p:sp>
      <p:sp>
        <p:nvSpPr>
          <p:cNvPr id="41" name="Text 39"/>
          <p:cNvSpPr txBox="1"/>
          <p:nvPr/>
        </p:nvSpPr>
        <p:spPr>
          <a:xfrm>
            <a:off x="9308592" y="4828032"/>
            <a:ext cx="950976" cy="566928"/>
          </a:xfrm>
          <a:prstGeom prst="rect">
            <a:avLst/>
          </a:prstGeom>
          <a:noFill/>
          <a:ln/>
        </p:spPr>
        <p:txBody>
          <a:bodyPr wrap="square" lIns="0" tIns="0" rIns="0" bIns="0" rtlCol="0" anchor="ctr"/>
          <a:lstStyle/>
          <a:p>
            <a:pPr algn="r" indent="0" marL="0">
              <a:buNone/>
            </a:pPr>
            <a:r>
              <a:rPr lang="en-US" sz="1050" dirty="0">
                <a:solidFill>
                  <a:srgbClr val="43566A"/>
                </a:solidFill>
                <a:latin typeface="Calibri" pitchFamily="34" charset="0"/>
                <a:ea typeface="Calibri" pitchFamily="34" charset="-122"/>
                <a:cs typeface="Calibri" pitchFamily="34" charset="-120"/>
              </a:rPr>
              <a:t>130–170 ms</a:t>
            </a:r>
            <a:endParaRPr lang="en-US" sz="1050" dirty="0"/>
          </a:p>
        </p:txBody>
      </p:sp>
      <p:sp>
        <p:nvSpPr>
          <p:cNvPr id="42" name="Text 40"/>
          <p:cNvSpPr txBox="1"/>
          <p:nvPr/>
        </p:nvSpPr>
        <p:spPr>
          <a:xfrm>
            <a:off x="10296144" y="4828032"/>
            <a:ext cx="914400" cy="566928"/>
          </a:xfrm>
          <a:prstGeom prst="rect">
            <a:avLst/>
          </a:prstGeom>
          <a:noFill/>
          <a:ln/>
        </p:spPr>
        <p:txBody>
          <a:bodyPr wrap="square" lIns="0" tIns="0" rIns="0" bIns="0" rtlCol="0" anchor="ctr"/>
          <a:lstStyle/>
          <a:p>
            <a:pPr algn="r" indent="0" marL="0">
              <a:buNone/>
            </a:pPr>
            <a:r>
              <a:rPr lang="en-US" sz="1050" b="1" dirty="0">
                <a:solidFill>
                  <a:srgbClr val="7FE0B2"/>
                </a:solidFill>
                <a:latin typeface="Calibri" pitchFamily="34" charset="0"/>
                <a:ea typeface="Calibri" pitchFamily="34" charset="-122"/>
                <a:cs typeface="Calibri" pitchFamily="34" charset="-120"/>
              </a:rPr>
              <a:t>0,46–1,28 ms</a:t>
            </a:r>
            <a:endParaRPr lang="en-US" sz="1050" dirty="0"/>
          </a:p>
        </p:txBody>
      </p:sp>
      <p:sp>
        <p:nvSpPr>
          <p:cNvPr id="43" name="Text 41"/>
          <p:cNvSpPr txBox="1"/>
          <p:nvPr/>
        </p:nvSpPr>
        <p:spPr>
          <a:xfrm>
            <a:off x="566928" y="6382512"/>
            <a:ext cx="2377440" cy="237744"/>
          </a:xfrm>
          <a:prstGeom prst="rect">
            <a:avLst/>
          </a:prstGeom>
          <a:noFill/>
          <a:ln/>
        </p:spPr>
        <p:txBody>
          <a:bodyPr wrap="square" lIns="0" tIns="0" rIns="0" bIns="0" rtlCol="0" anchor="ctr"/>
          <a:lstStyle/>
          <a:p>
            <a:pPr indent="0" marL="0">
              <a:buNone/>
            </a:pPr>
            <a:r>
              <a:rPr lang="en-US" sz="850" spc="220" kern="0" dirty="0">
                <a:solidFill>
                  <a:srgbClr val="43566A"/>
                </a:solidFill>
                <a:latin typeface="Calibri" pitchFamily="34" charset="0"/>
                <a:ea typeface="Calibri" pitchFamily="34" charset="-122"/>
                <a:cs typeface="Calibri" pitchFamily="34" charset="-120"/>
              </a:rPr>
              <a:t>TIP AKADEMİSİ</a:t>
            </a:r>
            <a:endParaRPr lang="en-US" sz="850" dirty="0"/>
          </a:p>
        </p:txBody>
      </p:sp>
      <p:sp>
        <p:nvSpPr>
          <p:cNvPr id="44" name="Text 42"/>
          <p:cNvSpPr txBox="1"/>
          <p:nvPr/>
        </p:nvSpPr>
        <p:spPr>
          <a:xfrm>
            <a:off x="8229600" y="6382512"/>
            <a:ext cx="3364992" cy="237744"/>
          </a:xfrm>
          <a:prstGeom prst="rect">
            <a:avLst/>
          </a:prstGeom>
          <a:noFill/>
          <a:ln/>
        </p:spPr>
        <p:txBody>
          <a:bodyPr wrap="square" lIns="0" tIns="0" rIns="0" bIns="0" rtlCol="0" anchor="ctr"/>
          <a:lstStyle/>
          <a:p>
            <a:pPr algn="r" indent="0" marL="0">
              <a:buNone/>
            </a:pPr>
            <a:r>
              <a:rPr lang="en-US" sz="850" spc="220" kern="0" dirty="0">
                <a:solidFill>
                  <a:srgbClr val="43566A"/>
                </a:solidFill>
                <a:latin typeface="Calibri" pitchFamily="34" charset="0"/>
                <a:ea typeface="Calibri" pitchFamily="34" charset="-122"/>
                <a:cs typeface="Calibri" pitchFamily="34" charset="-120"/>
              </a:rPr>
              <a:t>07  ·  Bağlanma</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035040" y="2286000"/>
            <a:ext cx="1828800" cy="1097280"/>
          </a:xfrm>
          <a:prstGeom prst="rect">
            <a:avLst/>
          </a:prstGeom>
          <a:noFill/>
          <a:ln/>
        </p:spPr>
        <p:txBody>
          <a:bodyPr wrap="square" lIns="0" tIns="0" rIns="0" bIns="0" rtlCol="0" anchor="ctr"/>
          <a:lstStyle/>
          <a:p>
            <a:pPr indent="0" marL="0">
              <a:buNone/>
            </a:pPr>
            <a:r>
              <a:rPr lang="en-US" sz="7400" b="1" dirty="0">
                <a:solidFill>
                  <a:srgbClr val="1B7BA0"/>
                </a:solidFill>
                <a:latin typeface="Calibri" pitchFamily="34" charset="0"/>
                <a:ea typeface="Calibri" pitchFamily="34" charset="-122"/>
                <a:cs typeface="Calibri" pitchFamily="34" charset="-120"/>
              </a:rPr>
              <a:t>II</a:t>
            </a:r>
            <a:endParaRPr lang="en-US" sz="7400" dirty="0"/>
          </a:p>
        </p:txBody>
      </p:sp>
      <p:sp>
        <p:nvSpPr>
          <p:cNvPr id="3" name="Text 1"/>
          <p:cNvSpPr txBox="1"/>
          <p:nvPr/>
        </p:nvSpPr>
        <p:spPr>
          <a:xfrm>
            <a:off x="6053328" y="3456432"/>
            <a:ext cx="7680960" cy="237744"/>
          </a:xfrm>
          <a:prstGeom prst="rect">
            <a:avLst/>
          </a:prstGeom>
          <a:noFill/>
          <a:ln/>
        </p:spPr>
        <p:txBody>
          <a:bodyPr wrap="square" lIns="0" tIns="0" rIns="0" bIns="0" rtlCol="0" anchor="ctr"/>
          <a:lstStyle/>
          <a:p>
            <a:pPr indent="0" marL="0">
              <a:buNone/>
            </a:pPr>
            <a:r>
              <a:rPr lang="en-US" sz="1000" b="1" spc="340" kern="0" dirty="0">
                <a:solidFill>
                  <a:srgbClr val="4CC3EA"/>
                </a:solidFill>
                <a:latin typeface="Calibri" pitchFamily="34" charset="0"/>
                <a:ea typeface="Calibri" pitchFamily="34" charset="-122"/>
                <a:cs typeface="Calibri" pitchFamily="34" charset="-120"/>
              </a:rPr>
              <a:t>BÖLÜM IKI</a:t>
            </a:r>
            <a:endParaRPr lang="en-US" sz="1000" dirty="0"/>
          </a:p>
        </p:txBody>
      </p:sp>
      <p:sp>
        <p:nvSpPr>
          <p:cNvPr id="4" name="Text 2"/>
          <p:cNvSpPr txBox="1"/>
          <p:nvPr/>
        </p:nvSpPr>
        <p:spPr>
          <a:xfrm>
            <a:off x="6035040" y="3712464"/>
            <a:ext cx="5577840" cy="868680"/>
          </a:xfrm>
          <a:prstGeom prst="rect">
            <a:avLst/>
          </a:prstGeom>
          <a:noFill/>
          <a:ln/>
        </p:spPr>
        <p:txBody>
          <a:bodyPr wrap="square" lIns="0" tIns="0" rIns="0" bIns="0" rtlCol="0" anchor="ctr"/>
          <a:lstStyle/>
          <a:p>
            <a:pPr indent="0" marL="0">
              <a:buNone/>
            </a:pPr>
            <a:r>
              <a:rPr lang="en-US" sz="3800" spc="40" kern="0" dirty="0">
                <a:solidFill>
                  <a:srgbClr val="E9F2F8"/>
                </a:solidFill>
                <a:latin typeface="Calibri" pitchFamily="34" charset="0"/>
                <a:ea typeface="Calibri" pitchFamily="34" charset="-122"/>
                <a:cs typeface="Calibri" pitchFamily="34" charset="-120"/>
              </a:rPr>
              <a:t>Ders materyali</a:t>
            </a:r>
            <a:endParaRPr lang="en-US" sz="3800" dirty="0"/>
          </a:p>
        </p:txBody>
      </p:sp>
      <p:sp>
        <p:nvSpPr>
          <p:cNvPr id="5" name="Text 3"/>
          <p:cNvSpPr txBox="1"/>
          <p:nvPr/>
        </p:nvSpPr>
        <p:spPr>
          <a:xfrm>
            <a:off x="6053328" y="4590288"/>
            <a:ext cx="5394960" cy="822960"/>
          </a:xfrm>
          <a:prstGeom prst="rect">
            <a:avLst/>
          </a:prstGeom>
          <a:noFill/>
          <a:ln/>
        </p:spPr>
        <p:txBody>
          <a:bodyPr wrap="square" lIns="0" tIns="0" rIns="0" bIns="0" rtlCol="0" anchor="t"/>
          <a:lstStyle/>
          <a:p>
            <a:pPr indent="0" marL="0">
              <a:lnSpc>
                <a:spcPts val="2200"/>
              </a:lnSpc>
              <a:buNone/>
            </a:pPr>
            <a:r>
              <a:rPr lang="en-US" sz="1350" dirty="0">
                <a:solidFill>
                  <a:srgbClr val="A9BCCB"/>
                </a:solidFill>
                <a:latin typeface="Calibri" pitchFamily="34" charset="0"/>
                <a:ea typeface="Calibri" pitchFamily="34" charset="-122"/>
                <a:cs typeface="Calibri" pitchFamily="34" charset="-120"/>
              </a:rPr>
              <a:t>Öğrencinin kendi PDF'leri, slaytları ve taranmış sınav kâğıtları — sayfa numarasına kadar izlenebilir biçimde indekslenir.</a:t>
            </a:r>
            <a:endParaRPr lang="en-US" sz="1350" dirty="0"/>
          </a:p>
        </p:txBody>
      </p:sp>
      <p:sp>
        <p:nvSpPr>
          <p:cNvPr id="6" name="Text 4"/>
          <p:cNvSpPr txBox="1"/>
          <p:nvPr/>
        </p:nvSpPr>
        <p:spPr>
          <a:xfrm>
            <a:off x="566928" y="6382512"/>
            <a:ext cx="2377440" cy="237744"/>
          </a:xfrm>
          <a:prstGeom prst="rect">
            <a:avLst/>
          </a:prstGeom>
          <a:noFill/>
          <a:ln/>
        </p:spPr>
        <p:txBody>
          <a:bodyPr wrap="square" lIns="0" tIns="0" rIns="0" bIns="0" rtlCol="0" anchor="ctr"/>
          <a:lstStyle/>
          <a:p>
            <a:pPr indent="0" marL="0">
              <a:buNone/>
            </a:pPr>
            <a:r>
              <a:rPr lang="en-US" sz="850" spc="220" kern="0" dirty="0">
                <a:solidFill>
                  <a:srgbClr val="43566A"/>
                </a:solidFill>
                <a:latin typeface="Calibri" pitchFamily="34" charset="0"/>
                <a:ea typeface="Calibri" pitchFamily="34" charset="-122"/>
                <a:cs typeface="Calibri" pitchFamily="34" charset="-120"/>
              </a:rPr>
              <a:t>TIP AKADEMİSİ</a:t>
            </a:r>
            <a:endParaRPr lang="en-US" sz="850" dirty="0"/>
          </a:p>
        </p:txBody>
      </p:sp>
      <p:sp>
        <p:nvSpPr>
          <p:cNvPr id="7" name="Text 5"/>
          <p:cNvSpPr txBox="1"/>
          <p:nvPr/>
        </p:nvSpPr>
        <p:spPr>
          <a:xfrm>
            <a:off x="8229600" y="6382512"/>
            <a:ext cx="3364992" cy="237744"/>
          </a:xfrm>
          <a:prstGeom prst="rect">
            <a:avLst/>
          </a:prstGeom>
          <a:noFill/>
          <a:ln/>
        </p:spPr>
        <p:txBody>
          <a:bodyPr wrap="square" lIns="0" tIns="0" rIns="0" bIns="0" rtlCol="0" anchor="ctr"/>
          <a:lstStyle/>
          <a:p>
            <a:pPr algn="r" indent="0" marL="0">
              <a:buNone/>
            </a:pPr>
            <a:r>
              <a:rPr lang="en-US" sz="850" spc="220" kern="0" dirty="0">
                <a:solidFill>
                  <a:srgbClr val="43566A"/>
                </a:solidFill>
                <a:latin typeface="Calibri" pitchFamily="34" charset="0"/>
                <a:ea typeface="Calibri" pitchFamily="34" charset="-122"/>
                <a:cs typeface="Calibri" pitchFamily="34" charset="-120"/>
              </a:rPr>
              <a:t>08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66928" y="566928"/>
            <a:ext cx="7680960" cy="237744"/>
          </a:xfrm>
          <a:prstGeom prst="rect">
            <a:avLst/>
          </a:prstGeom>
          <a:noFill/>
          <a:ln/>
        </p:spPr>
        <p:txBody>
          <a:bodyPr wrap="square" lIns="0" tIns="0" rIns="0" bIns="0" rtlCol="0" anchor="ctr"/>
          <a:lstStyle/>
          <a:p>
            <a:pPr indent="0" marL="0">
              <a:buNone/>
            </a:pPr>
            <a:r>
              <a:rPr lang="en-US" sz="1000" b="1" spc="340" kern="0" dirty="0">
                <a:solidFill>
                  <a:srgbClr val="4CC3EA"/>
                </a:solidFill>
                <a:latin typeface="Calibri" pitchFamily="34" charset="0"/>
                <a:ea typeface="Calibri" pitchFamily="34" charset="-122"/>
                <a:cs typeface="Calibri" pitchFamily="34" charset="-120"/>
              </a:rPr>
              <a:t>DERS MATERYALI</a:t>
            </a:r>
            <a:endParaRPr lang="en-US" sz="1000" dirty="0"/>
          </a:p>
        </p:txBody>
      </p:sp>
      <p:sp>
        <p:nvSpPr>
          <p:cNvPr id="3" name="Text 1"/>
          <p:cNvSpPr txBox="1"/>
          <p:nvPr/>
        </p:nvSpPr>
        <p:spPr>
          <a:xfrm>
            <a:off x="548640" y="841248"/>
            <a:ext cx="8229600" cy="786384"/>
          </a:xfrm>
          <a:prstGeom prst="rect">
            <a:avLst/>
          </a:prstGeom>
          <a:noFill/>
          <a:ln/>
        </p:spPr>
        <p:txBody>
          <a:bodyPr wrap="square" lIns="0" tIns="0" rIns="0" bIns="0" rtlCol="0" anchor="t"/>
          <a:lstStyle/>
          <a:p>
            <a:pPr indent="0" marL="0">
              <a:buNone/>
            </a:pPr>
            <a:r>
              <a:rPr lang="en-US" sz="3600" spc="40" kern="0" dirty="0">
                <a:solidFill>
                  <a:srgbClr val="E9F2F8"/>
                </a:solidFill>
                <a:latin typeface="Calibri" pitchFamily="34" charset="0"/>
                <a:ea typeface="Calibri" pitchFamily="34" charset="-122"/>
                <a:cs typeface="Calibri" pitchFamily="34" charset="-120"/>
              </a:rPr>
              <a:t>Belge hattı</a:t>
            </a:r>
            <a:endParaRPr lang="en-US" sz="3600" dirty="0"/>
          </a:p>
        </p:txBody>
      </p:sp>
      <p:sp>
        <p:nvSpPr>
          <p:cNvPr id="4" name="Text 2"/>
          <p:cNvSpPr txBox="1"/>
          <p:nvPr/>
        </p:nvSpPr>
        <p:spPr>
          <a:xfrm>
            <a:off x="566928" y="1719072"/>
            <a:ext cx="5943600" cy="822960"/>
          </a:xfrm>
          <a:prstGeom prst="rect">
            <a:avLst/>
          </a:prstGeom>
          <a:noFill/>
          <a:ln/>
        </p:spPr>
        <p:txBody>
          <a:bodyPr wrap="square" lIns="0" tIns="0" rIns="0" bIns="0" rtlCol="0" anchor="t"/>
          <a:lstStyle/>
          <a:p>
            <a:pPr indent="0" marL="0">
              <a:lnSpc>
                <a:spcPts val="2200"/>
              </a:lnSpc>
              <a:buNone/>
            </a:pPr>
            <a:r>
              <a:rPr lang="en-US" sz="1350" dirty="0">
                <a:solidFill>
                  <a:srgbClr val="A9BCCB"/>
                </a:solidFill>
                <a:latin typeface="Calibri" pitchFamily="34" charset="0"/>
                <a:ea typeface="Calibri" pitchFamily="34" charset="-122"/>
                <a:cs typeface="Calibri" pitchFamily="34" charset="-120"/>
              </a:rPr>
              <a:t>Hat gerçek aşamaları bildirir — uydurma yüzdeler yok. Ekranda görünen her sayı, hattın gerçekten ölçtüğü bir sayıdır.</a:t>
            </a:r>
            <a:endParaRPr lang="en-US" sz="1350" dirty="0"/>
          </a:p>
        </p:txBody>
      </p:sp>
      <p:sp>
        <p:nvSpPr>
          <p:cNvPr id="5" name="Shape 3"/>
          <p:cNvSpPr/>
          <p:nvPr/>
        </p:nvSpPr>
        <p:spPr>
          <a:xfrm>
            <a:off x="566928" y="2706624"/>
            <a:ext cx="5943600" cy="457200"/>
          </a:xfrm>
          <a:prstGeom prst="roundRect">
            <a:avLst>
              <a:gd name="adj" fmla="val 12000"/>
            </a:avLst>
          </a:prstGeom>
          <a:solidFill>
            <a:srgbClr val="121C2E">
              <a:alpha val="74000"/>
            </a:srgbClr>
          </a:solidFill>
          <a:ln w="12700">
            <a:solidFill>
              <a:srgbClr val="24384B"/>
            </a:solidFill>
            <a:prstDash val="solid"/>
          </a:ln>
        </p:spPr>
      </p:sp>
      <p:sp>
        <p:nvSpPr>
          <p:cNvPr id="6" name="Text 4"/>
          <p:cNvSpPr txBox="1"/>
          <p:nvPr/>
        </p:nvSpPr>
        <p:spPr>
          <a:xfrm>
            <a:off x="768096" y="2706624"/>
            <a:ext cx="384048" cy="457200"/>
          </a:xfrm>
          <a:prstGeom prst="rect">
            <a:avLst/>
          </a:prstGeom>
          <a:noFill/>
          <a:ln/>
        </p:spPr>
        <p:txBody>
          <a:bodyPr wrap="square" lIns="0" tIns="0" rIns="0" bIns="0" rtlCol="0" anchor="ctr"/>
          <a:lstStyle/>
          <a:p>
            <a:pPr indent="0" marL="0">
              <a:buNone/>
            </a:pPr>
            <a:r>
              <a:rPr lang="en-US" sz="1050" dirty="0">
                <a:solidFill>
                  <a:srgbClr val="43566A"/>
                </a:solidFill>
                <a:latin typeface="Consolas" pitchFamily="34" charset="0"/>
                <a:ea typeface="Consolas" pitchFamily="34" charset="-122"/>
                <a:cs typeface="Consolas" pitchFamily="34" charset="-120"/>
              </a:rPr>
              <a:t>01</a:t>
            </a:r>
            <a:endParaRPr lang="en-US" sz="1050" dirty="0"/>
          </a:p>
        </p:txBody>
      </p:sp>
      <p:sp>
        <p:nvSpPr>
          <p:cNvPr id="7" name="Text 5"/>
          <p:cNvSpPr txBox="1"/>
          <p:nvPr/>
        </p:nvSpPr>
        <p:spPr>
          <a:xfrm>
            <a:off x="1225296" y="2706624"/>
            <a:ext cx="5074920" cy="457200"/>
          </a:xfrm>
          <a:prstGeom prst="rect">
            <a:avLst/>
          </a:prstGeom>
          <a:noFill/>
          <a:ln/>
        </p:spPr>
        <p:txBody>
          <a:bodyPr wrap="square" lIns="0" tIns="0" rIns="0" bIns="0" rtlCol="0" anchor="ctr"/>
          <a:lstStyle/>
          <a:p>
            <a:pPr indent="0" marL="0">
              <a:buNone/>
            </a:pPr>
            <a:r>
              <a:rPr lang="en-US" sz="1150" dirty="0">
                <a:solidFill>
                  <a:srgbClr val="A9BCCB"/>
                </a:solidFill>
                <a:latin typeface="Calibri" pitchFamily="34" charset="0"/>
                <a:ea typeface="Calibri" pitchFamily="34" charset="-122"/>
                <a:cs typeface="Calibri" pitchFamily="34" charset="-120"/>
              </a:rPr>
              <a:t>Belge okunuyor  ·  SHA-256 ile yineleme denetimi</a:t>
            </a:r>
            <a:endParaRPr lang="en-US" sz="1150" dirty="0"/>
          </a:p>
        </p:txBody>
      </p:sp>
      <p:sp>
        <p:nvSpPr>
          <p:cNvPr id="8" name="Shape 6"/>
          <p:cNvSpPr/>
          <p:nvPr/>
        </p:nvSpPr>
        <p:spPr>
          <a:xfrm>
            <a:off x="960120" y="3163824"/>
            <a:ext cx="0" cy="128016"/>
          </a:xfrm>
          <a:prstGeom prst="line">
            <a:avLst/>
          </a:prstGeom>
          <a:noFill/>
          <a:ln w="15875">
            <a:solidFill>
              <a:srgbClr val="31506A"/>
            </a:solidFill>
            <a:prstDash val="solid"/>
            <a:tailEnd type="triangle"/>
          </a:ln>
        </p:spPr>
      </p:sp>
      <p:sp>
        <p:nvSpPr>
          <p:cNvPr id="9" name="Shape 7"/>
          <p:cNvSpPr/>
          <p:nvPr/>
        </p:nvSpPr>
        <p:spPr>
          <a:xfrm>
            <a:off x="566928" y="3291840"/>
            <a:ext cx="5943600" cy="457200"/>
          </a:xfrm>
          <a:prstGeom prst="roundRect">
            <a:avLst>
              <a:gd name="adj" fmla="val 12000"/>
            </a:avLst>
          </a:prstGeom>
          <a:solidFill>
            <a:srgbClr val="121C2E">
              <a:alpha val="74000"/>
            </a:srgbClr>
          </a:solidFill>
          <a:ln w="12700">
            <a:solidFill>
              <a:srgbClr val="24384B"/>
            </a:solidFill>
            <a:prstDash val="solid"/>
          </a:ln>
        </p:spPr>
      </p:sp>
      <p:sp>
        <p:nvSpPr>
          <p:cNvPr id="10" name="Text 8"/>
          <p:cNvSpPr txBox="1"/>
          <p:nvPr/>
        </p:nvSpPr>
        <p:spPr>
          <a:xfrm>
            <a:off x="768096" y="3291840"/>
            <a:ext cx="384048" cy="457200"/>
          </a:xfrm>
          <a:prstGeom prst="rect">
            <a:avLst/>
          </a:prstGeom>
          <a:noFill/>
          <a:ln/>
        </p:spPr>
        <p:txBody>
          <a:bodyPr wrap="square" lIns="0" tIns="0" rIns="0" bIns="0" rtlCol="0" anchor="ctr"/>
          <a:lstStyle/>
          <a:p>
            <a:pPr indent="0" marL="0">
              <a:buNone/>
            </a:pPr>
            <a:r>
              <a:rPr lang="en-US" sz="1050" dirty="0">
                <a:solidFill>
                  <a:srgbClr val="43566A"/>
                </a:solidFill>
                <a:latin typeface="Consolas" pitchFamily="34" charset="0"/>
                <a:ea typeface="Consolas" pitchFamily="34" charset="-122"/>
                <a:cs typeface="Consolas" pitchFamily="34" charset="-120"/>
              </a:rPr>
              <a:t>02</a:t>
            </a:r>
            <a:endParaRPr lang="en-US" sz="1050" dirty="0"/>
          </a:p>
        </p:txBody>
      </p:sp>
      <p:sp>
        <p:nvSpPr>
          <p:cNvPr id="11" name="Text 9"/>
          <p:cNvSpPr txBox="1"/>
          <p:nvPr/>
        </p:nvSpPr>
        <p:spPr>
          <a:xfrm>
            <a:off x="1225296" y="3291840"/>
            <a:ext cx="5074920" cy="457200"/>
          </a:xfrm>
          <a:prstGeom prst="rect">
            <a:avLst/>
          </a:prstGeom>
          <a:noFill/>
          <a:ln/>
        </p:spPr>
        <p:txBody>
          <a:bodyPr wrap="square" lIns="0" tIns="0" rIns="0" bIns="0" rtlCol="0" anchor="ctr"/>
          <a:lstStyle/>
          <a:p>
            <a:pPr indent="0" marL="0">
              <a:buNone/>
            </a:pPr>
            <a:r>
              <a:rPr lang="en-US" sz="1150" dirty="0">
                <a:solidFill>
                  <a:srgbClr val="A9BCCB"/>
                </a:solidFill>
                <a:latin typeface="Calibri" pitchFamily="34" charset="0"/>
                <a:ea typeface="Calibri" pitchFamily="34" charset="-122"/>
                <a:cs typeface="Calibri" pitchFamily="34" charset="-120"/>
              </a:rPr>
              <a:t>Sayfalar çıkarılıyor  ·  12 / 24</a:t>
            </a:r>
            <a:endParaRPr lang="en-US" sz="1150" dirty="0"/>
          </a:p>
        </p:txBody>
      </p:sp>
      <p:sp>
        <p:nvSpPr>
          <p:cNvPr id="12" name="Shape 10"/>
          <p:cNvSpPr/>
          <p:nvPr/>
        </p:nvSpPr>
        <p:spPr>
          <a:xfrm>
            <a:off x="960120" y="3749040"/>
            <a:ext cx="0" cy="128016"/>
          </a:xfrm>
          <a:prstGeom prst="line">
            <a:avLst/>
          </a:prstGeom>
          <a:noFill/>
          <a:ln w="15875">
            <a:solidFill>
              <a:srgbClr val="31506A"/>
            </a:solidFill>
            <a:prstDash val="solid"/>
            <a:tailEnd type="triangle"/>
          </a:ln>
        </p:spPr>
      </p:sp>
      <p:sp>
        <p:nvSpPr>
          <p:cNvPr id="13" name="Shape 11"/>
          <p:cNvSpPr/>
          <p:nvPr/>
        </p:nvSpPr>
        <p:spPr>
          <a:xfrm>
            <a:off x="566928" y="3877056"/>
            <a:ext cx="5943600" cy="457200"/>
          </a:xfrm>
          <a:prstGeom prst="roundRect">
            <a:avLst>
              <a:gd name="adj" fmla="val 12000"/>
            </a:avLst>
          </a:prstGeom>
          <a:solidFill>
            <a:srgbClr val="121C2E">
              <a:alpha val="74000"/>
            </a:srgbClr>
          </a:solidFill>
          <a:ln w="12700">
            <a:solidFill>
              <a:srgbClr val="24384B"/>
            </a:solidFill>
            <a:prstDash val="solid"/>
          </a:ln>
        </p:spPr>
      </p:sp>
      <p:sp>
        <p:nvSpPr>
          <p:cNvPr id="14" name="Text 12"/>
          <p:cNvSpPr txBox="1"/>
          <p:nvPr/>
        </p:nvSpPr>
        <p:spPr>
          <a:xfrm>
            <a:off x="768096" y="3877056"/>
            <a:ext cx="384048" cy="457200"/>
          </a:xfrm>
          <a:prstGeom prst="rect">
            <a:avLst/>
          </a:prstGeom>
          <a:noFill/>
          <a:ln/>
        </p:spPr>
        <p:txBody>
          <a:bodyPr wrap="square" lIns="0" tIns="0" rIns="0" bIns="0" rtlCol="0" anchor="ctr"/>
          <a:lstStyle/>
          <a:p>
            <a:pPr indent="0" marL="0">
              <a:buNone/>
            </a:pPr>
            <a:r>
              <a:rPr lang="en-US" sz="1050" dirty="0">
                <a:solidFill>
                  <a:srgbClr val="43566A"/>
                </a:solidFill>
                <a:latin typeface="Consolas" pitchFamily="34" charset="0"/>
                <a:ea typeface="Consolas" pitchFamily="34" charset="-122"/>
                <a:cs typeface="Consolas" pitchFamily="34" charset="-120"/>
              </a:rPr>
              <a:t>03</a:t>
            </a:r>
            <a:endParaRPr lang="en-US" sz="1050" dirty="0"/>
          </a:p>
        </p:txBody>
      </p:sp>
      <p:sp>
        <p:nvSpPr>
          <p:cNvPr id="15" name="Text 13"/>
          <p:cNvSpPr txBox="1"/>
          <p:nvPr/>
        </p:nvSpPr>
        <p:spPr>
          <a:xfrm>
            <a:off x="1225296" y="3877056"/>
            <a:ext cx="5074920" cy="457200"/>
          </a:xfrm>
          <a:prstGeom prst="rect">
            <a:avLst/>
          </a:prstGeom>
          <a:noFill/>
          <a:ln/>
        </p:spPr>
        <p:txBody>
          <a:bodyPr wrap="square" lIns="0" tIns="0" rIns="0" bIns="0" rtlCol="0" anchor="ctr"/>
          <a:lstStyle/>
          <a:p>
            <a:pPr indent="0" marL="0">
              <a:buNone/>
            </a:pPr>
            <a:r>
              <a:rPr lang="en-US" sz="1150" dirty="0">
                <a:solidFill>
                  <a:srgbClr val="A9BCCB"/>
                </a:solidFill>
                <a:latin typeface="Calibri" pitchFamily="34" charset="0"/>
                <a:ea typeface="Calibri" pitchFamily="34" charset="-122"/>
                <a:cs typeface="Calibri" pitchFamily="34" charset="-120"/>
              </a:rPr>
              <a:t>Görsel ağırlıklı sayfalar görüş modeline gider</a:t>
            </a:r>
            <a:endParaRPr lang="en-US" sz="1150" dirty="0"/>
          </a:p>
        </p:txBody>
      </p:sp>
      <p:sp>
        <p:nvSpPr>
          <p:cNvPr id="16" name="Shape 14"/>
          <p:cNvSpPr/>
          <p:nvPr/>
        </p:nvSpPr>
        <p:spPr>
          <a:xfrm>
            <a:off x="960120" y="4334256"/>
            <a:ext cx="0" cy="128016"/>
          </a:xfrm>
          <a:prstGeom prst="line">
            <a:avLst/>
          </a:prstGeom>
          <a:noFill/>
          <a:ln w="15875">
            <a:solidFill>
              <a:srgbClr val="31506A"/>
            </a:solidFill>
            <a:prstDash val="solid"/>
            <a:tailEnd type="triangle"/>
          </a:ln>
        </p:spPr>
      </p:sp>
      <p:sp>
        <p:nvSpPr>
          <p:cNvPr id="17" name="Shape 15"/>
          <p:cNvSpPr/>
          <p:nvPr/>
        </p:nvSpPr>
        <p:spPr>
          <a:xfrm>
            <a:off x="566928" y="4462272"/>
            <a:ext cx="5943600" cy="457200"/>
          </a:xfrm>
          <a:prstGeom prst="roundRect">
            <a:avLst>
              <a:gd name="adj" fmla="val 12000"/>
            </a:avLst>
          </a:prstGeom>
          <a:solidFill>
            <a:srgbClr val="121C2E">
              <a:alpha val="74000"/>
            </a:srgbClr>
          </a:solidFill>
          <a:ln w="12700">
            <a:solidFill>
              <a:srgbClr val="24384B"/>
            </a:solidFill>
            <a:prstDash val="solid"/>
          </a:ln>
        </p:spPr>
      </p:sp>
      <p:sp>
        <p:nvSpPr>
          <p:cNvPr id="18" name="Text 16"/>
          <p:cNvSpPr txBox="1"/>
          <p:nvPr/>
        </p:nvSpPr>
        <p:spPr>
          <a:xfrm>
            <a:off x="768096" y="4462272"/>
            <a:ext cx="384048" cy="457200"/>
          </a:xfrm>
          <a:prstGeom prst="rect">
            <a:avLst/>
          </a:prstGeom>
          <a:noFill/>
          <a:ln/>
        </p:spPr>
        <p:txBody>
          <a:bodyPr wrap="square" lIns="0" tIns="0" rIns="0" bIns="0" rtlCol="0" anchor="ctr"/>
          <a:lstStyle/>
          <a:p>
            <a:pPr indent="0" marL="0">
              <a:buNone/>
            </a:pPr>
            <a:r>
              <a:rPr lang="en-US" sz="1050" dirty="0">
                <a:solidFill>
                  <a:srgbClr val="43566A"/>
                </a:solidFill>
                <a:latin typeface="Consolas" pitchFamily="34" charset="0"/>
                <a:ea typeface="Consolas" pitchFamily="34" charset="-122"/>
                <a:cs typeface="Consolas" pitchFamily="34" charset="-120"/>
              </a:rPr>
              <a:t>04</a:t>
            </a:r>
            <a:endParaRPr lang="en-US" sz="1050" dirty="0"/>
          </a:p>
        </p:txBody>
      </p:sp>
      <p:sp>
        <p:nvSpPr>
          <p:cNvPr id="19" name="Text 17"/>
          <p:cNvSpPr txBox="1"/>
          <p:nvPr/>
        </p:nvSpPr>
        <p:spPr>
          <a:xfrm>
            <a:off x="1225296" y="4462272"/>
            <a:ext cx="5074920" cy="457200"/>
          </a:xfrm>
          <a:prstGeom prst="rect">
            <a:avLst/>
          </a:prstGeom>
          <a:noFill/>
          <a:ln/>
        </p:spPr>
        <p:txBody>
          <a:bodyPr wrap="square" lIns="0" tIns="0" rIns="0" bIns="0" rtlCol="0" anchor="ctr"/>
          <a:lstStyle/>
          <a:p>
            <a:pPr indent="0" marL="0">
              <a:buNone/>
            </a:pPr>
            <a:r>
              <a:rPr lang="en-US" sz="1150" dirty="0">
                <a:solidFill>
                  <a:srgbClr val="A9BCCB"/>
                </a:solidFill>
                <a:latin typeface="Calibri" pitchFamily="34" charset="0"/>
                <a:ea typeface="Calibri" pitchFamily="34" charset="-122"/>
                <a:cs typeface="Calibri" pitchFamily="34" charset="-120"/>
              </a:rPr>
              <a:t>Kavramlar dizinleniyor  ·  parçalar sayfaya çapalanır</a:t>
            </a:r>
            <a:endParaRPr lang="en-US" sz="1150" dirty="0"/>
          </a:p>
        </p:txBody>
      </p:sp>
      <p:sp>
        <p:nvSpPr>
          <p:cNvPr id="20" name="Shape 18"/>
          <p:cNvSpPr/>
          <p:nvPr/>
        </p:nvSpPr>
        <p:spPr>
          <a:xfrm>
            <a:off x="960120" y="4919472"/>
            <a:ext cx="0" cy="128016"/>
          </a:xfrm>
          <a:prstGeom prst="line">
            <a:avLst/>
          </a:prstGeom>
          <a:noFill/>
          <a:ln w="15875">
            <a:solidFill>
              <a:srgbClr val="31506A"/>
            </a:solidFill>
            <a:prstDash val="solid"/>
            <a:tailEnd type="triangle"/>
          </a:ln>
        </p:spPr>
      </p:sp>
      <p:sp>
        <p:nvSpPr>
          <p:cNvPr id="21" name="Shape 19"/>
          <p:cNvSpPr/>
          <p:nvPr/>
        </p:nvSpPr>
        <p:spPr>
          <a:xfrm>
            <a:off x="566928" y="5047488"/>
            <a:ext cx="5943600" cy="457200"/>
          </a:xfrm>
          <a:prstGeom prst="roundRect">
            <a:avLst>
              <a:gd name="adj" fmla="val 12000"/>
            </a:avLst>
          </a:prstGeom>
          <a:solidFill>
            <a:srgbClr val="1B7BA0">
              <a:alpha val="38000"/>
            </a:srgbClr>
          </a:solidFill>
          <a:ln w="12700">
            <a:solidFill>
              <a:srgbClr val="1B7BA0"/>
            </a:solidFill>
            <a:prstDash val="solid"/>
          </a:ln>
        </p:spPr>
      </p:sp>
      <p:sp>
        <p:nvSpPr>
          <p:cNvPr id="22" name="Text 20"/>
          <p:cNvSpPr txBox="1"/>
          <p:nvPr/>
        </p:nvSpPr>
        <p:spPr>
          <a:xfrm>
            <a:off x="768096" y="5047488"/>
            <a:ext cx="384048" cy="457200"/>
          </a:xfrm>
          <a:prstGeom prst="rect">
            <a:avLst/>
          </a:prstGeom>
          <a:noFill/>
          <a:ln/>
        </p:spPr>
        <p:txBody>
          <a:bodyPr wrap="square" lIns="0" tIns="0" rIns="0" bIns="0" rtlCol="0" anchor="ctr"/>
          <a:lstStyle/>
          <a:p>
            <a:pPr indent="0" marL="0">
              <a:buNone/>
            </a:pPr>
            <a:r>
              <a:rPr lang="en-US" sz="1050" dirty="0">
                <a:solidFill>
                  <a:srgbClr val="8EE0FF"/>
                </a:solidFill>
                <a:latin typeface="Consolas" pitchFamily="34" charset="0"/>
                <a:ea typeface="Consolas" pitchFamily="34" charset="-122"/>
                <a:cs typeface="Consolas" pitchFamily="34" charset="-120"/>
              </a:rPr>
              <a:t>05</a:t>
            </a:r>
            <a:endParaRPr lang="en-US" sz="1050" dirty="0"/>
          </a:p>
        </p:txBody>
      </p:sp>
      <p:sp>
        <p:nvSpPr>
          <p:cNvPr id="23" name="Text 21"/>
          <p:cNvSpPr txBox="1"/>
          <p:nvPr/>
        </p:nvSpPr>
        <p:spPr>
          <a:xfrm>
            <a:off x="1225296" y="5047488"/>
            <a:ext cx="5074920" cy="457200"/>
          </a:xfrm>
          <a:prstGeom prst="rect">
            <a:avLst/>
          </a:prstGeom>
          <a:noFill/>
          <a:ln/>
        </p:spPr>
        <p:txBody>
          <a:bodyPr wrap="square" lIns="0" tIns="0" rIns="0" bIns="0" rtlCol="0" anchor="ctr"/>
          <a:lstStyle/>
          <a:p>
            <a:pPr indent="0" marL="0">
              <a:buNone/>
            </a:pPr>
            <a:r>
              <a:rPr lang="en-US" sz="1150" dirty="0">
                <a:solidFill>
                  <a:srgbClr val="E9F2F8"/>
                </a:solidFill>
                <a:latin typeface="Calibri" pitchFamily="34" charset="0"/>
                <a:ea typeface="Calibri" pitchFamily="34" charset="-122"/>
                <a:cs typeface="Calibri" pitchFamily="34" charset="-120"/>
              </a:rPr>
              <a:t>Hazır</a:t>
            </a:r>
            <a:endParaRPr lang="en-US" sz="1150" dirty="0"/>
          </a:p>
        </p:txBody>
      </p:sp>
      <p:sp>
        <p:nvSpPr>
          <p:cNvPr id="24" name="Shape 22"/>
          <p:cNvSpPr/>
          <p:nvPr/>
        </p:nvSpPr>
        <p:spPr>
          <a:xfrm>
            <a:off x="6784848" y="1719072"/>
            <a:ext cx="4809744" cy="2084832"/>
          </a:xfrm>
          <a:prstGeom prst="roundRect">
            <a:avLst>
              <a:gd name="adj" fmla="val 2632"/>
            </a:avLst>
          </a:prstGeom>
          <a:solidFill>
            <a:srgbClr val="121C2E">
              <a:alpha val="74000"/>
            </a:srgbClr>
          </a:solidFill>
          <a:ln w="12700">
            <a:solidFill>
              <a:srgbClr val="24384B"/>
            </a:solidFill>
            <a:prstDash val="solid"/>
          </a:ln>
        </p:spPr>
      </p:sp>
      <p:sp>
        <p:nvSpPr>
          <p:cNvPr id="25" name="Text 23"/>
          <p:cNvSpPr txBox="1"/>
          <p:nvPr/>
        </p:nvSpPr>
        <p:spPr>
          <a:xfrm>
            <a:off x="7059168" y="1993392"/>
            <a:ext cx="4261104" cy="201168"/>
          </a:xfrm>
          <a:prstGeom prst="rect">
            <a:avLst/>
          </a:prstGeom>
          <a:noFill/>
          <a:ln/>
        </p:spPr>
        <p:txBody>
          <a:bodyPr wrap="square" lIns="0" tIns="0" rIns="0" bIns="0" rtlCol="0" anchor="ctr"/>
          <a:lstStyle/>
          <a:p>
            <a:pPr indent="0" marL="0">
              <a:buNone/>
            </a:pPr>
            <a:r>
              <a:rPr lang="en-US" sz="900" b="1" spc="260" kern="0" dirty="0">
                <a:solidFill>
                  <a:srgbClr val="4CC3EA"/>
                </a:solidFill>
                <a:latin typeface="Calibri" pitchFamily="34" charset="0"/>
                <a:ea typeface="Calibri" pitchFamily="34" charset="-122"/>
                <a:cs typeface="Calibri" pitchFamily="34" charset="-120"/>
              </a:rPr>
              <a:t>ÇIKARIM</a:t>
            </a:r>
            <a:endParaRPr lang="en-US" sz="900" dirty="0"/>
          </a:p>
        </p:txBody>
      </p:sp>
      <p:sp>
        <p:nvSpPr>
          <p:cNvPr id="26" name="Text 24"/>
          <p:cNvSpPr txBox="1"/>
          <p:nvPr/>
        </p:nvSpPr>
        <p:spPr>
          <a:xfrm>
            <a:off x="7059168" y="2286000"/>
            <a:ext cx="4261104" cy="310896"/>
          </a:xfrm>
          <a:prstGeom prst="rect">
            <a:avLst/>
          </a:prstGeom>
          <a:noFill/>
          <a:ln/>
        </p:spPr>
        <p:txBody>
          <a:bodyPr wrap="square" lIns="0" tIns="0" rIns="0" bIns="0" rtlCol="0" anchor="ctr"/>
          <a:lstStyle/>
          <a:p>
            <a:pPr indent="0" marL="0">
              <a:buNone/>
            </a:pPr>
            <a:r>
              <a:rPr lang="en-US" sz="1450" b="1" dirty="0">
                <a:solidFill>
                  <a:srgbClr val="E9F2F8"/>
                </a:solidFill>
                <a:latin typeface="Calibri" pitchFamily="34" charset="0"/>
                <a:ea typeface="Calibri" pitchFamily="34" charset="-122"/>
                <a:cs typeface="Calibri" pitchFamily="34" charset="-120"/>
              </a:rPr>
              <a:t>Metin nereden gelir</a:t>
            </a:r>
            <a:endParaRPr lang="en-US" sz="1450" dirty="0"/>
          </a:p>
        </p:txBody>
      </p:sp>
      <p:sp>
        <p:nvSpPr>
          <p:cNvPr id="27" name="Text 25"/>
          <p:cNvSpPr txBox="1"/>
          <p:nvPr/>
        </p:nvSpPr>
        <p:spPr>
          <a:xfrm>
            <a:off x="7059168" y="2670048"/>
            <a:ext cx="4261104" cy="1005840"/>
          </a:xfrm>
          <a:prstGeom prst="rect">
            <a:avLst/>
          </a:prstGeom>
          <a:noFill/>
          <a:ln/>
        </p:spPr>
        <p:txBody>
          <a:bodyPr wrap="square" lIns="0" tIns="0" rIns="0" bIns="0" rtlCol="0" anchor="t"/>
          <a:lstStyle/>
          <a:p>
            <a:pPr indent="0" marL="0">
              <a:lnSpc>
                <a:spcPts val="1800"/>
              </a:lnSpc>
              <a:buNone/>
            </a:pPr>
            <a:r>
              <a:rPr lang="en-US" sz="1100" dirty="0">
                <a:solidFill>
                  <a:srgbClr val="A9BCCB"/>
                </a:solidFill>
                <a:latin typeface="Calibri" pitchFamily="34" charset="0"/>
                <a:ea typeface="Calibri" pitchFamily="34" charset="-122"/>
                <a:cs typeface="Calibri" pitchFamily="34" charset="-120"/>
              </a:rPr>
              <a:t>Metin pypdfium2 ile alınır, başlıklar sayfa sayfa saptanır. Bilgisi ağırlıkla görsel olan sayfalar — sayfanın büyük kısmını kaplayan bir görüntü ya da neredeyse hiç metin — görüş geçişine alınır.</a:t>
            </a:r>
            <a:endParaRPr lang="en-US" sz="1100" dirty="0"/>
          </a:p>
        </p:txBody>
      </p:sp>
      <p:sp>
        <p:nvSpPr>
          <p:cNvPr id="28" name="Shape 26"/>
          <p:cNvSpPr/>
          <p:nvPr/>
        </p:nvSpPr>
        <p:spPr>
          <a:xfrm>
            <a:off x="6784848" y="3986784"/>
            <a:ext cx="4809744" cy="1847088"/>
          </a:xfrm>
          <a:prstGeom prst="roundRect">
            <a:avLst>
              <a:gd name="adj" fmla="val 2970"/>
            </a:avLst>
          </a:prstGeom>
          <a:solidFill>
            <a:srgbClr val="121C2E">
              <a:alpha val="74000"/>
            </a:srgbClr>
          </a:solidFill>
          <a:ln w="12700">
            <a:solidFill>
              <a:srgbClr val="B8A8FF"/>
            </a:solidFill>
            <a:prstDash val="solid"/>
          </a:ln>
        </p:spPr>
      </p:sp>
      <p:sp>
        <p:nvSpPr>
          <p:cNvPr id="29" name="Text 27"/>
          <p:cNvSpPr txBox="1"/>
          <p:nvPr/>
        </p:nvSpPr>
        <p:spPr>
          <a:xfrm>
            <a:off x="7059168" y="4261104"/>
            <a:ext cx="4261104" cy="201168"/>
          </a:xfrm>
          <a:prstGeom prst="rect">
            <a:avLst/>
          </a:prstGeom>
          <a:noFill/>
          <a:ln/>
        </p:spPr>
        <p:txBody>
          <a:bodyPr wrap="square" lIns="0" tIns="0" rIns="0" bIns="0" rtlCol="0" anchor="ctr"/>
          <a:lstStyle/>
          <a:p>
            <a:pPr indent="0" marL="0">
              <a:buNone/>
            </a:pPr>
            <a:r>
              <a:rPr lang="en-US" sz="900" b="1" spc="260" kern="0" dirty="0">
                <a:solidFill>
                  <a:srgbClr val="4CC3EA"/>
                </a:solidFill>
                <a:latin typeface="Calibri" pitchFamily="34" charset="0"/>
                <a:ea typeface="Calibri" pitchFamily="34" charset="-122"/>
                <a:cs typeface="Calibri" pitchFamily="34" charset="-120"/>
              </a:rPr>
              <a:t>GÖRÜŞ GEÇIŞI</a:t>
            </a:r>
            <a:endParaRPr lang="en-US" sz="900" dirty="0"/>
          </a:p>
        </p:txBody>
      </p:sp>
      <p:sp>
        <p:nvSpPr>
          <p:cNvPr id="30" name="Text 28"/>
          <p:cNvSpPr txBox="1"/>
          <p:nvPr/>
        </p:nvSpPr>
        <p:spPr>
          <a:xfrm>
            <a:off x="7059168" y="4553712"/>
            <a:ext cx="4261104" cy="310896"/>
          </a:xfrm>
          <a:prstGeom prst="rect">
            <a:avLst/>
          </a:prstGeom>
          <a:noFill/>
          <a:ln/>
        </p:spPr>
        <p:txBody>
          <a:bodyPr wrap="square" lIns="0" tIns="0" rIns="0" bIns="0" rtlCol="0" anchor="ctr"/>
          <a:lstStyle/>
          <a:p>
            <a:pPr indent="0" marL="0">
              <a:buNone/>
            </a:pPr>
            <a:r>
              <a:rPr lang="en-US" sz="1450" b="1" dirty="0">
                <a:solidFill>
                  <a:srgbClr val="E9F2F8"/>
                </a:solidFill>
                <a:latin typeface="Calibri" pitchFamily="34" charset="0"/>
                <a:ea typeface="Calibri" pitchFamily="34" charset="-122"/>
                <a:cs typeface="Calibri" pitchFamily="34" charset="-120"/>
              </a:rPr>
              <a:t>Şekil de aranabilir olur</a:t>
            </a:r>
            <a:endParaRPr lang="en-US" sz="1450" dirty="0"/>
          </a:p>
        </p:txBody>
      </p:sp>
      <p:sp>
        <p:nvSpPr>
          <p:cNvPr id="31" name="Text 29"/>
          <p:cNvSpPr txBox="1"/>
          <p:nvPr/>
        </p:nvSpPr>
        <p:spPr>
          <a:xfrm>
            <a:off x="7059168" y="4937760"/>
            <a:ext cx="4261104" cy="768096"/>
          </a:xfrm>
          <a:prstGeom prst="rect">
            <a:avLst/>
          </a:prstGeom>
          <a:noFill/>
          <a:ln/>
        </p:spPr>
        <p:txBody>
          <a:bodyPr wrap="square" lIns="0" tIns="0" rIns="0" bIns="0" rtlCol="0" anchor="t"/>
          <a:lstStyle/>
          <a:p>
            <a:pPr indent="0" marL="0">
              <a:lnSpc>
                <a:spcPts val="1800"/>
              </a:lnSpc>
              <a:buNone/>
            </a:pPr>
            <a:r>
              <a:rPr lang="en-US" sz="1100" dirty="0">
                <a:solidFill>
                  <a:srgbClr val="A9BCCB"/>
                </a:solidFill>
                <a:latin typeface="Calibri" pitchFamily="34" charset="0"/>
                <a:ea typeface="Calibri" pitchFamily="34" charset="-122"/>
                <a:cs typeface="Calibri" pitchFamily="34" charset="-120"/>
              </a:rPr>
              <a:t>Görüş modeli sayfayı şemasına göre betimler; betim ve etiketleri aranabilir bir parça hâline gelir. Böylece metin çıkarıcının okuyamadığı bir şekil de soruları yanıtlar.</a:t>
            </a:r>
            <a:endParaRPr lang="en-US" sz="1100" dirty="0"/>
          </a:p>
        </p:txBody>
      </p:sp>
      <p:sp>
        <p:nvSpPr>
          <p:cNvPr id="32" name="Text 30"/>
          <p:cNvSpPr txBox="1"/>
          <p:nvPr/>
        </p:nvSpPr>
        <p:spPr>
          <a:xfrm>
            <a:off x="566928" y="6382512"/>
            <a:ext cx="2377440" cy="237744"/>
          </a:xfrm>
          <a:prstGeom prst="rect">
            <a:avLst/>
          </a:prstGeom>
          <a:noFill/>
          <a:ln/>
        </p:spPr>
        <p:txBody>
          <a:bodyPr wrap="square" lIns="0" tIns="0" rIns="0" bIns="0" rtlCol="0" anchor="ctr"/>
          <a:lstStyle/>
          <a:p>
            <a:pPr indent="0" marL="0">
              <a:buNone/>
            </a:pPr>
            <a:r>
              <a:rPr lang="en-US" sz="850" spc="220" kern="0" dirty="0">
                <a:solidFill>
                  <a:srgbClr val="43566A"/>
                </a:solidFill>
                <a:latin typeface="Calibri" pitchFamily="34" charset="0"/>
                <a:ea typeface="Calibri" pitchFamily="34" charset="-122"/>
                <a:cs typeface="Calibri" pitchFamily="34" charset="-120"/>
              </a:rPr>
              <a:t>TIP AKADEMİSİ</a:t>
            </a:r>
            <a:endParaRPr lang="en-US" sz="850" dirty="0"/>
          </a:p>
        </p:txBody>
      </p:sp>
      <p:sp>
        <p:nvSpPr>
          <p:cNvPr id="33" name="Text 31"/>
          <p:cNvSpPr txBox="1"/>
          <p:nvPr/>
        </p:nvSpPr>
        <p:spPr>
          <a:xfrm>
            <a:off x="8229600" y="6382512"/>
            <a:ext cx="3364992" cy="237744"/>
          </a:xfrm>
          <a:prstGeom prst="rect">
            <a:avLst/>
          </a:prstGeom>
          <a:noFill/>
          <a:ln/>
        </p:spPr>
        <p:txBody>
          <a:bodyPr wrap="square" lIns="0" tIns="0" rIns="0" bIns="0" rtlCol="0" anchor="ctr"/>
          <a:lstStyle/>
          <a:p>
            <a:pPr algn="r" indent="0" marL="0">
              <a:buNone/>
            </a:pPr>
            <a:r>
              <a:rPr lang="en-US" sz="850" spc="220" kern="0" dirty="0">
                <a:solidFill>
                  <a:srgbClr val="43566A"/>
                </a:solidFill>
                <a:latin typeface="Calibri" pitchFamily="34" charset="0"/>
                <a:ea typeface="Calibri" pitchFamily="34" charset="-122"/>
                <a:cs typeface="Calibri" pitchFamily="34" charset="-120"/>
              </a:rPr>
              <a:t>09  ·  Ders materyali</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66928" y="530352"/>
            <a:ext cx="7680960" cy="237744"/>
          </a:xfrm>
          <a:prstGeom prst="rect">
            <a:avLst/>
          </a:prstGeom>
          <a:noFill/>
          <a:ln/>
        </p:spPr>
        <p:txBody>
          <a:bodyPr wrap="square" lIns="0" tIns="0" rIns="0" bIns="0" rtlCol="0" anchor="ctr"/>
          <a:lstStyle/>
          <a:p>
            <a:pPr indent="0" marL="0">
              <a:buNone/>
            </a:pPr>
            <a:r>
              <a:rPr lang="en-US" sz="1000" b="1" spc="340" kern="0" dirty="0">
                <a:solidFill>
                  <a:srgbClr val="4CC3EA"/>
                </a:solidFill>
                <a:latin typeface="Calibri" pitchFamily="34" charset="0"/>
                <a:ea typeface="Calibri" pitchFamily="34" charset="-122"/>
                <a:cs typeface="Calibri" pitchFamily="34" charset="-120"/>
              </a:rPr>
              <a:t>DERS MATERYALI</a:t>
            </a:r>
            <a:endParaRPr lang="en-US" sz="1000" dirty="0"/>
          </a:p>
        </p:txBody>
      </p:sp>
      <p:sp>
        <p:nvSpPr>
          <p:cNvPr id="3" name="Text 1"/>
          <p:cNvSpPr txBox="1"/>
          <p:nvPr/>
        </p:nvSpPr>
        <p:spPr>
          <a:xfrm>
            <a:off x="548640" y="786384"/>
            <a:ext cx="9692640" cy="786384"/>
          </a:xfrm>
          <a:prstGeom prst="rect">
            <a:avLst/>
          </a:prstGeom>
          <a:noFill/>
          <a:ln/>
        </p:spPr>
        <p:txBody>
          <a:bodyPr wrap="square" lIns="0" tIns="0" rIns="0" bIns="0" rtlCol="0" anchor="t"/>
          <a:lstStyle/>
          <a:p>
            <a:pPr indent="0" marL="0">
              <a:buNone/>
            </a:pPr>
            <a:r>
              <a:rPr lang="en-US" sz="3100" spc="40" kern="0" dirty="0">
                <a:solidFill>
                  <a:srgbClr val="E9F2F8"/>
                </a:solidFill>
                <a:latin typeface="Calibri" pitchFamily="34" charset="0"/>
                <a:ea typeface="Calibri" pitchFamily="34" charset="-122"/>
                <a:cs typeface="Calibri" pitchFamily="34" charset="-120"/>
              </a:rPr>
              <a:t>Kütüphane</a:t>
            </a:r>
            <a:endParaRPr lang="en-US" sz="3100" dirty="0"/>
          </a:p>
        </p:txBody>
      </p:sp>
      <p:sp>
        <p:nvSpPr>
          <p:cNvPr id="4" name="Text 2"/>
          <p:cNvSpPr txBox="1"/>
          <p:nvPr/>
        </p:nvSpPr>
        <p:spPr>
          <a:xfrm>
            <a:off x="566928" y="1389888"/>
            <a:ext cx="11027664" cy="310896"/>
          </a:xfrm>
          <a:prstGeom prst="rect">
            <a:avLst/>
          </a:prstGeom>
          <a:noFill/>
          <a:ln/>
        </p:spPr>
        <p:txBody>
          <a:bodyPr wrap="square" lIns="0" tIns="0" rIns="0" bIns="0" rtlCol="0" anchor="ctr"/>
          <a:lstStyle/>
          <a:p>
            <a:pPr indent="0" marL="0">
              <a:buNone/>
            </a:pPr>
            <a:r>
              <a:rPr lang="en-US" sz="1300" dirty="0">
                <a:solidFill>
                  <a:srgbClr val="A9BCCB"/>
                </a:solidFill>
                <a:latin typeface="Calibri" pitchFamily="34" charset="0"/>
                <a:ea typeface="Calibri" pitchFamily="34" charset="-122"/>
                <a:cs typeface="Calibri" pitchFamily="34" charset="-120"/>
              </a:rPr>
              <a:t>Bir dönemin tamamı klasör olarak gelir: klasör adları etiket, dersi adlandıran en yakın klasör ise dersin kendisi olur.</a:t>
            </a:r>
            <a:endParaRPr lang="en-US" sz="1300" dirty="0"/>
          </a:p>
        </p:txBody>
      </p:sp>
      <p:sp>
        <p:nvSpPr>
          <p:cNvPr id="5" name="Shape 3"/>
          <p:cNvSpPr/>
          <p:nvPr/>
        </p:nvSpPr>
        <p:spPr>
          <a:xfrm>
            <a:off x="1173175" y="1787652"/>
            <a:ext cx="9815429" cy="4050792"/>
          </a:xfrm>
          <a:prstGeom prst="roundRect">
            <a:avLst>
              <a:gd name="adj" fmla="val 903"/>
            </a:avLst>
          </a:prstGeom>
          <a:solidFill>
            <a:srgbClr val="1B7BA0">
              <a:alpha val="18000"/>
            </a:srgbClr>
          </a:solidFill>
          <a:ln w="12700">
            <a:solidFill>
              <a:srgbClr val="31506A"/>
            </a:solidFill>
            <a:prstDash val="solid"/>
          </a:ln>
        </p:spPr>
      </p:sp>
      <p:pic>
        <p:nvPicPr>
          <p:cNvPr id="6" name="Image 0" descr="img/shots/04_kutuphane.jpg">    </p:cNvPr>
          <p:cNvPicPr>
            <a:picLocks noChangeAspect="1"/>
          </p:cNvPicPr>
          <p:nvPr/>
        </p:nvPicPr>
        <p:blipFill>
          <a:blip r:embed="rId2"/>
          <a:stretch>
            <a:fillRect/>
          </a:stretch>
        </p:blipFill>
        <p:spPr>
          <a:xfrm>
            <a:off x="1214323" y="1828800"/>
            <a:ext cx="9733133" cy="3968496"/>
          </a:xfrm>
          <a:prstGeom prst="rect">
            <a:avLst/>
          </a:prstGeom>
        </p:spPr>
      </p:pic>
      <p:sp>
        <p:nvSpPr>
          <p:cNvPr id="7" name="Text 4"/>
          <p:cNvSpPr txBox="1"/>
          <p:nvPr/>
        </p:nvSpPr>
        <p:spPr>
          <a:xfrm>
            <a:off x="566928" y="5961888"/>
            <a:ext cx="11027664" cy="310896"/>
          </a:xfrm>
          <a:prstGeom prst="rect">
            <a:avLst/>
          </a:prstGeom>
          <a:noFill/>
          <a:ln/>
        </p:spPr>
        <p:txBody>
          <a:bodyPr wrap="square" lIns="0" tIns="0" rIns="0" bIns="0" rtlCol="0" anchor="ctr"/>
          <a:lstStyle/>
          <a:p>
            <a:pPr algn="ctr" indent="0" marL="0">
              <a:buNone/>
            </a:pPr>
            <a:r>
              <a:rPr lang="en-US" sz="1050" dirty="0">
                <a:solidFill>
                  <a:srgbClr val="6F8597"/>
                </a:solidFill>
                <a:latin typeface="Calibri" pitchFamily="34" charset="0"/>
                <a:ea typeface="Calibri" pitchFamily="34" charset="-122"/>
                <a:cs typeface="Calibri" pitchFamily="34" charset="-120"/>
              </a:rPr>
              <a:t>Ders seti kaydı ne aldığını, neyi atladığını ve nedenini saklar; sayımlar her seferinde belgelerden yeniden hesaplanır — içe aktarmanın umduğundan değil.</a:t>
            </a:r>
            <a:endParaRPr lang="en-US" sz="1050" dirty="0"/>
          </a:p>
        </p:txBody>
      </p:sp>
      <p:sp>
        <p:nvSpPr>
          <p:cNvPr id="8" name="Text 5"/>
          <p:cNvSpPr txBox="1"/>
          <p:nvPr/>
        </p:nvSpPr>
        <p:spPr>
          <a:xfrm>
            <a:off x="566928" y="6382512"/>
            <a:ext cx="2377440" cy="237744"/>
          </a:xfrm>
          <a:prstGeom prst="rect">
            <a:avLst/>
          </a:prstGeom>
          <a:noFill/>
          <a:ln/>
        </p:spPr>
        <p:txBody>
          <a:bodyPr wrap="square" lIns="0" tIns="0" rIns="0" bIns="0" rtlCol="0" anchor="ctr"/>
          <a:lstStyle/>
          <a:p>
            <a:pPr indent="0" marL="0">
              <a:buNone/>
            </a:pPr>
            <a:r>
              <a:rPr lang="en-US" sz="850" spc="220" kern="0" dirty="0">
                <a:solidFill>
                  <a:srgbClr val="43566A"/>
                </a:solidFill>
                <a:latin typeface="Calibri" pitchFamily="34" charset="0"/>
                <a:ea typeface="Calibri" pitchFamily="34" charset="-122"/>
                <a:cs typeface="Calibri" pitchFamily="34" charset="-120"/>
              </a:rPr>
              <a:t>TIP AKADEMİSİ</a:t>
            </a:r>
            <a:endParaRPr lang="en-US" sz="850" dirty="0"/>
          </a:p>
        </p:txBody>
      </p:sp>
      <p:sp>
        <p:nvSpPr>
          <p:cNvPr id="9" name="Text 6"/>
          <p:cNvSpPr txBox="1"/>
          <p:nvPr/>
        </p:nvSpPr>
        <p:spPr>
          <a:xfrm>
            <a:off x="8229600" y="6382512"/>
            <a:ext cx="3364992" cy="237744"/>
          </a:xfrm>
          <a:prstGeom prst="rect">
            <a:avLst/>
          </a:prstGeom>
          <a:noFill/>
          <a:ln/>
        </p:spPr>
        <p:txBody>
          <a:bodyPr wrap="square" lIns="0" tIns="0" rIns="0" bIns="0" rtlCol="0" anchor="ctr"/>
          <a:lstStyle/>
          <a:p>
            <a:pPr algn="r" indent="0" marL="0">
              <a:buNone/>
            </a:pPr>
            <a:r>
              <a:rPr lang="en-US" sz="850" spc="220" kern="0" dirty="0">
                <a:solidFill>
                  <a:srgbClr val="43566A"/>
                </a:solidFill>
                <a:latin typeface="Calibri" pitchFamily="34" charset="0"/>
                <a:ea typeface="Calibri" pitchFamily="34" charset="-122"/>
                <a:cs typeface="Calibri" pitchFamily="34" charset="-120"/>
              </a:rPr>
              <a:t>10  ·  Ders materyali</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66928" y="566928"/>
            <a:ext cx="7680960" cy="237744"/>
          </a:xfrm>
          <a:prstGeom prst="rect">
            <a:avLst/>
          </a:prstGeom>
          <a:noFill/>
          <a:ln/>
        </p:spPr>
        <p:txBody>
          <a:bodyPr wrap="square" lIns="0" tIns="0" rIns="0" bIns="0" rtlCol="0" anchor="ctr"/>
          <a:lstStyle/>
          <a:p>
            <a:pPr indent="0" marL="0">
              <a:buNone/>
            </a:pPr>
            <a:r>
              <a:rPr lang="en-US" sz="1000" b="1" spc="340" kern="0" dirty="0">
                <a:solidFill>
                  <a:srgbClr val="4CC3EA"/>
                </a:solidFill>
                <a:latin typeface="Calibri" pitchFamily="34" charset="0"/>
                <a:ea typeface="Calibri" pitchFamily="34" charset="-122"/>
                <a:cs typeface="Calibri" pitchFamily="34" charset="-120"/>
              </a:rPr>
              <a:t>DERS MATERYALI</a:t>
            </a:r>
            <a:endParaRPr lang="en-US" sz="1000" dirty="0"/>
          </a:p>
        </p:txBody>
      </p:sp>
      <p:sp>
        <p:nvSpPr>
          <p:cNvPr id="3" name="Text 1"/>
          <p:cNvSpPr txBox="1"/>
          <p:nvPr/>
        </p:nvSpPr>
        <p:spPr>
          <a:xfrm>
            <a:off x="548640" y="841248"/>
            <a:ext cx="9509760" cy="786384"/>
          </a:xfrm>
          <a:prstGeom prst="rect">
            <a:avLst/>
          </a:prstGeom>
          <a:noFill/>
          <a:ln/>
        </p:spPr>
        <p:txBody>
          <a:bodyPr wrap="square" lIns="0" tIns="0" rIns="0" bIns="0" rtlCol="0" anchor="t"/>
          <a:lstStyle/>
          <a:p>
            <a:pPr indent="0" marL="0">
              <a:buNone/>
            </a:pPr>
            <a:r>
              <a:rPr lang="en-US" sz="3200" spc="40" kern="0" dirty="0">
                <a:solidFill>
                  <a:srgbClr val="E9F2F8"/>
                </a:solidFill>
                <a:latin typeface="Calibri" pitchFamily="34" charset="0"/>
                <a:ea typeface="Calibri" pitchFamily="34" charset="-122"/>
                <a:cs typeface="Calibri" pitchFamily="34" charset="-120"/>
              </a:rPr>
              <a:t>Taranmış kâğıtlar ve sayfaya çapalı atıf</a:t>
            </a:r>
            <a:endParaRPr lang="en-US" sz="3200" dirty="0"/>
          </a:p>
        </p:txBody>
      </p:sp>
      <p:sp>
        <p:nvSpPr>
          <p:cNvPr id="4" name="Text 2"/>
          <p:cNvSpPr txBox="1"/>
          <p:nvPr/>
        </p:nvSpPr>
        <p:spPr>
          <a:xfrm>
            <a:off x="566928" y="1645920"/>
            <a:ext cx="10881360" cy="822960"/>
          </a:xfrm>
          <a:prstGeom prst="rect">
            <a:avLst/>
          </a:prstGeom>
          <a:noFill/>
          <a:ln/>
        </p:spPr>
        <p:txBody>
          <a:bodyPr wrap="square" lIns="0" tIns="0" rIns="0" bIns="0" rtlCol="0" anchor="t"/>
          <a:lstStyle/>
          <a:p>
            <a:pPr indent="0" marL="0">
              <a:lnSpc>
                <a:spcPts val="2200"/>
              </a:lnSpc>
              <a:buNone/>
            </a:pPr>
            <a:r>
              <a:rPr lang="en-US" sz="1400" dirty="0">
                <a:solidFill>
                  <a:srgbClr val="A9BCCB"/>
                </a:solidFill>
                <a:latin typeface="Calibri" pitchFamily="34" charset="0"/>
                <a:ea typeface="Calibri" pitchFamily="34" charset="-122"/>
                <a:cs typeface="Calibri" pitchFamily="34" charset="-120"/>
              </a:rPr>
              <a:t>Öğrencinin paylaştığı sınav kâğıtları çoğu zaman metin katmanı olmayan taramalardır. Metni olmayan bir belge önce yazıya dökülür.</a:t>
            </a:r>
            <a:endParaRPr lang="en-US" sz="1400" dirty="0"/>
          </a:p>
        </p:txBody>
      </p:sp>
      <p:sp>
        <p:nvSpPr>
          <p:cNvPr id="5" name="Shape 3"/>
          <p:cNvSpPr/>
          <p:nvPr/>
        </p:nvSpPr>
        <p:spPr>
          <a:xfrm>
            <a:off x="566928" y="2560320"/>
            <a:ext cx="3480206" cy="2296058"/>
          </a:xfrm>
          <a:prstGeom prst="roundRect">
            <a:avLst>
              <a:gd name="adj" fmla="val 2389"/>
            </a:avLst>
          </a:prstGeom>
          <a:solidFill>
            <a:srgbClr val="121C2E">
              <a:alpha val="74000"/>
            </a:srgbClr>
          </a:solidFill>
          <a:ln w="12700">
            <a:solidFill>
              <a:srgbClr val="B8A8FF"/>
            </a:solidFill>
            <a:prstDash val="solid"/>
          </a:ln>
        </p:spPr>
      </p:sp>
      <p:sp>
        <p:nvSpPr>
          <p:cNvPr id="6" name="Text 4"/>
          <p:cNvSpPr txBox="1"/>
          <p:nvPr/>
        </p:nvSpPr>
        <p:spPr>
          <a:xfrm>
            <a:off x="841248" y="2834640"/>
            <a:ext cx="2931566" cy="201168"/>
          </a:xfrm>
          <a:prstGeom prst="rect">
            <a:avLst/>
          </a:prstGeom>
          <a:noFill/>
          <a:ln/>
        </p:spPr>
        <p:txBody>
          <a:bodyPr wrap="square" lIns="0" tIns="0" rIns="0" bIns="0" rtlCol="0" anchor="ctr"/>
          <a:lstStyle/>
          <a:p>
            <a:pPr indent="0" marL="0">
              <a:buNone/>
            </a:pPr>
            <a:r>
              <a:rPr lang="en-US" sz="900" b="1" spc="260" kern="0" dirty="0">
                <a:solidFill>
                  <a:srgbClr val="4CC3EA"/>
                </a:solidFill>
                <a:latin typeface="Calibri" pitchFamily="34" charset="0"/>
                <a:ea typeface="Calibri" pitchFamily="34" charset="-122"/>
                <a:cs typeface="Calibri" pitchFamily="34" charset="-120"/>
              </a:rPr>
              <a:t>ADIM 1</a:t>
            </a:r>
            <a:endParaRPr lang="en-US" sz="900" dirty="0"/>
          </a:p>
        </p:txBody>
      </p:sp>
      <p:sp>
        <p:nvSpPr>
          <p:cNvPr id="7" name="Text 5"/>
          <p:cNvSpPr txBox="1"/>
          <p:nvPr/>
        </p:nvSpPr>
        <p:spPr>
          <a:xfrm>
            <a:off x="841248" y="3127248"/>
            <a:ext cx="2931566" cy="310896"/>
          </a:xfrm>
          <a:prstGeom prst="rect">
            <a:avLst/>
          </a:prstGeom>
          <a:noFill/>
          <a:ln/>
        </p:spPr>
        <p:txBody>
          <a:bodyPr wrap="square" lIns="0" tIns="0" rIns="0" bIns="0" rtlCol="0" anchor="ctr"/>
          <a:lstStyle/>
          <a:p>
            <a:pPr indent="0" marL="0">
              <a:buNone/>
            </a:pPr>
            <a:r>
              <a:rPr lang="en-US" sz="1500" b="1" dirty="0">
                <a:solidFill>
                  <a:srgbClr val="E9F2F8"/>
                </a:solidFill>
                <a:latin typeface="Calibri" pitchFamily="34" charset="0"/>
                <a:ea typeface="Calibri" pitchFamily="34" charset="-122"/>
                <a:cs typeface="Calibri" pitchFamily="34" charset="-120"/>
              </a:rPr>
              <a:t>Metne çevir (OCR)</a:t>
            </a:r>
            <a:endParaRPr lang="en-US" sz="1500" dirty="0"/>
          </a:p>
        </p:txBody>
      </p:sp>
      <p:sp>
        <p:nvSpPr>
          <p:cNvPr id="8" name="Text 6"/>
          <p:cNvSpPr txBox="1"/>
          <p:nvPr/>
        </p:nvSpPr>
        <p:spPr>
          <a:xfrm>
            <a:off x="841248" y="3511296"/>
            <a:ext cx="2931566" cy="1217066"/>
          </a:xfrm>
          <a:prstGeom prst="rect">
            <a:avLst/>
          </a:prstGeom>
          <a:noFill/>
          <a:ln/>
        </p:spPr>
        <p:txBody>
          <a:bodyPr wrap="square" lIns="0" tIns="0" rIns="0" bIns="0" rtlCol="0" anchor="t"/>
          <a:lstStyle/>
          <a:p>
            <a:pPr indent="0" marL="0">
              <a:lnSpc>
                <a:spcPts val="1800"/>
              </a:lnSpc>
              <a:buNone/>
            </a:pPr>
            <a:r>
              <a:rPr lang="en-US" sz="1100" dirty="0">
                <a:solidFill>
                  <a:srgbClr val="A9BCCB"/>
                </a:solidFill>
                <a:latin typeface="Calibri" pitchFamily="34" charset="0"/>
                <a:ea typeface="Calibri" pitchFamily="34" charset="-122"/>
                <a:cs typeface="Calibri" pitchFamily="34" charset="-120"/>
              </a:rPr>
              <a:t>Her sayfa çizilir ve görüş modelinden basıldığı gibi yazması istenir: başlıklar, numaralar, soru sahibi ve anabilim dalı satırları, son ekleriyle şıklar — hiçbir şey eklenmeden, düzeltilmeden. Belge "taranmış metin" olarak etiketlenir.</a:t>
            </a:r>
            <a:endParaRPr lang="en-US" sz="1100" dirty="0"/>
          </a:p>
        </p:txBody>
      </p:sp>
      <p:sp>
        <p:nvSpPr>
          <p:cNvPr id="9" name="Shape 7"/>
          <p:cNvSpPr/>
          <p:nvPr/>
        </p:nvSpPr>
        <p:spPr>
          <a:xfrm>
            <a:off x="4339742" y="2560320"/>
            <a:ext cx="3480206" cy="2296058"/>
          </a:xfrm>
          <a:prstGeom prst="roundRect">
            <a:avLst>
              <a:gd name="adj" fmla="val 2389"/>
            </a:avLst>
          </a:prstGeom>
          <a:solidFill>
            <a:srgbClr val="121C2E">
              <a:alpha val="74000"/>
            </a:srgbClr>
          </a:solidFill>
          <a:ln w="12700">
            <a:solidFill>
              <a:srgbClr val="8EE0FF"/>
            </a:solidFill>
            <a:prstDash val="solid"/>
          </a:ln>
        </p:spPr>
      </p:sp>
      <p:sp>
        <p:nvSpPr>
          <p:cNvPr id="10" name="Text 8"/>
          <p:cNvSpPr txBox="1"/>
          <p:nvPr/>
        </p:nvSpPr>
        <p:spPr>
          <a:xfrm>
            <a:off x="4614062" y="2834640"/>
            <a:ext cx="2931566" cy="201168"/>
          </a:xfrm>
          <a:prstGeom prst="rect">
            <a:avLst/>
          </a:prstGeom>
          <a:noFill/>
          <a:ln/>
        </p:spPr>
        <p:txBody>
          <a:bodyPr wrap="square" lIns="0" tIns="0" rIns="0" bIns="0" rtlCol="0" anchor="ctr"/>
          <a:lstStyle/>
          <a:p>
            <a:pPr indent="0" marL="0">
              <a:buNone/>
            </a:pPr>
            <a:r>
              <a:rPr lang="en-US" sz="900" b="1" spc="260" kern="0" dirty="0">
                <a:solidFill>
                  <a:srgbClr val="4CC3EA"/>
                </a:solidFill>
                <a:latin typeface="Calibri" pitchFamily="34" charset="0"/>
                <a:ea typeface="Calibri" pitchFamily="34" charset="-122"/>
                <a:cs typeface="Calibri" pitchFamily="34" charset="-120"/>
              </a:rPr>
              <a:t>ADIM 2</a:t>
            </a:r>
            <a:endParaRPr lang="en-US" sz="900" dirty="0"/>
          </a:p>
        </p:txBody>
      </p:sp>
      <p:sp>
        <p:nvSpPr>
          <p:cNvPr id="11" name="Text 9"/>
          <p:cNvSpPr txBox="1"/>
          <p:nvPr/>
        </p:nvSpPr>
        <p:spPr>
          <a:xfrm>
            <a:off x="4614062" y="3127248"/>
            <a:ext cx="2931566" cy="310896"/>
          </a:xfrm>
          <a:prstGeom prst="rect">
            <a:avLst/>
          </a:prstGeom>
          <a:noFill/>
          <a:ln/>
        </p:spPr>
        <p:txBody>
          <a:bodyPr wrap="square" lIns="0" tIns="0" rIns="0" bIns="0" rtlCol="0" anchor="ctr"/>
          <a:lstStyle/>
          <a:p>
            <a:pPr indent="0" marL="0">
              <a:buNone/>
            </a:pPr>
            <a:r>
              <a:rPr lang="en-US" sz="1500" b="1" dirty="0">
                <a:solidFill>
                  <a:srgbClr val="E9F2F8"/>
                </a:solidFill>
                <a:latin typeface="Calibri" pitchFamily="34" charset="0"/>
                <a:ea typeface="Calibri" pitchFamily="34" charset="-122"/>
                <a:cs typeface="Calibri" pitchFamily="34" charset="-120"/>
              </a:rPr>
              <a:t>Parçalar sayfayı taşır</a:t>
            </a:r>
            <a:endParaRPr lang="en-US" sz="1500" dirty="0"/>
          </a:p>
        </p:txBody>
      </p:sp>
      <p:sp>
        <p:nvSpPr>
          <p:cNvPr id="12" name="Text 10"/>
          <p:cNvSpPr txBox="1"/>
          <p:nvPr/>
        </p:nvSpPr>
        <p:spPr>
          <a:xfrm>
            <a:off x="4614062" y="3511296"/>
            <a:ext cx="2931566" cy="1217066"/>
          </a:xfrm>
          <a:prstGeom prst="rect">
            <a:avLst/>
          </a:prstGeom>
          <a:noFill/>
          <a:ln/>
        </p:spPr>
        <p:txBody>
          <a:bodyPr wrap="square" lIns="0" tIns="0" rIns="0" bIns="0" rtlCol="0" anchor="t"/>
          <a:lstStyle/>
          <a:p>
            <a:pPr indent="0" marL="0">
              <a:lnSpc>
                <a:spcPts val="1800"/>
              </a:lnSpc>
              <a:buNone/>
            </a:pPr>
            <a:r>
              <a:rPr lang="en-US" sz="1100" dirty="0">
                <a:solidFill>
                  <a:srgbClr val="A9BCCB"/>
                </a:solidFill>
                <a:latin typeface="Calibri" pitchFamily="34" charset="0"/>
                <a:ea typeface="Calibri" pitchFamily="34" charset="-122"/>
                <a:cs typeface="Calibri" pitchFamily="34" charset="-120"/>
              </a:rPr>
              <a:t>Her parça sayfa numarasını ve karakter aralığını saklar. Retriever, deponun tutmadığı bir sayfayı asla döndürmez; üretilen bir soru ancak modelin söylediği sayfa verilenlerden biriyle eşleşiyorsa kaynak referansı tutar.</a:t>
            </a:r>
            <a:endParaRPr lang="en-US" sz="1100" dirty="0"/>
          </a:p>
        </p:txBody>
      </p:sp>
      <p:sp>
        <p:nvSpPr>
          <p:cNvPr id="13" name="Shape 11"/>
          <p:cNvSpPr/>
          <p:nvPr/>
        </p:nvSpPr>
        <p:spPr>
          <a:xfrm>
            <a:off x="8112557" y="2560320"/>
            <a:ext cx="3480206" cy="2296058"/>
          </a:xfrm>
          <a:prstGeom prst="roundRect">
            <a:avLst>
              <a:gd name="adj" fmla="val 2389"/>
            </a:avLst>
          </a:prstGeom>
          <a:solidFill>
            <a:srgbClr val="121C2E">
              <a:alpha val="74000"/>
            </a:srgbClr>
          </a:solidFill>
          <a:ln w="12700">
            <a:solidFill>
              <a:srgbClr val="F0C68A"/>
            </a:solidFill>
            <a:prstDash val="solid"/>
          </a:ln>
        </p:spPr>
      </p:sp>
      <p:sp>
        <p:nvSpPr>
          <p:cNvPr id="14" name="Text 12"/>
          <p:cNvSpPr txBox="1"/>
          <p:nvPr/>
        </p:nvSpPr>
        <p:spPr>
          <a:xfrm>
            <a:off x="8386877" y="2834640"/>
            <a:ext cx="2931566" cy="201168"/>
          </a:xfrm>
          <a:prstGeom prst="rect">
            <a:avLst/>
          </a:prstGeom>
          <a:noFill/>
          <a:ln/>
        </p:spPr>
        <p:txBody>
          <a:bodyPr wrap="square" lIns="0" tIns="0" rIns="0" bIns="0" rtlCol="0" anchor="ctr"/>
          <a:lstStyle/>
          <a:p>
            <a:pPr indent="0" marL="0">
              <a:buNone/>
            </a:pPr>
            <a:r>
              <a:rPr lang="en-US" sz="900" b="1" spc="260" kern="0" dirty="0">
                <a:solidFill>
                  <a:srgbClr val="4CC3EA"/>
                </a:solidFill>
                <a:latin typeface="Calibri" pitchFamily="34" charset="0"/>
                <a:ea typeface="Calibri" pitchFamily="34" charset="-122"/>
                <a:cs typeface="Calibri" pitchFamily="34" charset="-120"/>
              </a:rPr>
              <a:t>ADIM 3</a:t>
            </a:r>
            <a:endParaRPr lang="en-US" sz="900" dirty="0"/>
          </a:p>
        </p:txBody>
      </p:sp>
      <p:sp>
        <p:nvSpPr>
          <p:cNvPr id="15" name="Text 13"/>
          <p:cNvSpPr txBox="1"/>
          <p:nvPr/>
        </p:nvSpPr>
        <p:spPr>
          <a:xfrm>
            <a:off x="8386877" y="3127248"/>
            <a:ext cx="2931566" cy="310896"/>
          </a:xfrm>
          <a:prstGeom prst="rect">
            <a:avLst/>
          </a:prstGeom>
          <a:noFill/>
          <a:ln/>
        </p:spPr>
        <p:txBody>
          <a:bodyPr wrap="square" lIns="0" tIns="0" rIns="0" bIns="0" rtlCol="0" anchor="ctr"/>
          <a:lstStyle/>
          <a:p>
            <a:pPr indent="0" marL="0">
              <a:buNone/>
            </a:pPr>
            <a:r>
              <a:rPr lang="en-US" sz="1500" b="1" dirty="0">
                <a:solidFill>
                  <a:srgbClr val="E9F2F8"/>
                </a:solidFill>
                <a:latin typeface="Calibri" pitchFamily="34" charset="0"/>
                <a:ea typeface="Calibri" pitchFamily="34" charset="-122"/>
                <a:cs typeface="Calibri" pitchFamily="34" charset="-120"/>
              </a:rPr>
              <a:t>İndeks mi, sayfa mı?</a:t>
            </a:r>
            <a:endParaRPr lang="en-US" sz="1500" dirty="0"/>
          </a:p>
        </p:txBody>
      </p:sp>
      <p:sp>
        <p:nvSpPr>
          <p:cNvPr id="16" name="Text 14"/>
          <p:cNvSpPr txBox="1"/>
          <p:nvPr/>
        </p:nvSpPr>
        <p:spPr>
          <a:xfrm>
            <a:off x="8386877" y="3511296"/>
            <a:ext cx="2931566" cy="1217066"/>
          </a:xfrm>
          <a:prstGeom prst="rect">
            <a:avLst/>
          </a:prstGeom>
          <a:noFill/>
          <a:ln/>
        </p:spPr>
        <p:txBody>
          <a:bodyPr wrap="square" lIns="0" tIns="0" rIns="0" bIns="0" rtlCol="0" anchor="t"/>
          <a:lstStyle/>
          <a:p>
            <a:pPr indent="0" marL="0">
              <a:lnSpc>
                <a:spcPts val="1800"/>
              </a:lnSpc>
              <a:buNone/>
            </a:pPr>
            <a:r>
              <a:rPr lang="en-US" sz="1100" dirty="0">
                <a:solidFill>
                  <a:srgbClr val="A9BCCB"/>
                </a:solidFill>
                <a:latin typeface="Calibri" pitchFamily="34" charset="0"/>
                <a:ea typeface="Calibri" pitchFamily="34" charset="-122"/>
                <a:cs typeface="Calibri" pitchFamily="34" charset="-120"/>
              </a:rPr>
              <a:t>Üretilen soru kullandığı alıntıyı [Kaynak N] indeksiyle anar, sayfa numarasıyla değil: iki belge rutin olarak aynı sayfayı paylaşır. İndeks ve sayfa çelişirse soru kaynaksız saklanır.</a:t>
            </a:r>
            <a:endParaRPr lang="en-US" sz="1100" dirty="0"/>
          </a:p>
        </p:txBody>
      </p:sp>
      <p:sp>
        <p:nvSpPr>
          <p:cNvPr id="17" name="Text 15"/>
          <p:cNvSpPr txBox="1"/>
          <p:nvPr/>
        </p:nvSpPr>
        <p:spPr>
          <a:xfrm>
            <a:off x="566928" y="6382512"/>
            <a:ext cx="2377440" cy="237744"/>
          </a:xfrm>
          <a:prstGeom prst="rect">
            <a:avLst/>
          </a:prstGeom>
          <a:noFill/>
          <a:ln/>
        </p:spPr>
        <p:txBody>
          <a:bodyPr wrap="square" lIns="0" tIns="0" rIns="0" bIns="0" rtlCol="0" anchor="ctr"/>
          <a:lstStyle/>
          <a:p>
            <a:pPr indent="0" marL="0">
              <a:buNone/>
            </a:pPr>
            <a:r>
              <a:rPr lang="en-US" sz="850" spc="220" kern="0" dirty="0">
                <a:solidFill>
                  <a:srgbClr val="43566A"/>
                </a:solidFill>
                <a:latin typeface="Calibri" pitchFamily="34" charset="0"/>
                <a:ea typeface="Calibri" pitchFamily="34" charset="-122"/>
                <a:cs typeface="Calibri" pitchFamily="34" charset="-120"/>
              </a:rPr>
              <a:t>TIP AKADEMİSİ</a:t>
            </a:r>
            <a:endParaRPr lang="en-US" sz="850" dirty="0"/>
          </a:p>
        </p:txBody>
      </p:sp>
      <p:sp>
        <p:nvSpPr>
          <p:cNvPr id="18" name="Text 16"/>
          <p:cNvSpPr txBox="1"/>
          <p:nvPr/>
        </p:nvSpPr>
        <p:spPr>
          <a:xfrm>
            <a:off x="8229600" y="6382512"/>
            <a:ext cx="3364992" cy="237744"/>
          </a:xfrm>
          <a:prstGeom prst="rect">
            <a:avLst/>
          </a:prstGeom>
          <a:noFill/>
          <a:ln/>
        </p:spPr>
        <p:txBody>
          <a:bodyPr wrap="square" lIns="0" tIns="0" rIns="0" bIns="0" rtlCol="0" anchor="ctr"/>
          <a:lstStyle/>
          <a:p>
            <a:pPr algn="r" indent="0" marL="0">
              <a:buNone/>
            </a:pPr>
            <a:r>
              <a:rPr lang="en-US" sz="850" spc="220" kern="0" dirty="0">
                <a:solidFill>
                  <a:srgbClr val="43566A"/>
                </a:solidFill>
                <a:latin typeface="Calibri" pitchFamily="34" charset="0"/>
                <a:ea typeface="Calibri" pitchFamily="34" charset="-122"/>
                <a:cs typeface="Calibri" pitchFamily="34" charset="-120"/>
              </a:rPr>
              <a:t>11  ·  Ders materyali</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66928" y="566928"/>
            <a:ext cx="7680960" cy="237744"/>
          </a:xfrm>
          <a:prstGeom prst="rect">
            <a:avLst/>
          </a:prstGeom>
          <a:noFill/>
          <a:ln/>
        </p:spPr>
        <p:txBody>
          <a:bodyPr wrap="square" lIns="0" tIns="0" rIns="0" bIns="0" rtlCol="0" anchor="ctr"/>
          <a:lstStyle/>
          <a:p>
            <a:pPr indent="0" marL="0">
              <a:buNone/>
            </a:pPr>
            <a:r>
              <a:rPr lang="en-US" sz="1000" b="1" spc="340" kern="0" dirty="0">
                <a:solidFill>
                  <a:srgbClr val="4CC3EA"/>
                </a:solidFill>
                <a:latin typeface="Calibri" pitchFamily="34" charset="0"/>
                <a:ea typeface="Calibri" pitchFamily="34" charset="-122"/>
                <a:cs typeface="Calibri" pitchFamily="34" charset="-120"/>
              </a:rPr>
              <a:t>DERS MATERYALI</a:t>
            </a:r>
            <a:endParaRPr lang="en-US" sz="1000" dirty="0"/>
          </a:p>
        </p:txBody>
      </p:sp>
      <p:sp>
        <p:nvSpPr>
          <p:cNvPr id="3" name="Text 1"/>
          <p:cNvSpPr txBox="1"/>
          <p:nvPr/>
        </p:nvSpPr>
        <p:spPr>
          <a:xfrm>
            <a:off x="548640" y="841248"/>
            <a:ext cx="10058400" cy="786384"/>
          </a:xfrm>
          <a:prstGeom prst="rect">
            <a:avLst/>
          </a:prstGeom>
          <a:noFill/>
          <a:ln/>
        </p:spPr>
        <p:txBody>
          <a:bodyPr wrap="square" lIns="0" tIns="0" rIns="0" bIns="0" rtlCol="0" anchor="t"/>
          <a:lstStyle/>
          <a:p>
            <a:pPr indent="0" marL="0">
              <a:buNone/>
            </a:pPr>
            <a:r>
              <a:rPr lang="en-US" sz="3200" spc="40" kern="0" dirty="0">
                <a:solidFill>
                  <a:srgbClr val="E9F2F8"/>
                </a:solidFill>
                <a:latin typeface="Calibri" pitchFamily="34" charset="0"/>
                <a:ea typeface="Calibri" pitchFamily="34" charset="-122"/>
                <a:cs typeface="Calibri" pitchFamily="34" charset="-120"/>
              </a:rPr>
              <a:t>Ders materyali standart bilgiyle karşılaştırılır</a:t>
            </a:r>
            <a:endParaRPr lang="en-US" sz="3200" dirty="0"/>
          </a:p>
        </p:txBody>
      </p:sp>
      <p:sp>
        <p:nvSpPr>
          <p:cNvPr id="4" name="Text 2"/>
          <p:cNvSpPr txBox="1"/>
          <p:nvPr/>
        </p:nvSpPr>
        <p:spPr>
          <a:xfrm>
            <a:off x="566928" y="1645920"/>
            <a:ext cx="10881360" cy="822960"/>
          </a:xfrm>
          <a:prstGeom prst="rect">
            <a:avLst/>
          </a:prstGeom>
          <a:noFill/>
          <a:ln/>
        </p:spPr>
        <p:txBody>
          <a:bodyPr wrap="square" lIns="0" tIns="0" rIns="0" bIns="0" rtlCol="0" anchor="t"/>
          <a:lstStyle/>
          <a:p>
            <a:pPr indent="0" marL="0">
              <a:lnSpc>
                <a:spcPts val="2200"/>
              </a:lnSpc>
              <a:buNone/>
            </a:pPr>
            <a:r>
              <a:rPr lang="en-US" sz="1400" dirty="0">
                <a:solidFill>
                  <a:srgbClr val="A9BCCB"/>
                </a:solidFill>
                <a:latin typeface="Calibri" pitchFamily="34" charset="0"/>
                <a:ea typeface="Calibri" pitchFamily="34" charset="-122"/>
                <a:cs typeface="Calibri" pitchFamily="34" charset="-120"/>
              </a:rPr>
              <a:t>Hocanın slaytı her zaman ders kitabıyla aynı şeyi söylemez. Akademi bu farkı gizlemek yerine sınıflandırır.</a:t>
            </a:r>
            <a:endParaRPr lang="en-US" sz="1400" dirty="0"/>
          </a:p>
        </p:txBody>
      </p:sp>
      <p:sp>
        <p:nvSpPr>
          <p:cNvPr id="5" name="Shape 3"/>
          <p:cNvSpPr/>
          <p:nvPr/>
        </p:nvSpPr>
        <p:spPr>
          <a:xfrm>
            <a:off x="566928" y="2615184"/>
            <a:ext cx="3480206" cy="1060704"/>
          </a:xfrm>
          <a:prstGeom prst="roundRect">
            <a:avLst>
              <a:gd name="adj" fmla="val 5172"/>
            </a:avLst>
          </a:prstGeom>
          <a:solidFill>
            <a:srgbClr val="121C2E">
              <a:alpha val="70000"/>
            </a:srgbClr>
          </a:solidFill>
          <a:ln w="12700">
            <a:solidFill>
              <a:srgbClr val="7FE0B2"/>
            </a:solidFill>
            <a:prstDash val="solid"/>
          </a:ln>
        </p:spPr>
      </p:sp>
      <p:sp>
        <p:nvSpPr>
          <p:cNvPr id="6" name="Text 4"/>
          <p:cNvSpPr txBox="1"/>
          <p:nvPr/>
        </p:nvSpPr>
        <p:spPr>
          <a:xfrm>
            <a:off x="822960" y="2798064"/>
            <a:ext cx="3023006" cy="292608"/>
          </a:xfrm>
          <a:prstGeom prst="rect">
            <a:avLst/>
          </a:prstGeom>
          <a:noFill/>
          <a:ln/>
        </p:spPr>
        <p:txBody>
          <a:bodyPr wrap="square" lIns="0" tIns="0" rIns="0" bIns="0" rtlCol="0" anchor="ctr"/>
          <a:lstStyle/>
          <a:p>
            <a:pPr indent="0" marL="0">
              <a:buNone/>
            </a:pPr>
            <a:r>
              <a:rPr lang="en-US" sz="1450" b="1" dirty="0">
                <a:solidFill>
                  <a:srgbClr val="7FE0B2"/>
                </a:solidFill>
                <a:latin typeface="Calibri" pitchFamily="34" charset="0"/>
                <a:ea typeface="Calibri" pitchFamily="34" charset="-122"/>
                <a:cs typeface="Calibri" pitchFamily="34" charset="-120"/>
              </a:rPr>
              <a:t>Tutarlı</a:t>
            </a:r>
            <a:endParaRPr lang="en-US" sz="1450" dirty="0"/>
          </a:p>
        </p:txBody>
      </p:sp>
      <p:sp>
        <p:nvSpPr>
          <p:cNvPr id="7" name="Text 5"/>
          <p:cNvSpPr txBox="1"/>
          <p:nvPr/>
        </p:nvSpPr>
        <p:spPr>
          <a:xfrm>
            <a:off x="822960" y="3145536"/>
            <a:ext cx="3004718" cy="365760"/>
          </a:xfrm>
          <a:prstGeom prst="rect">
            <a:avLst/>
          </a:prstGeom>
          <a:noFill/>
          <a:ln/>
        </p:spPr>
        <p:txBody>
          <a:bodyPr wrap="square" lIns="0" tIns="0" rIns="0" bIns="0" rtlCol="0" anchor="ctr"/>
          <a:lstStyle/>
          <a:p>
            <a:pPr indent="0" marL="0">
              <a:lnSpc>
                <a:spcPts val="1400"/>
              </a:lnSpc>
              <a:buNone/>
            </a:pPr>
            <a:r>
              <a:rPr lang="en-US" sz="1100" dirty="0">
                <a:solidFill>
                  <a:srgbClr val="A9BCCB"/>
                </a:solidFill>
                <a:latin typeface="Calibri" pitchFamily="34" charset="0"/>
                <a:ea typeface="Calibri" pitchFamily="34" charset="-122"/>
                <a:cs typeface="Calibri" pitchFamily="34" charset="-120"/>
              </a:rPr>
              <a:t>Standart kaynaklarla örtüşüyor</a:t>
            </a:r>
            <a:endParaRPr lang="en-US" sz="1100" dirty="0"/>
          </a:p>
        </p:txBody>
      </p:sp>
      <p:sp>
        <p:nvSpPr>
          <p:cNvPr id="8" name="Shape 6"/>
          <p:cNvSpPr/>
          <p:nvPr/>
        </p:nvSpPr>
        <p:spPr>
          <a:xfrm>
            <a:off x="4339742" y="2615184"/>
            <a:ext cx="3480206" cy="1060704"/>
          </a:xfrm>
          <a:prstGeom prst="roundRect">
            <a:avLst>
              <a:gd name="adj" fmla="val 5172"/>
            </a:avLst>
          </a:prstGeom>
          <a:solidFill>
            <a:srgbClr val="121C2E">
              <a:alpha val="70000"/>
            </a:srgbClr>
          </a:solidFill>
          <a:ln w="12700">
            <a:solidFill>
              <a:srgbClr val="4CC3EA"/>
            </a:solidFill>
            <a:prstDash val="solid"/>
          </a:ln>
        </p:spPr>
      </p:sp>
      <p:sp>
        <p:nvSpPr>
          <p:cNvPr id="9" name="Text 7"/>
          <p:cNvSpPr txBox="1"/>
          <p:nvPr/>
        </p:nvSpPr>
        <p:spPr>
          <a:xfrm>
            <a:off x="4595774" y="2798064"/>
            <a:ext cx="3023006" cy="292608"/>
          </a:xfrm>
          <a:prstGeom prst="rect">
            <a:avLst/>
          </a:prstGeom>
          <a:noFill/>
          <a:ln/>
        </p:spPr>
        <p:txBody>
          <a:bodyPr wrap="square" lIns="0" tIns="0" rIns="0" bIns="0" rtlCol="0" anchor="ctr"/>
          <a:lstStyle/>
          <a:p>
            <a:pPr indent="0" marL="0">
              <a:buNone/>
            </a:pPr>
            <a:r>
              <a:rPr lang="en-US" sz="1450" b="1" dirty="0">
                <a:solidFill>
                  <a:srgbClr val="4CC3EA"/>
                </a:solidFill>
                <a:latin typeface="Calibri" pitchFamily="34" charset="0"/>
                <a:ea typeface="Calibri" pitchFamily="34" charset="-122"/>
                <a:cs typeface="Calibri" pitchFamily="34" charset="-120"/>
              </a:rPr>
              <a:t>Basitleştirilmiş</a:t>
            </a:r>
            <a:endParaRPr lang="en-US" sz="1450" dirty="0"/>
          </a:p>
        </p:txBody>
      </p:sp>
      <p:sp>
        <p:nvSpPr>
          <p:cNvPr id="10" name="Text 8"/>
          <p:cNvSpPr txBox="1"/>
          <p:nvPr/>
        </p:nvSpPr>
        <p:spPr>
          <a:xfrm>
            <a:off x="4595774" y="3145536"/>
            <a:ext cx="3004718" cy="365760"/>
          </a:xfrm>
          <a:prstGeom prst="rect">
            <a:avLst/>
          </a:prstGeom>
          <a:noFill/>
          <a:ln/>
        </p:spPr>
        <p:txBody>
          <a:bodyPr wrap="square" lIns="0" tIns="0" rIns="0" bIns="0" rtlCol="0" anchor="ctr"/>
          <a:lstStyle/>
          <a:p>
            <a:pPr indent="0" marL="0">
              <a:lnSpc>
                <a:spcPts val="1400"/>
              </a:lnSpc>
              <a:buNone/>
            </a:pPr>
            <a:r>
              <a:rPr lang="en-US" sz="1100" dirty="0">
                <a:solidFill>
                  <a:srgbClr val="A9BCCB"/>
                </a:solidFill>
                <a:latin typeface="Calibri" pitchFamily="34" charset="0"/>
                <a:ea typeface="Calibri" pitchFamily="34" charset="-122"/>
                <a:cs typeface="Calibri" pitchFamily="34" charset="-120"/>
              </a:rPr>
              <a:t>Doğru ama eksiltilmiş anlatım</a:t>
            </a:r>
            <a:endParaRPr lang="en-US" sz="1100" dirty="0"/>
          </a:p>
        </p:txBody>
      </p:sp>
      <p:sp>
        <p:nvSpPr>
          <p:cNvPr id="11" name="Shape 9"/>
          <p:cNvSpPr/>
          <p:nvPr/>
        </p:nvSpPr>
        <p:spPr>
          <a:xfrm>
            <a:off x="8112557" y="2615184"/>
            <a:ext cx="3480206" cy="1060704"/>
          </a:xfrm>
          <a:prstGeom prst="roundRect">
            <a:avLst>
              <a:gd name="adj" fmla="val 5172"/>
            </a:avLst>
          </a:prstGeom>
          <a:solidFill>
            <a:srgbClr val="121C2E">
              <a:alpha val="70000"/>
            </a:srgbClr>
          </a:solidFill>
          <a:ln w="12700">
            <a:solidFill>
              <a:srgbClr val="F0C68A"/>
            </a:solidFill>
            <a:prstDash val="solid"/>
          </a:ln>
        </p:spPr>
      </p:sp>
      <p:sp>
        <p:nvSpPr>
          <p:cNvPr id="12" name="Text 10"/>
          <p:cNvSpPr txBox="1"/>
          <p:nvPr/>
        </p:nvSpPr>
        <p:spPr>
          <a:xfrm>
            <a:off x="8368589" y="2798064"/>
            <a:ext cx="3023006" cy="292608"/>
          </a:xfrm>
          <a:prstGeom prst="rect">
            <a:avLst/>
          </a:prstGeom>
          <a:noFill/>
          <a:ln/>
        </p:spPr>
        <p:txBody>
          <a:bodyPr wrap="square" lIns="0" tIns="0" rIns="0" bIns="0" rtlCol="0" anchor="ctr"/>
          <a:lstStyle/>
          <a:p>
            <a:pPr indent="0" marL="0">
              <a:buNone/>
            </a:pPr>
            <a:r>
              <a:rPr lang="en-US" sz="1450" b="1" dirty="0">
                <a:solidFill>
                  <a:srgbClr val="F0C68A"/>
                </a:solidFill>
                <a:latin typeface="Calibri" pitchFamily="34" charset="0"/>
                <a:ea typeface="Calibri" pitchFamily="34" charset="-122"/>
                <a:cs typeface="Calibri" pitchFamily="34" charset="-120"/>
              </a:rPr>
              <a:t>Eksik</a:t>
            </a:r>
            <a:endParaRPr lang="en-US" sz="1450" dirty="0"/>
          </a:p>
        </p:txBody>
      </p:sp>
      <p:sp>
        <p:nvSpPr>
          <p:cNvPr id="13" name="Text 11"/>
          <p:cNvSpPr txBox="1"/>
          <p:nvPr/>
        </p:nvSpPr>
        <p:spPr>
          <a:xfrm>
            <a:off x="8368589" y="3145536"/>
            <a:ext cx="3004718" cy="365760"/>
          </a:xfrm>
          <a:prstGeom prst="rect">
            <a:avLst/>
          </a:prstGeom>
          <a:noFill/>
          <a:ln/>
        </p:spPr>
        <p:txBody>
          <a:bodyPr wrap="square" lIns="0" tIns="0" rIns="0" bIns="0" rtlCol="0" anchor="ctr"/>
          <a:lstStyle/>
          <a:p>
            <a:pPr indent="0" marL="0">
              <a:lnSpc>
                <a:spcPts val="1400"/>
              </a:lnSpc>
              <a:buNone/>
            </a:pPr>
            <a:r>
              <a:rPr lang="en-US" sz="1100" dirty="0">
                <a:solidFill>
                  <a:srgbClr val="A9BCCB"/>
                </a:solidFill>
                <a:latin typeface="Calibri" pitchFamily="34" charset="0"/>
                <a:ea typeface="Calibri" pitchFamily="34" charset="-122"/>
                <a:cs typeface="Calibri" pitchFamily="34" charset="-120"/>
              </a:rPr>
              <a:t>Önemli bir parça anlatılmamış</a:t>
            </a:r>
            <a:endParaRPr lang="en-US" sz="1100" dirty="0"/>
          </a:p>
        </p:txBody>
      </p:sp>
      <p:sp>
        <p:nvSpPr>
          <p:cNvPr id="14" name="Shape 12"/>
          <p:cNvSpPr/>
          <p:nvPr/>
        </p:nvSpPr>
        <p:spPr>
          <a:xfrm>
            <a:off x="566928" y="3895344"/>
            <a:ext cx="3480206" cy="1060704"/>
          </a:xfrm>
          <a:prstGeom prst="roundRect">
            <a:avLst>
              <a:gd name="adj" fmla="val 5172"/>
            </a:avLst>
          </a:prstGeom>
          <a:solidFill>
            <a:srgbClr val="121C2E">
              <a:alpha val="70000"/>
            </a:srgbClr>
          </a:solidFill>
          <a:ln w="12700">
            <a:solidFill>
              <a:srgbClr val="F0C68A"/>
            </a:solidFill>
            <a:prstDash val="solid"/>
          </a:ln>
        </p:spPr>
      </p:sp>
      <p:sp>
        <p:nvSpPr>
          <p:cNvPr id="15" name="Text 13"/>
          <p:cNvSpPr txBox="1"/>
          <p:nvPr/>
        </p:nvSpPr>
        <p:spPr>
          <a:xfrm>
            <a:off x="822960" y="4078224"/>
            <a:ext cx="3023006" cy="292608"/>
          </a:xfrm>
          <a:prstGeom prst="rect">
            <a:avLst/>
          </a:prstGeom>
          <a:noFill/>
          <a:ln/>
        </p:spPr>
        <p:txBody>
          <a:bodyPr wrap="square" lIns="0" tIns="0" rIns="0" bIns="0" rtlCol="0" anchor="ctr"/>
          <a:lstStyle/>
          <a:p>
            <a:pPr indent="0" marL="0">
              <a:buNone/>
            </a:pPr>
            <a:r>
              <a:rPr lang="en-US" sz="1450" b="1" dirty="0">
                <a:solidFill>
                  <a:srgbClr val="F0C68A"/>
                </a:solidFill>
                <a:latin typeface="Calibri" pitchFamily="34" charset="0"/>
                <a:ea typeface="Calibri" pitchFamily="34" charset="-122"/>
                <a:cs typeface="Calibri" pitchFamily="34" charset="-120"/>
              </a:rPr>
              <a:t>Yanıltıcı olabilir</a:t>
            </a:r>
            <a:endParaRPr lang="en-US" sz="1450" dirty="0"/>
          </a:p>
        </p:txBody>
      </p:sp>
      <p:sp>
        <p:nvSpPr>
          <p:cNvPr id="16" name="Text 14"/>
          <p:cNvSpPr txBox="1"/>
          <p:nvPr/>
        </p:nvSpPr>
        <p:spPr>
          <a:xfrm>
            <a:off x="822960" y="4425696"/>
            <a:ext cx="3004718" cy="365760"/>
          </a:xfrm>
          <a:prstGeom prst="rect">
            <a:avLst/>
          </a:prstGeom>
          <a:noFill/>
          <a:ln/>
        </p:spPr>
        <p:txBody>
          <a:bodyPr wrap="square" lIns="0" tIns="0" rIns="0" bIns="0" rtlCol="0" anchor="ctr"/>
          <a:lstStyle/>
          <a:p>
            <a:pPr indent="0" marL="0">
              <a:lnSpc>
                <a:spcPts val="1400"/>
              </a:lnSpc>
              <a:buNone/>
            </a:pPr>
            <a:r>
              <a:rPr lang="en-US" sz="1100" dirty="0">
                <a:solidFill>
                  <a:srgbClr val="A9BCCB"/>
                </a:solidFill>
                <a:latin typeface="Calibri" pitchFamily="34" charset="0"/>
                <a:ea typeface="Calibri" pitchFamily="34" charset="-122"/>
                <a:cs typeface="Calibri" pitchFamily="34" charset="-120"/>
              </a:rPr>
              <a:t>Yanlış bir çıkarıma açık</a:t>
            </a:r>
            <a:endParaRPr lang="en-US" sz="1100" dirty="0"/>
          </a:p>
        </p:txBody>
      </p:sp>
      <p:sp>
        <p:nvSpPr>
          <p:cNvPr id="17" name="Shape 15"/>
          <p:cNvSpPr/>
          <p:nvPr/>
        </p:nvSpPr>
        <p:spPr>
          <a:xfrm>
            <a:off x="4339742" y="3895344"/>
            <a:ext cx="3480206" cy="1060704"/>
          </a:xfrm>
          <a:prstGeom prst="roundRect">
            <a:avLst>
              <a:gd name="adj" fmla="val 5172"/>
            </a:avLst>
          </a:prstGeom>
          <a:solidFill>
            <a:srgbClr val="121C2E">
              <a:alpha val="70000"/>
            </a:srgbClr>
          </a:solidFill>
          <a:ln w="12700">
            <a:solidFill>
              <a:srgbClr val="FF9E9E"/>
            </a:solidFill>
            <a:prstDash val="solid"/>
          </a:ln>
        </p:spPr>
      </p:sp>
      <p:sp>
        <p:nvSpPr>
          <p:cNvPr id="18" name="Text 16"/>
          <p:cNvSpPr txBox="1"/>
          <p:nvPr/>
        </p:nvSpPr>
        <p:spPr>
          <a:xfrm>
            <a:off x="4595774" y="4078224"/>
            <a:ext cx="3023006" cy="292608"/>
          </a:xfrm>
          <a:prstGeom prst="rect">
            <a:avLst/>
          </a:prstGeom>
          <a:noFill/>
          <a:ln/>
        </p:spPr>
        <p:txBody>
          <a:bodyPr wrap="square" lIns="0" tIns="0" rIns="0" bIns="0" rtlCol="0" anchor="ctr"/>
          <a:lstStyle/>
          <a:p>
            <a:pPr indent="0" marL="0">
              <a:buNone/>
            </a:pPr>
            <a:r>
              <a:rPr lang="en-US" sz="1450" b="1" dirty="0">
                <a:solidFill>
                  <a:srgbClr val="FF9E9E"/>
                </a:solidFill>
                <a:latin typeface="Calibri" pitchFamily="34" charset="0"/>
                <a:ea typeface="Calibri" pitchFamily="34" charset="-122"/>
                <a:cs typeface="Calibri" pitchFamily="34" charset="-120"/>
              </a:rPr>
              <a:t>Yanlış olabilir</a:t>
            </a:r>
            <a:endParaRPr lang="en-US" sz="1450" dirty="0"/>
          </a:p>
        </p:txBody>
      </p:sp>
      <p:sp>
        <p:nvSpPr>
          <p:cNvPr id="19" name="Text 17"/>
          <p:cNvSpPr txBox="1"/>
          <p:nvPr/>
        </p:nvSpPr>
        <p:spPr>
          <a:xfrm>
            <a:off x="4595774" y="4425696"/>
            <a:ext cx="3004718" cy="365760"/>
          </a:xfrm>
          <a:prstGeom prst="rect">
            <a:avLst/>
          </a:prstGeom>
          <a:noFill/>
          <a:ln/>
        </p:spPr>
        <p:txBody>
          <a:bodyPr wrap="square" lIns="0" tIns="0" rIns="0" bIns="0" rtlCol="0" anchor="ctr"/>
          <a:lstStyle/>
          <a:p>
            <a:pPr indent="0" marL="0">
              <a:lnSpc>
                <a:spcPts val="1400"/>
              </a:lnSpc>
              <a:buNone/>
            </a:pPr>
            <a:r>
              <a:rPr lang="en-US" sz="1100" dirty="0">
                <a:solidFill>
                  <a:srgbClr val="A9BCCB"/>
                </a:solidFill>
                <a:latin typeface="Calibri" pitchFamily="34" charset="0"/>
                <a:ea typeface="Calibri" pitchFamily="34" charset="-122"/>
                <a:cs typeface="Calibri" pitchFamily="34" charset="-120"/>
              </a:rPr>
              <a:t>Standart kaynaklarla çelişiyor</a:t>
            </a:r>
            <a:endParaRPr lang="en-US" sz="1100" dirty="0"/>
          </a:p>
        </p:txBody>
      </p:sp>
      <p:sp>
        <p:nvSpPr>
          <p:cNvPr id="20" name="Shape 18"/>
          <p:cNvSpPr/>
          <p:nvPr/>
        </p:nvSpPr>
        <p:spPr>
          <a:xfrm>
            <a:off x="8112557" y="3895344"/>
            <a:ext cx="3480206" cy="1060704"/>
          </a:xfrm>
          <a:prstGeom prst="roundRect">
            <a:avLst>
              <a:gd name="adj" fmla="val 5172"/>
            </a:avLst>
          </a:prstGeom>
          <a:solidFill>
            <a:srgbClr val="121C2E">
              <a:alpha val="70000"/>
            </a:srgbClr>
          </a:solidFill>
          <a:ln w="12700">
            <a:solidFill>
              <a:srgbClr val="B8A8FF"/>
            </a:solidFill>
            <a:prstDash val="solid"/>
          </a:ln>
        </p:spPr>
      </p:sp>
      <p:sp>
        <p:nvSpPr>
          <p:cNvPr id="21" name="Text 19"/>
          <p:cNvSpPr txBox="1"/>
          <p:nvPr/>
        </p:nvSpPr>
        <p:spPr>
          <a:xfrm>
            <a:off x="8368589" y="4078224"/>
            <a:ext cx="3023006" cy="292608"/>
          </a:xfrm>
          <a:prstGeom prst="rect">
            <a:avLst/>
          </a:prstGeom>
          <a:noFill/>
          <a:ln/>
        </p:spPr>
        <p:txBody>
          <a:bodyPr wrap="square" lIns="0" tIns="0" rIns="0" bIns="0" rtlCol="0" anchor="ctr"/>
          <a:lstStyle/>
          <a:p>
            <a:pPr indent="0" marL="0">
              <a:buNone/>
            </a:pPr>
            <a:r>
              <a:rPr lang="en-US" sz="1450" b="1" dirty="0">
                <a:solidFill>
                  <a:srgbClr val="B8A8FF"/>
                </a:solidFill>
                <a:latin typeface="Calibri" pitchFamily="34" charset="0"/>
                <a:ea typeface="Calibri" pitchFamily="34" charset="-122"/>
                <a:cs typeface="Calibri" pitchFamily="34" charset="-120"/>
              </a:rPr>
              <a:t>Terminoloji farkı</a:t>
            </a:r>
            <a:endParaRPr lang="en-US" sz="1450" dirty="0"/>
          </a:p>
        </p:txBody>
      </p:sp>
      <p:sp>
        <p:nvSpPr>
          <p:cNvPr id="22" name="Text 20"/>
          <p:cNvSpPr txBox="1"/>
          <p:nvPr/>
        </p:nvSpPr>
        <p:spPr>
          <a:xfrm>
            <a:off x="8368589" y="4425696"/>
            <a:ext cx="3004718" cy="365760"/>
          </a:xfrm>
          <a:prstGeom prst="rect">
            <a:avLst/>
          </a:prstGeom>
          <a:noFill/>
          <a:ln/>
        </p:spPr>
        <p:txBody>
          <a:bodyPr wrap="square" lIns="0" tIns="0" rIns="0" bIns="0" rtlCol="0" anchor="ctr"/>
          <a:lstStyle/>
          <a:p>
            <a:pPr indent="0" marL="0">
              <a:lnSpc>
                <a:spcPts val="1400"/>
              </a:lnSpc>
              <a:buNone/>
            </a:pPr>
            <a:r>
              <a:rPr lang="en-US" sz="1100" dirty="0">
                <a:solidFill>
                  <a:srgbClr val="A9BCCB"/>
                </a:solidFill>
                <a:latin typeface="Calibri" pitchFamily="34" charset="0"/>
                <a:ea typeface="Calibri" pitchFamily="34" charset="-122"/>
                <a:cs typeface="Calibri" pitchFamily="34" charset="-120"/>
              </a:rPr>
              <a:t>Aynı şey, başka adlandırma</a:t>
            </a:r>
            <a:endParaRPr lang="en-US" sz="1100" dirty="0"/>
          </a:p>
        </p:txBody>
      </p:sp>
      <p:sp>
        <p:nvSpPr>
          <p:cNvPr id="23" name="Shape 21"/>
          <p:cNvSpPr/>
          <p:nvPr/>
        </p:nvSpPr>
        <p:spPr>
          <a:xfrm>
            <a:off x="566928" y="5193792"/>
            <a:ext cx="11027664" cy="896112"/>
          </a:xfrm>
          <a:prstGeom prst="roundRect">
            <a:avLst>
              <a:gd name="adj" fmla="val 6122"/>
            </a:avLst>
          </a:prstGeom>
          <a:solidFill>
            <a:srgbClr val="121C2E">
              <a:alpha val="74000"/>
            </a:srgbClr>
          </a:solidFill>
          <a:ln w="12700">
            <a:solidFill>
              <a:srgbClr val="24384B"/>
            </a:solidFill>
            <a:prstDash val="solid"/>
          </a:ln>
        </p:spPr>
      </p:sp>
      <p:sp>
        <p:nvSpPr>
          <p:cNvPr id="24" name="Text 22"/>
          <p:cNvSpPr txBox="1"/>
          <p:nvPr/>
        </p:nvSpPr>
        <p:spPr>
          <a:xfrm>
            <a:off x="841248" y="5193792"/>
            <a:ext cx="10515600" cy="896112"/>
          </a:xfrm>
          <a:prstGeom prst="rect">
            <a:avLst/>
          </a:prstGeom>
          <a:noFill/>
          <a:ln/>
        </p:spPr>
        <p:txBody>
          <a:bodyPr wrap="square" lIns="0" tIns="0" rIns="0" bIns="0" rtlCol="0" anchor="ctr"/>
          <a:lstStyle/>
          <a:p>
            <a:pPr indent="0" marL="0">
              <a:lnSpc>
                <a:spcPts val="1700"/>
              </a:lnSpc>
              <a:buNone/>
            </a:pPr>
            <a:r>
              <a:rPr lang="en-US" sz="1200" dirty="0">
                <a:solidFill>
                  <a:srgbClr val="A9BCCB"/>
                </a:solidFill>
                <a:latin typeface="Calibri" pitchFamily="34" charset="0"/>
                <a:ea typeface="Calibri" pitchFamily="34" charset="-122"/>
                <a:cs typeface="Calibri" pitchFamily="34" charset="-120"/>
              </a:rPr>
              <a:t>Her bulgu geldiği sayfayı, açıklamasını, standart kaynakların ne dediğini ve destek düzeyini sözle taşır. Modelin söylediği ama kanıtın içermediği bir sayfa, güvenilmek yerine “sayfa doğrulanamadı” olarak gösterilir.</a:t>
            </a:r>
            <a:endParaRPr lang="en-US" sz="1200" dirty="0"/>
          </a:p>
        </p:txBody>
      </p:sp>
      <p:sp>
        <p:nvSpPr>
          <p:cNvPr id="25" name="Text 23"/>
          <p:cNvSpPr txBox="1"/>
          <p:nvPr/>
        </p:nvSpPr>
        <p:spPr>
          <a:xfrm>
            <a:off x="566928" y="6382512"/>
            <a:ext cx="2377440" cy="237744"/>
          </a:xfrm>
          <a:prstGeom prst="rect">
            <a:avLst/>
          </a:prstGeom>
          <a:noFill/>
          <a:ln/>
        </p:spPr>
        <p:txBody>
          <a:bodyPr wrap="square" lIns="0" tIns="0" rIns="0" bIns="0" rtlCol="0" anchor="ctr"/>
          <a:lstStyle/>
          <a:p>
            <a:pPr indent="0" marL="0">
              <a:buNone/>
            </a:pPr>
            <a:r>
              <a:rPr lang="en-US" sz="850" spc="220" kern="0" dirty="0">
                <a:solidFill>
                  <a:srgbClr val="43566A"/>
                </a:solidFill>
                <a:latin typeface="Calibri" pitchFamily="34" charset="0"/>
                <a:ea typeface="Calibri" pitchFamily="34" charset="-122"/>
                <a:cs typeface="Calibri" pitchFamily="34" charset="-120"/>
              </a:rPr>
              <a:t>TIP AKADEMİSİ</a:t>
            </a:r>
            <a:endParaRPr lang="en-US" sz="850" dirty="0"/>
          </a:p>
        </p:txBody>
      </p:sp>
      <p:sp>
        <p:nvSpPr>
          <p:cNvPr id="26" name="Text 24"/>
          <p:cNvSpPr txBox="1"/>
          <p:nvPr/>
        </p:nvSpPr>
        <p:spPr>
          <a:xfrm>
            <a:off x="8229600" y="6382512"/>
            <a:ext cx="3364992" cy="237744"/>
          </a:xfrm>
          <a:prstGeom prst="rect">
            <a:avLst/>
          </a:prstGeom>
          <a:noFill/>
          <a:ln/>
        </p:spPr>
        <p:txBody>
          <a:bodyPr wrap="square" lIns="0" tIns="0" rIns="0" bIns="0" rtlCol="0" anchor="ctr"/>
          <a:lstStyle/>
          <a:p>
            <a:pPr algn="r" indent="0" marL="0">
              <a:buNone/>
            </a:pPr>
            <a:r>
              <a:rPr lang="en-US" sz="850" spc="220" kern="0" dirty="0">
                <a:solidFill>
                  <a:srgbClr val="43566A"/>
                </a:solidFill>
                <a:latin typeface="Calibri" pitchFamily="34" charset="0"/>
                <a:ea typeface="Calibri" pitchFamily="34" charset="-122"/>
                <a:cs typeface="Calibri" pitchFamily="34" charset="-120"/>
              </a:rPr>
              <a:t>12  ·  Ders materyali</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035040" y="2286000"/>
            <a:ext cx="1828800" cy="1097280"/>
          </a:xfrm>
          <a:prstGeom prst="rect">
            <a:avLst/>
          </a:prstGeom>
          <a:noFill/>
          <a:ln/>
        </p:spPr>
        <p:txBody>
          <a:bodyPr wrap="square" lIns="0" tIns="0" rIns="0" bIns="0" rtlCol="0" anchor="ctr"/>
          <a:lstStyle/>
          <a:p>
            <a:pPr indent="0" marL="0">
              <a:buNone/>
            </a:pPr>
            <a:r>
              <a:rPr lang="en-US" sz="7400" b="1" dirty="0">
                <a:solidFill>
                  <a:srgbClr val="1B7BA0"/>
                </a:solidFill>
                <a:latin typeface="Calibri" pitchFamily="34" charset="0"/>
                <a:ea typeface="Calibri" pitchFamily="34" charset="-122"/>
                <a:cs typeface="Calibri" pitchFamily="34" charset="-120"/>
              </a:rPr>
              <a:t>III</a:t>
            </a:r>
            <a:endParaRPr lang="en-US" sz="7400" dirty="0"/>
          </a:p>
        </p:txBody>
      </p:sp>
      <p:sp>
        <p:nvSpPr>
          <p:cNvPr id="3" name="Text 1"/>
          <p:cNvSpPr txBox="1"/>
          <p:nvPr/>
        </p:nvSpPr>
        <p:spPr>
          <a:xfrm>
            <a:off x="6053328" y="3456432"/>
            <a:ext cx="7680960" cy="237744"/>
          </a:xfrm>
          <a:prstGeom prst="rect">
            <a:avLst/>
          </a:prstGeom>
          <a:noFill/>
          <a:ln/>
        </p:spPr>
        <p:txBody>
          <a:bodyPr wrap="square" lIns="0" tIns="0" rIns="0" bIns="0" rtlCol="0" anchor="ctr"/>
          <a:lstStyle/>
          <a:p>
            <a:pPr indent="0" marL="0">
              <a:buNone/>
            </a:pPr>
            <a:r>
              <a:rPr lang="en-US" sz="1000" b="1" spc="340" kern="0" dirty="0">
                <a:solidFill>
                  <a:srgbClr val="4CC3EA"/>
                </a:solidFill>
                <a:latin typeface="Calibri" pitchFamily="34" charset="0"/>
                <a:ea typeface="Calibri" pitchFamily="34" charset="-122"/>
                <a:cs typeface="Calibri" pitchFamily="34" charset="-120"/>
              </a:rPr>
              <a:t>BÖLÜM ÜÇ</a:t>
            </a:r>
            <a:endParaRPr lang="en-US" sz="1000" dirty="0"/>
          </a:p>
        </p:txBody>
      </p:sp>
      <p:sp>
        <p:nvSpPr>
          <p:cNvPr id="4" name="Text 2"/>
          <p:cNvSpPr txBox="1"/>
          <p:nvPr/>
        </p:nvSpPr>
        <p:spPr>
          <a:xfrm>
            <a:off x="6035040" y="3712464"/>
            <a:ext cx="5577840" cy="868680"/>
          </a:xfrm>
          <a:prstGeom prst="rect">
            <a:avLst/>
          </a:prstGeom>
          <a:noFill/>
          <a:ln/>
        </p:spPr>
        <p:txBody>
          <a:bodyPr wrap="square" lIns="0" tIns="0" rIns="0" bIns="0" rtlCol="0" anchor="ctr"/>
          <a:lstStyle/>
          <a:p>
            <a:pPr indent="0" marL="0">
              <a:buNone/>
            </a:pPr>
            <a:r>
              <a:rPr lang="en-US" sz="3800" spc="40" kern="0" dirty="0">
                <a:solidFill>
                  <a:srgbClr val="E9F2F8"/>
                </a:solidFill>
                <a:latin typeface="Calibri" pitchFamily="34" charset="0"/>
                <a:ea typeface="Calibri" pitchFamily="34" charset="-122"/>
                <a:cs typeface="Calibri" pitchFamily="34" charset="-120"/>
              </a:rPr>
              <a:t>Sorular ve sınavlar</a:t>
            </a:r>
            <a:endParaRPr lang="en-US" sz="3800" dirty="0"/>
          </a:p>
        </p:txBody>
      </p:sp>
      <p:sp>
        <p:nvSpPr>
          <p:cNvPr id="5" name="Text 3"/>
          <p:cNvSpPr txBox="1"/>
          <p:nvPr/>
        </p:nvSpPr>
        <p:spPr>
          <a:xfrm>
            <a:off x="6053328" y="4590288"/>
            <a:ext cx="5394960" cy="822960"/>
          </a:xfrm>
          <a:prstGeom prst="rect">
            <a:avLst/>
          </a:prstGeom>
          <a:noFill/>
          <a:ln/>
        </p:spPr>
        <p:txBody>
          <a:bodyPr wrap="square" lIns="0" tIns="0" rIns="0" bIns="0" rtlCol="0" anchor="t"/>
          <a:lstStyle/>
          <a:p>
            <a:pPr indent="0" marL="0">
              <a:lnSpc>
                <a:spcPts val="2200"/>
              </a:lnSpc>
              <a:buNone/>
            </a:pPr>
            <a:r>
              <a:rPr lang="en-US" sz="1350" dirty="0">
                <a:solidFill>
                  <a:srgbClr val="A9BCCB"/>
                </a:solidFill>
                <a:latin typeface="Calibri" pitchFamily="34" charset="0"/>
                <a:ea typeface="Calibri" pitchFamily="34" charset="-122"/>
                <a:cs typeface="Calibri" pitchFamily="34" charset="-120"/>
              </a:rPr>
              <a:t>Üretim modele, eleme koda aittir. Bir soru, deterministik kod onu geçirmeden öğrenciye gösterilmez.</a:t>
            </a:r>
            <a:endParaRPr lang="en-US" sz="1350" dirty="0"/>
          </a:p>
        </p:txBody>
      </p:sp>
      <p:sp>
        <p:nvSpPr>
          <p:cNvPr id="6" name="Text 4"/>
          <p:cNvSpPr txBox="1"/>
          <p:nvPr/>
        </p:nvSpPr>
        <p:spPr>
          <a:xfrm>
            <a:off x="566928" y="6382512"/>
            <a:ext cx="2377440" cy="237744"/>
          </a:xfrm>
          <a:prstGeom prst="rect">
            <a:avLst/>
          </a:prstGeom>
          <a:noFill/>
          <a:ln/>
        </p:spPr>
        <p:txBody>
          <a:bodyPr wrap="square" lIns="0" tIns="0" rIns="0" bIns="0" rtlCol="0" anchor="ctr"/>
          <a:lstStyle/>
          <a:p>
            <a:pPr indent="0" marL="0">
              <a:buNone/>
            </a:pPr>
            <a:r>
              <a:rPr lang="en-US" sz="850" spc="220" kern="0" dirty="0">
                <a:solidFill>
                  <a:srgbClr val="43566A"/>
                </a:solidFill>
                <a:latin typeface="Calibri" pitchFamily="34" charset="0"/>
                <a:ea typeface="Calibri" pitchFamily="34" charset="-122"/>
                <a:cs typeface="Calibri" pitchFamily="34" charset="-120"/>
              </a:rPr>
              <a:t>TIP AKADEMİSİ</a:t>
            </a:r>
            <a:endParaRPr lang="en-US" sz="850" dirty="0"/>
          </a:p>
        </p:txBody>
      </p:sp>
      <p:sp>
        <p:nvSpPr>
          <p:cNvPr id="7" name="Text 5"/>
          <p:cNvSpPr txBox="1"/>
          <p:nvPr/>
        </p:nvSpPr>
        <p:spPr>
          <a:xfrm>
            <a:off x="8229600" y="6382512"/>
            <a:ext cx="3364992" cy="237744"/>
          </a:xfrm>
          <a:prstGeom prst="rect">
            <a:avLst/>
          </a:prstGeom>
          <a:noFill/>
          <a:ln/>
        </p:spPr>
        <p:txBody>
          <a:bodyPr wrap="square" lIns="0" tIns="0" rIns="0" bIns="0" rtlCol="0" anchor="ctr"/>
          <a:lstStyle/>
          <a:p>
            <a:pPr algn="r" indent="0" marL="0">
              <a:buNone/>
            </a:pPr>
            <a:r>
              <a:rPr lang="en-US" sz="850" spc="220" kern="0" dirty="0">
                <a:solidFill>
                  <a:srgbClr val="43566A"/>
                </a:solidFill>
                <a:latin typeface="Calibri" pitchFamily="34" charset="0"/>
                <a:ea typeface="Calibri" pitchFamily="34" charset="-122"/>
                <a:cs typeface="Calibri" pitchFamily="34" charset="-120"/>
              </a:rPr>
              <a:t>13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66928" y="530352"/>
            <a:ext cx="7680960" cy="237744"/>
          </a:xfrm>
          <a:prstGeom prst="rect">
            <a:avLst/>
          </a:prstGeom>
          <a:noFill/>
          <a:ln/>
        </p:spPr>
        <p:txBody>
          <a:bodyPr wrap="square" lIns="0" tIns="0" rIns="0" bIns="0" rtlCol="0" anchor="ctr"/>
          <a:lstStyle/>
          <a:p>
            <a:pPr indent="0" marL="0">
              <a:buNone/>
            </a:pPr>
            <a:r>
              <a:rPr lang="en-US" sz="1000" b="1" spc="340" kern="0" dirty="0">
                <a:solidFill>
                  <a:srgbClr val="4CC3EA"/>
                </a:solidFill>
                <a:latin typeface="Calibri" pitchFamily="34" charset="0"/>
                <a:ea typeface="Calibri" pitchFamily="34" charset="-122"/>
                <a:cs typeface="Calibri" pitchFamily="34" charset="-120"/>
              </a:rPr>
              <a:t>SORULAR</a:t>
            </a:r>
            <a:endParaRPr lang="en-US" sz="1000" dirty="0"/>
          </a:p>
        </p:txBody>
      </p:sp>
      <p:sp>
        <p:nvSpPr>
          <p:cNvPr id="3" name="Text 1"/>
          <p:cNvSpPr txBox="1"/>
          <p:nvPr/>
        </p:nvSpPr>
        <p:spPr>
          <a:xfrm>
            <a:off x="548640" y="786384"/>
            <a:ext cx="9692640" cy="786384"/>
          </a:xfrm>
          <a:prstGeom prst="rect">
            <a:avLst/>
          </a:prstGeom>
          <a:noFill/>
          <a:ln/>
        </p:spPr>
        <p:txBody>
          <a:bodyPr wrap="square" lIns="0" tIns="0" rIns="0" bIns="0" rtlCol="0" anchor="t"/>
          <a:lstStyle/>
          <a:p>
            <a:pPr indent="0" marL="0">
              <a:buNone/>
            </a:pPr>
            <a:r>
              <a:rPr lang="en-US" sz="3100" spc="40" kern="0" dirty="0">
                <a:solidFill>
                  <a:srgbClr val="E9F2F8"/>
                </a:solidFill>
                <a:latin typeface="Calibri" pitchFamily="34" charset="0"/>
                <a:ea typeface="Calibri" pitchFamily="34" charset="-122"/>
                <a:cs typeface="Calibri" pitchFamily="34" charset="-120"/>
              </a:rPr>
              <a:t>Sınav kurma</a:t>
            </a:r>
            <a:endParaRPr lang="en-US" sz="3100" dirty="0"/>
          </a:p>
        </p:txBody>
      </p:sp>
      <p:sp>
        <p:nvSpPr>
          <p:cNvPr id="4" name="Text 2"/>
          <p:cNvSpPr txBox="1"/>
          <p:nvPr/>
        </p:nvSpPr>
        <p:spPr>
          <a:xfrm>
            <a:off x="566928" y="1389888"/>
            <a:ext cx="11027664" cy="310896"/>
          </a:xfrm>
          <a:prstGeom prst="rect">
            <a:avLst/>
          </a:prstGeom>
          <a:noFill/>
          <a:ln/>
        </p:spPr>
        <p:txBody>
          <a:bodyPr wrap="square" lIns="0" tIns="0" rIns="0" bIns="0" rtlCol="0" anchor="ctr"/>
          <a:lstStyle/>
          <a:p>
            <a:pPr indent="0" marL="0">
              <a:buNone/>
            </a:pPr>
            <a:r>
              <a:rPr lang="en-US" sz="1300" dirty="0">
                <a:solidFill>
                  <a:srgbClr val="A9BCCB"/>
                </a:solidFill>
                <a:latin typeface="Calibri" pitchFamily="34" charset="0"/>
                <a:ea typeface="Calibri" pitchFamily="34" charset="-122"/>
                <a:cs typeface="Calibri" pitchFamily="34" charset="-120"/>
              </a:rPr>
              <a:t>Soru sayısı, şık sayısı, zorluk, hoca tarzı, belge ve sayfa aralığı, süre — hepsi tek formda.</a:t>
            </a:r>
            <a:endParaRPr lang="en-US" sz="1300" dirty="0"/>
          </a:p>
        </p:txBody>
      </p:sp>
      <p:sp>
        <p:nvSpPr>
          <p:cNvPr id="5" name="Shape 3"/>
          <p:cNvSpPr/>
          <p:nvPr/>
        </p:nvSpPr>
        <p:spPr>
          <a:xfrm>
            <a:off x="1173175" y="1787652"/>
            <a:ext cx="9815429" cy="4050792"/>
          </a:xfrm>
          <a:prstGeom prst="roundRect">
            <a:avLst>
              <a:gd name="adj" fmla="val 903"/>
            </a:avLst>
          </a:prstGeom>
          <a:solidFill>
            <a:srgbClr val="1B7BA0">
              <a:alpha val="18000"/>
            </a:srgbClr>
          </a:solidFill>
          <a:ln w="12700">
            <a:solidFill>
              <a:srgbClr val="31506A"/>
            </a:solidFill>
            <a:prstDash val="solid"/>
          </a:ln>
        </p:spPr>
      </p:sp>
      <p:pic>
        <p:nvPicPr>
          <p:cNvPr id="6" name="Image 0" descr="img/shots/06_sinav.jpg">    </p:cNvPr>
          <p:cNvPicPr>
            <a:picLocks noChangeAspect="1"/>
          </p:cNvPicPr>
          <p:nvPr/>
        </p:nvPicPr>
        <p:blipFill>
          <a:blip r:embed="rId2"/>
          <a:stretch>
            <a:fillRect/>
          </a:stretch>
        </p:blipFill>
        <p:spPr>
          <a:xfrm>
            <a:off x="1214323" y="1828800"/>
            <a:ext cx="9733133" cy="3968496"/>
          </a:xfrm>
          <a:prstGeom prst="rect">
            <a:avLst/>
          </a:prstGeom>
        </p:spPr>
      </p:pic>
      <p:sp>
        <p:nvSpPr>
          <p:cNvPr id="7" name="Text 4"/>
          <p:cNvSpPr txBox="1"/>
          <p:nvPr/>
        </p:nvSpPr>
        <p:spPr>
          <a:xfrm>
            <a:off x="566928" y="5961888"/>
            <a:ext cx="11027664" cy="310896"/>
          </a:xfrm>
          <a:prstGeom prst="rect">
            <a:avLst/>
          </a:prstGeom>
          <a:noFill/>
          <a:ln/>
        </p:spPr>
        <p:txBody>
          <a:bodyPr wrap="square" lIns="0" tIns="0" rIns="0" bIns="0" rtlCol="0" anchor="ctr"/>
          <a:lstStyle/>
          <a:p>
            <a:pPr algn="ctr" indent="0" marL="0">
              <a:buNone/>
            </a:pPr>
            <a:r>
              <a:rPr lang="en-US" sz="1050" dirty="0">
                <a:solidFill>
                  <a:srgbClr val="6F8597"/>
                </a:solidFill>
                <a:latin typeface="Calibri" pitchFamily="34" charset="0"/>
                <a:ea typeface="Calibri" pitchFamily="34" charset="-122"/>
                <a:cs typeface="Calibri" pitchFamily="34" charset="-120"/>
              </a:rPr>
              <a:t>"Beni sına" yazmak da aynı kâğıdı kurar: cevaplar en sonda, sonuçlar önce yanlışlarla açılır.</a:t>
            </a:r>
            <a:endParaRPr lang="en-US" sz="1050" dirty="0"/>
          </a:p>
        </p:txBody>
      </p:sp>
      <p:sp>
        <p:nvSpPr>
          <p:cNvPr id="8" name="Text 5"/>
          <p:cNvSpPr txBox="1"/>
          <p:nvPr/>
        </p:nvSpPr>
        <p:spPr>
          <a:xfrm>
            <a:off x="566928" y="6382512"/>
            <a:ext cx="2377440" cy="237744"/>
          </a:xfrm>
          <a:prstGeom prst="rect">
            <a:avLst/>
          </a:prstGeom>
          <a:noFill/>
          <a:ln/>
        </p:spPr>
        <p:txBody>
          <a:bodyPr wrap="square" lIns="0" tIns="0" rIns="0" bIns="0" rtlCol="0" anchor="ctr"/>
          <a:lstStyle/>
          <a:p>
            <a:pPr indent="0" marL="0">
              <a:buNone/>
            </a:pPr>
            <a:r>
              <a:rPr lang="en-US" sz="850" spc="220" kern="0" dirty="0">
                <a:solidFill>
                  <a:srgbClr val="43566A"/>
                </a:solidFill>
                <a:latin typeface="Calibri" pitchFamily="34" charset="0"/>
                <a:ea typeface="Calibri" pitchFamily="34" charset="-122"/>
                <a:cs typeface="Calibri" pitchFamily="34" charset="-120"/>
              </a:rPr>
              <a:t>TIP AKADEMİSİ</a:t>
            </a:r>
            <a:endParaRPr lang="en-US" sz="850" dirty="0"/>
          </a:p>
        </p:txBody>
      </p:sp>
      <p:sp>
        <p:nvSpPr>
          <p:cNvPr id="9" name="Text 6"/>
          <p:cNvSpPr txBox="1"/>
          <p:nvPr/>
        </p:nvSpPr>
        <p:spPr>
          <a:xfrm>
            <a:off x="8229600" y="6382512"/>
            <a:ext cx="3364992" cy="237744"/>
          </a:xfrm>
          <a:prstGeom prst="rect">
            <a:avLst/>
          </a:prstGeom>
          <a:noFill/>
          <a:ln/>
        </p:spPr>
        <p:txBody>
          <a:bodyPr wrap="square" lIns="0" tIns="0" rIns="0" bIns="0" rtlCol="0" anchor="ctr"/>
          <a:lstStyle/>
          <a:p>
            <a:pPr algn="r" indent="0" marL="0">
              <a:buNone/>
            </a:pPr>
            <a:r>
              <a:rPr lang="en-US" sz="850" spc="220" kern="0" dirty="0">
                <a:solidFill>
                  <a:srgbClr val="43566A"/>
                </a:solidFill>
                <a:latin typeface="Calibri" pitchFamily="34" charset="0"/>
                <a:ea typeface="Calibri" pitchFamily="34" charset="-122"/>
                <a:cs typeface="Calibri" pitchFamily="34" charset="-120"/>
              </a:rPr>
              <a:t>14  ·  Sorular</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66928" y="566928"/>
            <a:ext cx="7680960" cy="237744"/>
          </a:xfrm>
          <a:prstGeom prst="rect">
            <a:avLst/>
          </a:prstGeom>
          <a:noFill/>
          <a:ln/>
        </p:spPr>
        <p:txBody>
          <a:bodyPr wrap="square" lIns="0" tIns="0" rIns="0" bIns="0" rtlCol="0" anchor="ctr"/>
          <a:lstStyle/>
          <a:p>
            <a:pPr indent="0" marL="0">
              <a:buNone/>
            </a:pPr>
            <a:r>
              <a:rPr lang="en-US" sz="1000" b="1" spc="340" kern="0" dirty="0">
                <a:solidFill>
                  <a:srgbClr val="4CC3EA"/>
                </a:solidFill>
                <a:latin typeface="Calibri" pitchFamily="34" charset="0"/>
                <a:ea typeface="Calibri" pitchFamily="34" charset="-122"/>
                <a:cs typeface="Calibri" pitchFamily="34" charset="-120"/>
              </a:rPr>
              <a:t>SORULAR</a:t>
            </a:r>
            <a:endParaRPr lang="en-US" sz="1000" dirty="0"/>
          </a:p>
        </p:txBody>
      </p:sp>
      <p:sp>
        <p:nvSpPr>
          <p:cNvPr id="3" name="Text 1"/>
          <p:cNvSpPr txBox="1"/>
          <p:nvPr/>
        </p:nvSpPr>
        <p:spPr>
          <a:xfrm>
            <a:off x="548640" y="841248"/>
            <a:ext cx="9144000" cy="786384"/>
          </a:xfrm>
          <a:prstGeom prst="rect">
            <a:avLst/>
          </a:prstGeom>
          <a:noFill/>
          <a:ln/>
        </p:spPr>
        <p:txBody>
          <a:bodyPr wrap="square" lIns="0" tIns="0" rIns="0" bIns="0" rtlCol="0" anchor="t"/>
          <a:lstStyle/>
          <a:p>
            <a:pPr indent="0" marL="0">
              <a:buNone/>
            </a:pPr>
            <a:r>
              <a:rPr lang="en-US" sz="3400" spc="40" kern="0" dirty="0">
                <a:solidFill>
                  <a:srgbClr val="E9F2F8"/>
                </a:solidFill>
                <a:latin typeface="Calibri" pitchFamily="34" charset="0"/>
                <a:ea typeface="Calibri" pitchFamily="34" charset="-122"/>
                <a:cs typeface="Calibri" pitchFamily="34" charset="-120"/>
              </a:rPr>
              <a:t>Deterministik kod neyi reddeder?</a:t>
            </a:r>
            <a:endParaRPr lang="en-US" sz="3400" dirty="0"/>
          </a:p>
        </p:txBody>
      </p:sp>
      <p:sp>
        <p:nvSpPr>
          <p:cNvPr id="4" name="Text 2"/>
          <p:cNvSpPr txBox="1"/>
          <p:nvPr/>
        </p:nvSpPr>
        <p:spPr>
          <a:xfrm>
            <a:off x="566928" y="1645920"/>
            <a:ext cx="10881360" cy="822960"/>
          </a:xfrm>
          <a:prstGeom prst="rect">
            <a:avLst/>
          </a:prstGeom>
          <a:noFill/>
          <a:ln/>
        </p:spPr>
        <p:txBody>
          <a:bodyPr wrap="square" lIns="0" tIns="0" rIns="0" bIns="0" rtlCol="0" anchor="t"/>
          <a:lstStyle/>
          <a:p>
            <a:pPr indent="0" marL="0">
              <a:lnSpc>
                <a:spcPts val="2200"/>
              </a:lnSpc>
              <a:buNone/>
            </a:pPr>
            <a:r>
              <a:rPr lang="en-US" sz="1400" dirty="0">
                <a:solidFill>
                  <a:srgbClr val="A9BCCB"/>
                </a:solidFill>
                <a:latin typeface="Calibri" pitchFamily="34" charset="0"/>
                <a:ea typeface="Calibri" pitchFamily="34" charset="-122"/>
                <a:cs typeface="Calibri" pitchFamily="34" charset="-120"/>
              </a:rPr>
              <a:t>Üretim gerekçelidir — ders kanıtı, küratörlü olgular, kavram ipuçları ve hoca yönergesi. Sonrasında elemeyi model değil, kod yapar.</a:t>
            </a:r>
            <a:endParaRPr lang="en-US" sz="1400" dirty="0"/>
          </a:p>
        </p:txBody>
      </p:sp>
      <p:sp>
        <p:nvSpPr>
          <p:cNvPr id="5" name="Text 3"/>
          <p:cNvSpPr txBox="1"/>
          <p:nvPr/>
        </p:nvSpPr>
        <p:spPr>
          <a:xfrm>
            <a:off x="566928" y="2432304"/>
            <a:ext cx="219456" cy="384048"/>
          </a:xfrm>
          <a:prstGeom prst="rect">
            <a:avLst/>
          </a:prstGeom>
          <a:noFill/>
          <a:ln/>
        </p:spPr>
        <p:txBody>
          <a:bodyPr wrap="square" lIns="0" tIns="0" rIns="0" bIns="0" rtlCol="0" anchor="ctr"/>
          <a:lstStyle/>
          <a:p>
            <a:pPr indent="0" marL="0">
              <a:buNone/>
            </a:pPr>
            <a:r>
              <a:rPr lang="en-US" sz="1100" dirty="0">
                <a:solidFill>
                  <a:srgbClr val="FF9E9E"/>
                </a:solidFill>
                <a:latin typeface="Calibri" pitchFamily="34" charset="0"/>
                <a:ea typeface="Calibri" pitchFamily="34" charset="-122"/>
                <a:cs typeface="Calibri" pitchFamily="34" charset="-120"/>
              </a:rPr>
              <a:t>—</a:t>
            </a:r>
            <a:endParaRPr lang="en-US" sz="1100" dirty="0"/>
          </a:p>
        </p:txBody>
      </p:sp>
      <p:sp>
        <p:nvSpPr>
          <p:cNvPr id="6" name="Text 4"/>
          <p:cNvSpPr txBox="1"/>
          <p:nvPr/>
        </p:nvSpPr>
        <p:spPr>
          <a:xfrm>
            <a:off x="841248" y="2432304"/>
            <a:ext cx="5120640" cy="384048"/>
          </a:xfrm>
          <a:prstGeom prst="rect">
            <a:avLst/>
          </a:prstGeom>
          <a:noFill/>
          <a:ln/>
        </p:spPr>
        <p:txBody>
          <a:bodyPr wrap="square" lIns="0" tIns="0" rIns="0" bIns="0" rtlCol="0" anchor="ctr"/>
          <a:lstStyle/>
          <a:p>
            <a:pPr indent="0" marL="0">
              <a:buNone/>
            </a:pPr>
            <a:r>
              <a:rPr lang="en-US" sz="1200" dirty="0">
                <a:solidFill>
                  <a:srgbClr val="A9BCCB"/>
                </a:solidFill>
                <a:latin typeface="Calibri" pitchFamily="34" charset="0"/>
                <a:ea typeface="Calibri" pitchFamily="34" charset="-122"/>
                <a:cs typeface="Calibri" pitchFamily="34" charset="-120"/>
              </a:rPr>
              <a:t>Kısa kökler ve yanlış şık sayısı</a:t>
            </a:r>
            <a:endParaRPr lang="en-US" sz="1200" dirty="0"/>
          </a:p>
        </p:txBody>
      </p:sp>
      <p:sp>
        <p:nvSpPr>
          <p:cNvPr id="7" name="Text 5"/>
          <p:cNvSpPr txBox="1"/>
          <p:nvPr/>
        </p:nvSpPr>
        <p:spPr>
          <a:xfrm>
            <a:off x="566928" y="2816352"/>
            <a:ext cx="219456" cy="384048"/>
          </a:xfrm>
          <a:prstGeom prst="rect">
            <a:avLst/>
          </a:prstGeom>
          <a:noFill/>
          <a:ln/>
        </p:spPr>
        <p:txBody>
          <a:bodyPr wrap="square" lIns="0" tIns="0" rIns="0" bIns="0" rtlCol="0" anchor="ctr"/>
          <a:lstStyle/>
          <a:p>
            <a:pPr indent="0" marL="0">
              <a:buNone/>
            </a:pPr>
            <a:r>
              <a:rPr lang="en-US" sz="1100" dirty="0">
                <a:solidFill>
                  <a:srgbClr val="FF9E9E"/>
                </a:solidFill>
                <a:latin typeface="Calibri" pitchFamily="34" charset="0"/>
                <a:ea typeface="Calibri" pitchFamily="34" charset="-122"/>
                <a:cs typeface="Calibri" pitchFamily="34" charset="-120"/>
              </a:rPr>
              <a:t>—</a:t>
            </a:r>
            <a:endParaRPr lang="en-US" sz="1100" dirty="0"/>
          </a:p>
        </p:txBody>
      </p:sp>
      <p:sp>
        <p:nvSpPr>
          <p:cNvPr id="8" name="Text 6"/>
          <p:cNvSpPr txBox="1"/>
          <p:nvPr/>
        </p:nvSpPr>
        <p:spPr>
          <a:xfrm>
            <a:off x="841248" y="2816352"/>
            <a:ext cx="5120640" cy="384048"/>
          </a:xfrm>
          <a:prstGeom prst="rect">
            <a:avLst/>
          </a:prstGeom>
          <a:noFill/>
          <a:ln/>
        </p:spPr>
        <p:txBody>
          <a:bodyPr wrap="square" lIns="0" tIns="0" rIns="0" bIns="0" rtlCol="0" anchor="ctr"/>
          <a:lstStyle/>
          <a:p>
            <a:pPr indent="0" marL="0">
              <a:buNone/>
            </a:pPr>
            <a:r>
              <a:rPr lang="en-US" sz="1200" dirty="0">
                <a:solidFill>
                  <a:srgbClr val="A9BCCB"/>
                </a:solidFill>
                <a:latin typeface="Calibri" pitchFamily="34" charset="0"/>
                <a:ea typeface="Calibri" pitchFamily="34" charset="-122"/>
                <a:cs typeface="Calibri" pitchFamily="34" charset="-120"/>
              </a:rPr>
              <a:t>Sırasız anahtarlar, yinelenen şıklar</a:t>
            </a:r>
            <a:endParaRPr lang="en-US" sz="1200" dirty="0"/>
          </a:p>
        </p:txBody>
      </p:sp>
      <p:sp>
        <p:nvSpPr>
          <p:cNvPr id="9" name="Text 7"/>
          <p:cNvSpPr txBox="1"/>
          <p:nvPr/>
        </p:nvSpPr>
        <p:spPr>
          <a:xfrm>
            <a:off x="566928" y="3200400"/>
            <a:ext cx="219456" cy="384048"/>
          </a:xfrm>
          <a:prstGeom prst="rect">
            <a:avLst/>
          </a:prstGeom>
          <a:noFill/>
          <a:ln/>
        </p:spPr>
        <p:txBody>
          <a:bodyPr wrap="square" lIns="0" tIns="0" rIns="0" bIns="0" rtlCol="0" anchor="ctr"/>
          <a:lstStyle/>
          <a:p>
            <a:pPr indent="0" marL="0">
              <a:buNone/>
            </a:pPr>
            <a:r>
              <a:rPr lang="en-US" sz="1100" dirty="0">
                <a:solidFill>
                  <a:srgbClr val="FF9E9E"/>
                </a:solidFill>
                <a:latin typeface="Calibri" pitchFamily="34" charset="0"/>
                <a:ea typeface="Calibri" pitchFamily="34" charset="-122"/>
                <a:cs typeface="Calibri" pitchFamily="34" charset="-120"/>
              </a:rPr>
              <a:t>—</a:t>
            </a:r>
            <a:endParaRPr lang="en-US" sz="1100" dirty="0"/>
          </a:p>
        </p:txBody>
      </p:sp>
      <p:sp>
        <p:nvSpPr>
          <p:cNvPr id="10" name="Text 8"/>
          <p:cNvSpPr txBox="1"/>
          <p:nvPr/>
        </p:nvSpPr>
        <p:spPr>
          <a:xfrm>
            <a:off x="841248" y="3200400"/>
            <a:ext cx="5120640" cy="384048"/>
          </a:xfrm>
          <a:prstGeom prst="rect">
            <a:avLst/>
          </a:prstGeom>
          <a:noFill/>
          <a:ln/>
        </p:spPr>
        <p:txBody>
          <a:bodyPr wrap="square" lIns="0" tIns="0" rIns="0" bIns="0" rtlCol="0" anchor="ctr"/>
          <a:lstStyle/>
          <a:p>
            <a:pPr indent="0" marL="0">
              <a:buNone/>
            </a:pPr>
            <a:r>
              <a:rPr lang="en-US" sz="1200" dirty="0">
                <a:solidFill>
                  <a:srgbClr val="A9BCCB"/>
                </a:solidFill>
                <a:latin typeface="Calibri" pitchFamily="34" charset="0"/>
                <a:ea typeface="Calibri" pitchFamily="34" charset="-122"/>
                <a:cs typeface="Calibri" pitchFamily="34" charset="-120"/>
              </a:rPr>
              <a:t>Çekimli hâlleriyle “hepsi / hiçbiri” şıkları</a:t>
            </a:r>
            <a:endParaRPr lang="en-US" sz="1200" dirty="0"/>
          </a:p>
        </p:txBody>
      </p:sp>
      <p:sp>
        <p:nvSpPr>
          <p:cNvPr id="11" name="Text 9"/>
          <p:cNvSpPr txBox="1"/>
          <p:nvPr/>
        </p:nvSpPr>
        <p:spPr>
          <a:xfrm>
            <a:off x="566928" y="3584448"/>
            <a:ext cx="219456" cy="384048"/>
          </a:xfrm>
          <a:prstGeom prst="rect">
            <a:avLst/>
          </a:prstGeom>
          <a:noFill/>
          <a:ln/>
        </p:spPr>
        <p:txBody>
          <a:bodyPr wrap="square" lIns="0" tIns="0" rIns="0" bIns="0" rtlCol="0" anchor="ctr"/>
          <a:lstStyle/>
          <a:p>
            <a:pPr indent="0" marL="0">
              <a:buNone/>
            </a:pPr>
            <a:r>
              <a:rPr lang="en-US" sz="1100" dirty="0">
                <a:solidFill>
                  <a:srgbClr val="FF9E9E"/>
                </a:solidFill>
                <a:latin typeface="Calibri" pitchFamily="34" charset="0"/>
                <a:ea typeface="Calibri" pitchFamily="34" charset="-122"/>
                <a:cs typeface="Calibri" pitchFamily="34" charset="-120"/>
              </a:rPr>
              <a:t>—</a:t>
            </a:r>
            <a:endParaRPr lang="en-US" sz="1100" dirty="0"/>
          </a:p>
        </p:txBody>
      </p:sp>
      <p:sp>
        <p:nvSpPr>
          <p:cNvPr id="12" name="Text 10"/>
          <p:cNvSpPr txBox="1"/>
          <p:nvPr/>
        </p:nvSpPr>
        <p:spPr>
          <a:xfrm>
            <a:off x="841248" y="3584448"/>
            <a:ext cx="5120640" cy="384048"/>
          </a:xfrm>
          <a:prstGeom prst="rect">
            <a:avLst/>
          </a:prstGeom>
          <a:noFill/>
          <a:ln/>
        </p:spPr>
        <p:txBody>
          <a:bodyPr wrap="square" lIns="0" tIns="0" rIns="0" bIns="0" rtlCol="0" anchor="ctr"/>
          <a:lstStyle/>
          <a:p>
            <a:pPr indent="0" marL="0">
              <a:buNone/>
            </a:pPr>
            <a:r>
              <a:rPr lang="en-US" sz="1200" dirty="0">
                <a:solidFill>
                  <a:srgbClr val="A9BCCB"/>
                </a:solidFill>
                <a:latin typeface="Calibri" pitchFamily="34" charset="0"/>
                <a:ea typeface="Calibri" pitchFamily="34" charset="-122"/>
                <a:cs typeface="Calibri" pitchFamily="34" charset="-120"/>
              </a:rPr>
              <a:t>Başka bir şıkkı harfle anan şıklar (“A ve B doğrudur”)</a:t>
            </a:r>
            <a:endParaRPr lang="en-US" sz="1200" dirty="0"/>
          </a:p>
        </p:txBody>
      </p:sp>
      <p:sp>
        <p:nvSpPr>
          <p:cNvPr id="13" name="Text 11"/>
          <p:cNvSpPr txBox="1"/>
          <p:nvPr/>
        </p:nvSpPr>
        <p:spPr>
          <a:xfrm>
            <a:off x="566928" y="3968496"/>
            <a:ext cx="219456" cy="384048"/>
          </a:xfrm>
          <a:prstGeom prst="rect">
            <a:avLst/>
          </a:prstGeom>
          <a:noFill/>
          <a:ln/>
        </p:spPr>
        <p:txBody>
          <a:bodyPr wrap="square" lIns="0" tIns="0" rIns="0" bIns="0" rtlCol="0" anchor="ctr"/>
          <a:lstStyle/>
          <a:p>
            <a:pPr indent="0" marL="0">
              <a:buNone/>
            </a:pPr>
            <a:r>
              <a:rPr lang="en-US" sz="1100" dirty="0">
                <a:solidFill>
                  <a:srgbClr val="FF9E9E"/>
                </a:solidFill>
                <a:latin typeface="Calibri" pitchFamily="34" charset="0"/>
                <a:ea typeface="Calibri" pitchFamily="34" charset="-122"/>
                <a:cs typeface="Calibri" pitchFamily="34" charset="-120"/>
              </a:rPr>
              <a:t>—</a:t>
            </a:r>
            <a:endParaRPr lang="en-US" sz="1100" dirty="0"/>
          </a:p>
        </p:txBody>
      </p:sp>
      <p:sp>
        <p:nvSpPr>
          <p:cNvPr id="14" name="Text 12"/>
          <p:cNvSpPr txBox="1"/>
          <p:nvPr/>
        </p:nvSpPr>
        <p:spPr>
          <a:xfrm>
            <a:off x="841248" y="3968496"/>
            <a:ext cx="5120640" cy="384048"/>
          </a:xfrm>
          <a:prstGeom prst="rect">
            <a:avLst/>
          </a:prstGeom>
          <a:noFill/>
          <a:ln/>
        </p:spPr>
        <p:txBody>
          <a:bodyPr wrap="square" lIns="0" tIns="0" rIns="0" bIns="0" rtlCol="0" anchor="ctr"/>
          <a:lstStyle/>
          <a:p>
            <a:pPr indent="0" marL="0">
              <a:buNone/>
            </a:pPr>
            <a:r>
              <a:rPr lang="en-US" sz="1200" dirty="0">
                <a:solidFill>
                  <a:srgbClr val="A9BCCB"/>
                </a:solidFill>
                <a:latin typeface="Calibri" pitchFamily="34" charset="0"/>
                <a:ea typeface="Calibri" pitchFamily="34" charset="-122"/>
                <a:cs typeface="Calibri" pitchFamily="34" charset="-120"/>
              </a:rPr>
              <a:t>Eksik ya da imkânsız cevap anahtarı</a:t>
            </a:r>
            <a:endParaRPr lang="en-US" sz="1200" dirty="0"/>
          </a:p>
        </p:txBody>
      </p:sp>
      <p:sp>
        <p:nvSpPr>
          <p:cNvPr id="15" name="Text 13"/>
          <p:cNvSpPr txBox="1"/>
          <p:nvPr/>
        </p:nvSpPr>
        <p:spPr>
          <a:xfrm>
            <a:off x="566928" y="4352544"/>
            <a:ext cx="219456" cy="384048"/>
          </a:xfrm>
          <a:prstGeom prst="rect">
            <a:avLst/>
          </a:prstGeom>
          <a:noFill/>
          <a:ln/>
        </p:spPr>
        <p:txBody>
          <a:bodyPr wrap="square" lIns="0" tIns="0" rIns="0" bIns="0" rtlCol="0" anchor="ctr"/>
          <a:lstStyle/>
          <a:p>
            <a:pPr indent="0" marL="0">
              <a:buNone/>
            </a:pPr>
            <a:r>
              <a:rPr lang="en-US" sz="1100" dirty="0">
                <a:solidFill>
                  <a:srgbClr val="FF9E9E"/>
                </a:solidFill>
                <a:latin typeface="Calibri" pitchFamily="34" charset="0"/>
                <a:ea typeface="Calibri" pitchFamily="34" charset="-122"/>
                <a:cs typeface="Calibri" pitchFamily="34" charset="-120"/>
              </a:rPr>
              <a:t>—</a:t>
            </a:r>
            <a:endParaRPr lang="en-US" sz="1100" dirty="0"/>
          </a:p>
        </p:txBody>
      </p:sp>
      <p:sp>
        <p:nvSpPr>
          <p:cNvPr id="16" name="Text 14"/>
          <p:cNvSpPr txBox="1"/>
          <p:nvPr/>
        </p:nvSpPr>
        <p:spPr>
          <a:xfrm>
            <a:off x="841248" y="4352544"/>
            <a:ext cx="5120640" cy="384048"/>
          </a:xfrm>
          <a:prstGeom prst="rect">
            <a:avLst/>
          </a:prstGeom>
          <a:noFill/>
          <a:ln/>
        </p:spPr>
        <p:txBody>
          <a:bodyPr wrap="square" lIns="0" tIns="0" rIns="0" bIns="0" rtlCol="0" anchor="ctr"/>
          <a:lstStyle/>
          <a:p>
            <a:pPr indent="0" marL="0">
              <a:buNone/>
            </a:pPr>
            <a:r>
              <a:rPr lang="en-US" sz="1200" dirty="0">
                <a:solidFill>
                  <a:srgbClr val="A9BCCB"/>
                </a:solidFill>
                <a:latin typeface="Calibri" pitchFamily="34" charset="0"/>
                <a:ea typeface="Calibri" pitchFamily="34" charset="-122"/>
                <a:cs typeface="Calibri" pitchFamily="34" charset="-120"/>
              </a:rPr>
              <a:t>Belirgin biçimde en uzun doğru şık</a:t>
            </a:r>
            <a:endParaRPr lang="en-US" sz="1200" dirty="0"/>
          </a:p>
        </p:txBody>
      </p:sp>
      <p:sp>
        <p:nvSpPr>
          <p:cNvPr id="17" name="Text 15"/>
          <p:cNvSpPr txBox="1"/>
          <p:nvPr/>
        </p:nvSpPr>
        <p:spPr>
          <a:xfrm>
            <a:off x="6199632" y="2432304"/>
            <a:ext cx="219456" cy="384048"/>
          </a:xfrm>
          <a:prstGeom prst="rect">
            <a:avLst/>
          </a:prstGeom>
          <a:noFill/>
          <a:ln/>
        </p:spPr>
        <p:txBody>
          <a:bodyPr wrap="square" lIns="0" tIns="0" rIns="0" bIns="0" rtlCol="0" anchor="ctr"/>
          <a:lstStyle/>
          <a:p>
            <a:pPr indent="0" marL="0">
              <a:buNone/>
            </a:pPr>
            <a:r>
              <a:rPr lang="en-US" sz="1100" dirty="0">
                <a:solidFill>
                  <a:srgbClr val="FF9E9E"/>
                </a:solidFill>
                <a:latin typeface="Calibri" pitchFamily="34" charset="0"/>
                <a:ea typeface="Calibri" pitchFamily="34" charset="-122"/>
                <a:cs typeface="Calibri" pitchFamily="34" charset="-120"/>
              </a:rPr>
              <a:t>—</a:t>
            </a:r>
            <a:endParaRPr lang="en-US" sz="1100" dirty="0"/>
          </a:p>
        </p:txBody>
      </p:sp>
      <p:sp>
        <p:nvSpPr>
          <p:cNvPr id="18" name="Text 16"/>
          <p:cNvSpPr txBox="1"/>
          <p:nvPr/>
        </p:nvSpPr>
        <p:spPr>
          <a:xfrm>
            <a:off x="6473952" y="2432304"/>
            <a:ext cx="5120640" cy="384048"/>
          </a:xfrm>
          <a:prstGeom prst="rect">
            <a:avLst/>
          </a:prstGeom>
          <a:noFill/>
          <a:ln/>
        </p:spPr>
        <p:txBody>
          <a:bodyPr wrap="square" lIns="0" tIns="0" rIns="0" bIns="0" rtlCol="0" anchor="ctr"/>
          <a:lstStyle/>
          <a:p>
            <a:pPr indent="0" marL="0">
              <a:buNone/>
            </a:pPr>
            <a:r>
              <a:rPr lang="en-US" sz="1200" dirty="0">
                <a:solidFill>
                  <a:srgbClr val="A9BCCB"/>
                </a:solidFill>
                <a:latin typeface="Calibri" pitchFamily="34" charset="0"/>
                <a:ea typeface="Calibri" pitchFamily="34" charset="-122"/>
                <a:cs typeface="Calibri" pitchFamily="34" charset="-120"/>
              </a:rPr>
              <a:t>Cevabını kendi içinde barındıran kök</a:t>
            </a:r>
            <a:endParaRPr lang="en-US" sz="1200" dirty="0"/>
          </a:p>
        </p:txBody>
      </p:sp>
      <p:sp>
        <p:nvSpPr>
          <p:cNvPr id="19" name="Text 17"/>
          <p:cNvSpPr txBox="1"/>
          <p:nvPr/>
        </p:nvSpPr>
        <p:spPr>
          <a:xfrm>
            <a:off x="6199632" y="2816352"/>
            <a:ext cx="219456" cy="384048"/>
          </a:xfrm>
          <a:prstGeom prst="rect">
            <a:avLst/>
          </a:prstGeom>
          <a:noFill/>
          <a:ln/>
        </p:spPr>
        <p:txBody>
          <a:bodyPr wrap="square" lIns="0" tIns="0" rIns="0" bIns="0" rtlCol="0" anchor="ctr"/>
          <a:lstStyle/>
          <a:p>
            <a:pPr indent="0" marL="0">
              <a:buNone/>
            </a:pPr>
            <a:r>
              <a:rPr lang="en-US" sz="1100" dirty="0">
                <a:solidFill>
                  <a:srgbClr val="FF9E9E"/>
                </a:solidFill>
                <a:latin typeface="Calibri" pitchFamily="34" charset="0"/>
                <a:ea typeface="Calibri" pitchFamily="34" charset="-122"/>
                <a:cs typeface="Calibri" pitchFamily="34" charset="-120"/>
              </a:rPr>
              <a:t>—</a:t>
            </a:r>
            <a:endParaRPr lang="en-US" sz="1100" dirty="0"/>
          </a:p>
        </p:txBody>
      </p:sp>
      <p:sp>
        <p:nvSpPr>
          <p:cNvPr id="20" name="Text 18"/>
          <p:cNvSpPr txBox="1"/>
          <p:nvPr/>
        </p:nvSpPr>
        <p:spPr>
          <a:xfrm>
            <a:off x="6473952" y="2816352"/>
            <a:ext cx="5120640" cy="384048"/>
          </a:xfrm>
          <a:prstGeom prst="rect">
            <a:avLst/>
          </a:prstGeom>
          <a:noFill/>
          <a:ln/>
        </p:spPr>
        <p:txBody>
          <a:bodyPr wrap="square" lIns="0" tIns="0" rIns="0" bIns="0" rtlCol="0" anchor="ctr"/>
          <a:lstStyle/>
          <a:p>
            <a:pPr indent="0" marL="0">
              <a:buNone/>
            </a:pPr>
            <a:r>
              <a:rPr lang="en-US" sz="1200" dirty="0">
                <a:solidFill>
                  <a:srgbClr val="A9BCCB"/>
                </a:solidFill>
                <a:latin typeface="Calibri" pitchFamily="34" charset="0"/>
                <a:ea typeface="Calibri" pitchFamily="34" charset="-122"/>
                <a:cs typeface="Calibri" pitchFamily="34" charset="-120"/>
              </a:rPr>
              <a:t>Eksik açıklama, aralık dışı zorluk</a:t>
            </a:r>
            <a:endParaRPr lang="en-US" sz="1200" dirty="0"/>
          </a:p>
        </p:txBody>
      </p:sp>
      <p:sp>
        <p:nvSpPr>
          <p:cNvPr id="21" name="Text 19"/>
          <p:cNvSpPr txBox="1"/>
          <p:nvPr/>
        </p:nvSpPr>
        <p:spPr>
          <a:xfrm>
            <a:off x="6199632" y="3200400"/>
            <a:ext cx="219456" cy="384048"/>
          </a:xfrm>
          <a:prstGeom prst="rect">
            <a:avLst/>
          </a:prstGeom>
          <a:noFill/>
          <a:ln/>
        </p:spPr>
        <p:txBody>
          <a:bodyPr wrap="square" lIns="0" tIns="0" rIns="0" bIns="0" rtlCol="0" anchor="ctr"/>
          <a:lstStyle/>
          <a:p>
            <a:pPr indent="0" marL="0">
              <a:buNone/>
            </a:pPr>
            <a:r>
              <a:rPr lang="en-US" sz="1100" dirty="0">
                <a:solidFill>
                  <a:srgbClr val="FF9E9E"/>
                </a:solidFill>
                <a:latin typeface="Calibri" pitchFamily="34" charset="0"/>
                <a:ea typeface="Calibri" pitchFamily="34" charset="-122"/>
                <a:cs typeface="Calibri" pitchFamily="34" charset="-120"/>
              </a:rPr>
              <a:t>—</a:t>
            </a:r>
            <a:endParaRPr lang="en-US" sz="1100" dirty="0"/>
          </a:p>
        </p:txBody>
      </p:sp>
      <p:sp>
        <p:nvSpPr>
          <p:cNvPr id="22" name="Text 20"/>
          <p:cNvSpPr txBox="1"/>
          <p:nvPr/>
        </p:nvSpPr>
        <p:spPr>
          <a:xfrm>
            <a:off x="6473952" y="3200400"/>
            <a:ext cx="5120640" cy="384048"/>
          </a:xfrm>
          <a:prstGeom prst="rect">
            <a:avLst/>
          </a:prstGeom>
          <a:noFill/>
          <a:ln/>
        </p:spPr>
        <p:txBody>
          <a:bodyPr wrap="square" lIns="0" tIns="0" rIns="0" bIns="0" rtlCol="0" anchor="ctr"/>
          <a:lstStyle/>
          <a:p>
            <a:pPr indent="0" marL="0">
              <a:buNone/>
            </a:pPr>
            <a:r>
              <a:rPr lang="en-US" sz="1200" dirty="0">
                <a:solidFill>
                  <a:srgbClr val="A9BCCB"/>
                </a:solidFill>
                <a:latin typeface="Calibri" pitchFamily="34" charset="0"/>
                <a:ea typeface="Calibri" pitchFamily="34" charset="-122"/>
                <a:cs typeface="Calibri" pitchFamily="34" charset="-120"/>
              </a:rPr>
              <a:t>Var olan bir sorunun yakın kopyası</a:t>
            </a:r>
            <a:endParaRPr lang="en-US" sz="1200" dirty="0"/>
          </a:p>
        </p:txBody>
      </p:sp>
      <p:sp>
        <p:nvSpPr>
          <p:cNvPr id="23" name="Text 21"/>
          <p:cNvSpPr txBox="1"/>
          <p:nvPr/>
        </p:nvSpPr>
        <p:spPr>
          <a:xfrm>
            <a:off x="6199632" y="3584448"/>
            <a:ext cx="219456" cy="384048"/>
          </a:xfrm>
          <a:prstGeom prst="rect">
            <a:avLst/>
          </a:prstGeom>
          <a:noFill/>
          <a:ln/>
        </p:spPr>
        <p:txBody>
          <a:bodyPr wrap="square" lIns="0" tIns="0" rIns="0" bIns="0" rtlCol="0" anchor="ctr"/>
          <a:lstStyle/>
          <a:p>
            <a:pPr indent="0" marL="0">
              <a:buNone/>
            </a:pPr>
            <a:r>
              <a:rPr lang="en-US" sz="1100" dirty="0">
                <a:solidFill>
                  <a:srgbClr val="FF9E9E"/>
                </a:solidFill>
                <a:latin typeface="Calibri" pitchFamily="34" charset="0"/>
                <a:ea typeface="Calibri" pitchFamily="34" charset="-122"/>
                <a:cs typeface="Calibri" pitchFamily="34" charset="-120"/>
              </a:rPr>
              <a:t>—</a:t>
            </a:r>
            <a:endParaRPr lang="en-US" sz="1100" dirty="0"/>
          </a:p>
        </p:txBody>
      </p:sp>
      <p:sp>
        <p:nvSpPr>
          <p:cNvPr id="24" name="Text 22"/>
          <p:cNvSpPr txBox="1"/>
          <p:nvPr/>
        </p:nvSpPr>
        <p:spPr>
          <a:xfrm>
            <a:off x="6473952" y="3584448"/>
            <a:ext cx="5120640" cy="384048"/>
          </a:xfrm>
          <a:prstGeom prst="rect">
            <a:avLst/>
          </a:prstGeom>
          <a:noFill/>
          <a:ln/>
        </p:spPr>
        <p:txBody>
          <a:bodyPr wrap="square" lIns="0" tIns="0" rIns="0" bIns="0" rtlCol="0" anchor="ctr"/>
          <a:lstStyle/>
          <a:p>
            <a:pPr indent="0" marL="0">
              <a:buNone/>
            </a:pPr>
            <a:r>
              <a:rPr lang="en-US" sz="1200" dirty="0">
                <a:solidFill>
                  <a:srgbClr val="A9BCCB"/>
                </a:solidFill>
                <a:latin typeface="Calibri" pitchFamily="34" charset="0"/>
                <a:ea typeface="Calibri" pitchFamily="34" charset="-122"/>
                <a:cs typeface="Calibri" pitchFamily="34" charset="-120"/>
              </a:rPr>
              <a:t>Yeniden yazılmış ama aynı cevaplı hoca sorusu</a:t>
            </a:r>
            <a:endParaRPr lang="en-US" sz="1200" dirty="0"/>
          </a:p>
        </p:txBody>
      </p:sp>
      <p:sp>
        <p:nvSpPr>
          <p:cNvPr id="25" name="Shape 23"/>
          <p:cNvSpPr/>
          <p:nvPr/>
        </p:nvSpPr>
        <p:spPr>
          <a:xfrm>
            <a:off x="6199632" y="4133088"/>
            <a:ext cx="5394960" cy="1225296"/>
          </a:xfrm>
          <a:prstGeom prst="roundRect">
            <a:avLst>
              <a:gd name="adj" fmla="val 4478"/>
            </a:avLst>
          </a:prstGeom>
          <a:solidFill>
            <a:srgbClr val="121C2E">
              <a:alpha val="74000"/>
            </a:srgbClr>
          </a:solidFill>
          <a:ln w="12700">
            <a:solidFill>
              <a:srgbClr val="24384B"/>
            </a:solidFill>
            <a:prstDash val="solid"/>
          </a:ln>
        </p:spPr>
      </p:sp>
      <p:sp>
        <p:nvSpPr>
          <p:cNvPr id="26" name="Text 24"/>
          <p:cNvSpPr txBox="1"/>
          <p:nvPr/>
        </p:nvSpPr>
        <p:spPr>
          <a:xfrm>
            <a:off x="6473952" y="4407408"/>
            <a:ext cx="4846320" cy="201168"/>
          </a:xfrm>
          <a:prstGeom prst="rect">
            <a:avLst/>
          </a:prstGeom>
          <a:noFill/>
          <a:ln/>
        </p:spPr>
        <p:txBody>
          <a:bodyPr wrap="square" lIns="0" tIns="0" rIns="0" bIns="0" rtlCol="0" anchor="ctr"/>
          <a:lstStyle/>
          <a:p>
            <a:pPr indent="0" marL="0">
              <a:buNone/>
            </a:pPr>
            <a:r>
              <a:rPr lang="en-US" sz="900" b="1" spc="260" kern="0" dirty="0">
                <a:solidFill>
                  <a:srgbClr val="4CC3EA"/>
                </a:solidFill>
                <a:latin typeface="Calibri" pitchFamily="34" charset="0"/>
                <a:ea typeface="Calibri" pitchFamily="34" charset="-122"/>
                <a:cs typeface="Calibri" pitchFamily="34" charset="-120"/>
              </a:rPr>
              <a:t>SHUFFLE_OPTIONS</a:t>
            </a:r>
            <a:endParaRPr lang="en-US" sz="900" dirty="0"/>
          </a:p>
        </p:txBody>
      </p:sp>
      <p:sp>
        <p:nvSpPr>
          <p:cNvPr id="27" name="Text 25"/>
          <p:cNvSpPr txBox="1"/>
          <p:nvPr/>
        </p:nvSpPr>
        <p:spPr>
          <a:xfrm>
            <a:off x="6473952" y="4700016"/>
            <a:ext cx="4846320" cy="530352"/>
          </a:xfrm>
          <a:prstGeom prst="rect">
            <a:avLst/>
          </a:prstGeom>
          <a:noFill/>
          <a:ln/>
        </p:spPr>
        <p:txBody>
          <a:bodyPr wrap="square" lIns="0" tIns="0" rIns="0" bIns="0" rtlCol="0" anchor="t"/>
          <a:lstStyle/>
          <a:p>
            <a:pPr indent="0" marL="0">
              <a:lnSpc>
                <a:spcPts val="1800"/>
              </a:lnSpc>
              <a:buNone/>
            </a:pPr>
            <a:r>
              <a:rPr lang="en-US" sz="1150" dirty="0">
                <a:solidFill>
                  <a:srgbClr val="A9BCCB"/>
                </a:solidFill>
                <a:latin typeface="Calibri" pitchFamily="34" charset="0"/>
                <a:ea typeface="Calibri" pitchFamily="34" charset="-122"/>
                <a:cs typeface="Calibri" pitchFamily="34" charset="-120"/>
              </a:rPr>
              <a:t>Şıklar tohumlanmış biçimde yeniden harflendirilir, böylece cevaplar A'da kümelenmez.</a:t>
            </a:r>
            <a:endParaRPr lang="en-US" sz="1150" dirty="0"/>
          </a:p>
        </p:txBody>
      </p:sp>
      <p:sp>
        <p:nvSpPr>
          <p:cNvPr id="28" name="Shape 26"/>
          <p:cNvSpPr/>
          <p:nvPr/>
        </p:nvSpPr>
        <p:spPr>
          <a:xfrm>
            <a:off x="566928" y="5559552"/>
            <a:ext cx="11027664" cy="694944"/>
          </a:xfrm>
          <a:prstGeom prst="roundRect">
            <a:avLst>
              <a:gd name="adj" fmla="val 7895"/>
            </a:avLst>
          </a:prstGeom>
          <a:solidFill>
            <a:srgbClr val="121C2E">
              <a:alpha val="60000"/>
            </a:srgbClr>
          </a:solidFill>
          <a:ln w="12700">
            <a:solidFill>
              <a:srgbClr val="7FE0B2"/>
            </a:solidFill>
            <a:prstDash val="solid"/>
          </a:ln>
        </p:spPr>
      </p:sp>
      <p:sp>
        <p:nvSpPr>
          <p:cNvPr id="29" name="Text 27"/>
          <p:cNvSpPr txBox="1"/>
          <p:nvPr/>
        </p:nvSpPr>
        <p:spPr>
          <a:xfrm>
            <a:off x="841248" y="5559552"/>
            <a:ext cx="10515600" cy="694944"/>
          </a:xfrm>
          <a:prstGeom prst="rect">
            <a:avLst/>
          </a:prstGeom>
          <a:noFill/>
          <a:ln/>
        </p:spPr>
        <p:txBody>
          <a:bodyPr wrap="square" lIns="0" tIns="0" rIns="0" bIns="0" rtlCol="0" anchor="ctr"/>
          <a:lstStyle/>
          <a:p>
            <a:pPr indent="0" marL="0">
              <a:lnSpc>
                <a:spcPts val="1600"/>
              </a:lnSpc>
              <a:buNone/>
            </a:pPr>
            <a:r>
              <a:rPr lang="en-US" sz="1150" dirty="0">
                <a:solidFill>
                  <a:srgbClr val="A9BCCB"/>
                </a:solidFill>
                <a:latin typeface="Calibri" pitchFamily="34" charset="0"/>
                <a:ea typeface="Calibri" pitchFamily="34" charset="-122"/>
                <a:cs typeface="Calibri" pitchFamily="34" charset="-120"/>
              </a:rPr>
              <a:t>Reddedilenler sınavın üretim notlarında bildirilir — asla gizlenmez. İçe aktarılan bir hoca sorusu harf kuralından muaftır: yazıldığı gibi saklanır ve hiçbir zaman yeniden harflendirilmez.</a:t>
            </a:r>
            <a:endParaRPr lang="en-US" sz="1150" dirty="0"/>
          </a:p>
        </p:txBody>
      </p:sp>
      <p:sp>
        <p:nvSpPr>
          <p:cNvPr id="30" name="Text 28"/>
          <p:cNvSpPr txBox="1"/>
          <p:nvPr/>
        </p:nvSpPr>
        <p:spPr>
          <a:xfrm>
            <a:off x="566928" y="6382512"/>
            <a:ext cx="2377440" cy="237744"/>
          </a:xfrm>
          <a:prstGeom prst="rect">
            <a:avLst/>
          </a:prstGeom>
          <a:noFill/>
          <a:ln/>
        </p:spPr>
        <p:txBody>
          <a:bodyPr wrap="square" lIns="0" tIns="0" rIns="0" bIns="0" rtlCol="0" anchor="ctr"/>
          <a:lstStyle/>
          <a:p>
            <a:pPr indent="0" marL="0">
              <a:buNone/>
            </a:pPr>
            <a:r>
              <a:rPr lang="en-US" sz="850" spc="220" kern="0" dirty="0">
                <a:solidFill>
                  <a:srgbClr val="43566A"/>
                </a:solidFill>
                <a:latin typeface="Calibri" pitchFamily="34" charset="0"/>
                <a:ea typeface="Calibri" pitchFamily="34" charset="-122"/>
                <a:cs typeface="Calibri" pitchFamily="34" charset="-120"/>
              </a:rPr>
              <a:t>TIP AKADEMİSİ</a:t>
            </a:r>
            <a:endParaRPr lang="en-US" sz="850" dirty="0"/>
          </a:p>
        </p:txBody>
      </p:sp>
      <p:sp>
        <p:nvSpPr>
          <p:cNvPr id="31" name="Text 29"/>
          <p:cNvSpPr txBox="1"/>
          <p:nvPr/>
        </p:nvSpPr>
        <p:spPr>
          <a:xfrm>
            <a:off x="8229600" y="6382512"/>
            <a:ext cx="3364992" cy="237744"/>
          </a:xfrm>
          <a:prstGeom prst="rect">
            <a:avLst/>
          </a:prstGeom>
          <a:noFill/>
          <a:ln/>
        </p:spPr>
        <p:txBody>
          <a:bodyPr wrap="square" lIns="0" tIns="0" rIns="0" bIns="0" rtlCol="0" anchor="ctr"/>
          <a:lstStyle/>
          <a:p>
            <a:pPr algn="r" indent="0" marL="0">
              <a:buNone/>
            </a:pPr>
            <a:r>
              <a:rPr lang="en-US" sz="850" spc="220" kern="0" dirty="0">
                <a:solidFill>
                  <a:srgbClr val="43566A"/>
                </a:solidFill>
                <a:latin typeface="Calibri" pitchFamily="34" charset="0"/>
                <a:ea typeface="Calibri" pitchFamily="34" charset="-122"/>
                <a:cs typeface="Calibri" pitchFamily="34" charset="-120"/>
              </a:rPr>
              <a:t>15  ·  Sorular</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66928" y="566928"/>
            <a:ext cx="7680960" cy="237744"/>
          </a:xfrm>
          <a:prstGeom prst="rect">
            <a:avLst/>
          </a:prstGeom>
          <a:noFill/>
          <a:ln/>
        </p:spPr>
        <p:txBody>
          <a:bodyPr wrap="square" lIns="0" tIns="0" rIns="0" bIns="0" rtlCol="0" anchor="ctr"/>
          <a:lstStyle/>
          <a:p>
            <a:pPr indent="0" marL="0">
              <a:buNone/>
            </a:pPr>
            <a:r>
              <a:rPr lang="en-US" sz="1000" b="1" spc="340" kern="0" dirty="0">
                <a:solidFill>
                  <a:srgbClr val="4CC3EA"/>
                </a:solidFill>
                <a:latin typeface="Calibri" pitchFamily="34" charset="0"/>
                <a:ea typeface="Calibri" pitchFamily="34" charset="-122"/>
                <a:cs typeface="Calibri" pitchFamily="34" charset="-120"/>
              </a:rPr>
              <a:t>SORULAR</a:t>
            </a:r>
            <a:endParaRPr lang="en-US" sz="1000" dirty="0"/>
          </a:p>
        </p:txBody>
      </p:sp>
      <p:sp>
        <p:nvSpPr>
          <p:cNvPr id="3" name="Text 1"/>
          <p:cNvSpPr txBox="1"/>
          <p:nvPr/>
        </p:nvSpPr>
        <p:spPr>
          <a:xfrm>
            <a:off x="548640" y="841248"/>
            <a:ext cx="10058400" cy="786384"/>
          </a:xfrm>
          <a:prstGeom prst="rect">
            <a:avLst/>
          </a:prstGeom>
          <a:noFill/>
          <a:ln/>
        </p:spPr>
        <p:txBody>
          <a:bodyPr wrap="square" lIns="0" tIns="0" rIns="0" bIns="0" rtlCol="0" anchor="t"/>
          <a:lstStyle/>
          <a:p>
            <a:pPr indent="0" marL="0">
              <a:buNone/>
            </a:pPr>
            <a:r>
              <a:rPr lang="en-US" sz="3200" spc="40" kern="0" dirty="0">
                <a:solidFill>
                  <a:srgbClr val="E9F2F8"/>
                </a:solidFill>
                <a:latin typeface="Calibri" pitchFamily="34" charset="0"/>
                <a:ea typeface="Calibri" pitchFamily="34" charset="-122"/>
                <a:cs typeface="Calibri" pitchFamily="34" charset="-120"/>
              </a:rPr>
              <a:t>Görselli sorular öğrencinin kendi sayfalarından</a:t>
            </a:r>
            <a:endParaRPr lang="en-US" sz="3200" dirty="0"/>
          </a:p>
        </p:txBody>
      </p:sp>
      <p:sp>
        <p:nvSpPr>
          <p:cNvPr id="4" name="Text 2"/>
          <p:cNvSpPr txBox="1"/>
          <p:nvPr/>
        </p:nvSpPr>
        <p:spPr>
          <a:xfrm>
            <a:off x="566928" y="1645920"/>
            <a:ext cx="10881360" cy="822960"/>
          </a:xfrm>
          <a:prstGeom prst="rect">
            <a:avLst/>
          </a:prstGeom>
          <a:noFill/>
          <a:ln/>
        </p:spPr>
        <p:txBody>
          <a:bodyPr wrap="square" lIns="0" tIns="0" rIns="0" bIns="0" rtlCol="0" anchor="t"/>
          <a:lstStyle/>
          <a:p>
            <a:pPr indent="0" marL="0">
              <a:lnSpc>
                <a:spcPts val="2200"/>
              </a:lnSpc>
              <a:buNone/>
            </a:pPr>
            <a:r>
              <a:rPr lang="en-US" sz="1400" dirty="0">
                <a:solidFill>
                  <a:srgbClr val="A9BCCB"/>
                </a:solidFill>
                <a:latin typeface="Calibri" pitchFamily="34" charset="0"/>
                <a:ea typeface="Calibri" pitchFamily="34" charset="-122"/>
                <a:cs typeface="Calibri" pitchFamily="34" charset="-120"/>
              </a:rPr>
              <a:t>JARVIS asla kendi anatomisini çizmez. Bir şekil sorusu her zaman öğrencinin kendi ders sayfasıdır.</a:t>
            </a:r>
            <a:endParaRPr lang="en-US" sz="1400" dirty="0"/>
          </a:p>
        </p:txBody>
      </p:sp>
      <p:sp>
        <p:nvSpPr>
          <p:cNvPr id="5" name="Shape 3"/>
          <p:cNvSpPr/>
          <p:nvPr/>
        </p:nvSpPr>
        <p:spPr>
          <a:xfrm>
            <a:off x="566928" y="2359152"/>
            <a:ext cx="5394960" cy="2067458"/>
          </a:xfrm>
          <a:prstGeom prst="roundRect">
            <a:avLst>
              <a:gd name="adj" fmla="val 2654"/>
            </a:avLst>
          </a:prstGeom>
          <a:solidFill>
            <a:srgbClr val="121C2E">
              <a:alpha val="74000"/>
            </a:srgbClr>
          </a:solidFill>
          <a:ln w="12700">
            <a:solidFill>
              <a:srgbClr val="24384B"/>
            </a:solidFill>
            <a:prstDash val="solid"/>
          </a:ln>
        </p:spPr>
      </p:sp>
      <p:sp>
        <p:nvSpPr>
          <p:cNvPr id="6" name="Text 4"/>
          <p:cNvSpPr txBox="1"/>
          <p:nvPr/>
        </p:nvSpPr>
        <p:spPr>
          <a:xfrm>
            <a:off x="841248" y="2633472"/>
            <a:ext cx="4846320" cy="201168"/>
          </a:xfrm>
          <a:prstGeom prst="rect">
            <a:avLst/>
          </a:prstGeom>
          <a:noFill/>
          <a:ln/>
        </p:spPr>
        <p:txBody>
          <a:bodyPr wrap="square" lIns="0" tIns="0" rIns="0" bIns="0" rtlCol="0" anchor="ctr"/>
          <a:lstStyle/>
          <a:p>
            <a:pPr indent="0" marL="0">
              <a:buNone/>
            </a:pPr>
            <a:r>
              <a:rPr lang="en-US" sz="900" b="1" spc="260" kern="0" dirty="0">
                <a:solidFill>
                  <a:srgbClr val="4CC3EA"/>
                </a:solidFill>
                <a:latin typeface="Calibri" pitchFamily="34" charset="0"/>
                <a:ea typeface="Calibri" pitchFamily="34" charset="-122"/>
                <a:cs typeface="Calibri" pitchFamily="34" charset="-120"/>
              </a:rPr>
              <a:t>SEÇIM</a:t>
            </a:r>
            <a:endParaRPr lang="en-US" sz="900" dirty="0"/>
          </a:p>
        </p:txBody>
      </p:sp>
      <p:sp>
        <p:nvSpPr>
          <p:cNvPr id="7" name="Text 5"/>
          <p:cNvSpPr txBox="1"/>
          <p:nvPr/>
        </p:nvSpPr>
        <p:spPr>
          <a:xfrm>
            <a:off x="841248" y="2926080"/>
            <a:ext cx="4846320" cy="310896"/>
          </a:xfrm>
          <a:prstGeom prst="rect">
            <a:avLst/>
          </a:prstGeom>
          <a:noFill/>
          <a:ln/>
        </p:spPr>
        <p:txBody>
          <a:bodyPr wrap="square" lIns="0" tIns="0" rIns="0" bIns="0" rtlCol="0" anchor="ctr"/>
          <a:lstStyle/>
          <a:p>
            <a:pPr indent="0" marL="0">
              <a:buNone/>
            </a:pPr>
            <a:r>
              <a:rPr lang="en-US" sz="1500" b="1" dirty="0">
                <a:solidFill>
                  <a:srgbClr val="E9F2F8"/>
                </a:solidFill>
                <a:latin typeface="Calibri" pitchFamily="34" charset="0"/>
                <a:ea typeface="Calibri" pitchFamily="34" charset="-122"/>
                <a:cs typeface="Calibri" pitchFamily="34" charset="-120"/>
              </a:rPr>
              <a:t>Hangi sayfalar şekil sayılır?</a:t>
            </a:r>
            <a:endParaRPr lang="en-US" sz="1500" dirty="0"/>
          </a:p>
        </p:txBody>
      </p:sp>
      <p:sp>
        <p:nvSpPr>
          <p:cNvPr id="8" name="Text 6"/>
          <p:cNvSpPr txBox="1"/>
          <p:nvPr/>
        </p:nvSpPr>
        <p:spPr>
          <a:xfrm>
            <a:off x="841248" y="3310128"/>
            <a:ext cx="4846320" cy="988466"/>
          </a:xfrm>
          <a:prstGeom prst="rect">
            <a:avLst/>
          </a:prstGeom>
          <a:noFill/>
          <a:ln/>
        </p:spPr>
        <p:txBody>
          <a:bodyPr wrap="square" lIns="0" tIns="0" rIns="0" bIns="0" rtlCol="0" anchor="t"/>
          <a:lstStyle/>
          <a:p>
            <a:pPr indent="0" marL="0">
              <a:lnSpc>
                <a:spcPts val="1800"/>
              </a:lnSpc>
              <a:buNone/>
            </a:pPr>
            <a:r>
              <a:rPr lang="en-US" sz="1100" dirty="0">
                <a:solidFill>
                  <a:srgbClr val="A9BCCB"/>
                </a:solidFill>
                <a:latin typeface="Calibri" pitchFamily="34" charset="0"/>
                <a:ea typeface="Calibri" pitchFamily="34" charset="-122"/>
                <a:cs typeface="Calibri" pitchFamily="34" charset="-120"/>
              </a:rPr>
              <a:t>Önce resimli sayfalar — sayfanın yeterince büyük kısmını kaplayan gömülü bir görüntü ya da metni az bir sayfadaki görüntü. Sonra çizilmiş şemalar: bir çizim aracından dışa aktarılan slaytın piksel yerine yol nesnesi olarak taşıdığı etiketli kemik konturları, yol okları.</a:t>
            </a:r>
            <a:endParaRPr lang="en-US" sz="1100" dirty="0"/>
          </a:p>
        </p:txBody>
      </p:sp>
      <p:sp>
        <p:nvSpPr>
          <p:cNvPr id="9" name="Shape 7"/>
          <p:cNvSpPr/>
          <p:nvPr/>
        </p:nvSpPr>
        <p:spPr>
          <a:xfrm>
            <a:off x="6199632" y="2359152"/>
            <a:ext cx="5394960" cy="2067458"/>
          </a:xfrm>
          <a:prstGeom prst="roundRect">
            <a:avLst>
              <a:gd name="adj" fmla="val 2654"/>
            </a:avLst>
          </a:prstGeom>
          <a:solidFill>
            <a:srgbClr val="121C2E">
              <a:alpha val="74000"/>
            </a:srgbClr>
          </a:solidFill>
          <a:ln w="12700">
            <a:solidFill>
              <a:srgbClr val="8EE0FF"/>
            </a:solidFill>
            <a:prstDash val="solid"/>
          </a:ln>
        </p:spPr>
      </p:sp>
      <p:sp>
        <p:nvSpPr>
          <p:cNvPr id="10" name="Text 8"/>
          <p:cNvSpPr txBox="1"/>
          <p:nvPr/>
        </p:nvSpPr>
        <p:spPr>
          <a:xfrm>
            <a:off x="6473952" y="2633472"/>
            <a:ext cx="4846320" cy="201168"/>
          </a:xfrm>
          <a:prstGeom prst="rect">
            <a:avLst/>
          </a:prstGeom>
          <a:noFill/>
          <a:ln/>
        </p:spPr>
        <p:txBody>
          <a:bodyPr wrap="square" lIns="0" tIns="0" rIns="0" bIns="0" rtlCol="0" anchor="ctr"/>
          <a:lstStyle/>
          <a:p>
            <a:pPr indent="0" marL="0">
              <a:buNone/>
            </a:pPr>
            <a:r>
              <a:rPr lang="en-US" sz="900" b="1" spc="260" kern="0" dirty="0">
                <a:solidFill>
                  <a:srgbClr val="4CC3EA"/>
                </a:solidFill>
                <a:latin typeface="Calibri" pitchFamily="34" charset="0"/>
                <a:ea typeface="Calibri" pitchFamily="34" charset="-122"/>
                <a:cs typeface="Calibri" pitchFamily="34" charset="-120"/>
              </a:rPr>
              <a:t>BAĞ</a:t>
            </a:r>
            <a:endParaRPr lang="en-US" sz="900" dirty="0"/>
          </a:p>
        </p:txBody>
      </p:sp>
      <p:sp>
        <p:nvSpPr>
          <p:cNvPr id="11" name="Text 9"/>
          <p:cNvSpPr txBox="1"/>
          <p:nvPr/>
        </p:nvSpPr>
        <p:spPr>
          <a:xfrm>
            <a:off x="6473952" y="2926080"/>
            <a:ext cx="4846320" cy="310896"/>
          </a:xfrm>
          <a:prstGeom prst="rect">
            <a:avLst/>
          </a:prstGeom>
          <a:noFill/>
          <a:ln/>
        </p:spPr>
        <p:txBody>
          <a:bodyPr wrap="square" lIns="0" tIns="0" rIns="0" bIns="0" rtlCol="0" anchor="ctr"/>
          <a:lstStyle/>
          <a:p>
            <a:pPr indent="0" marL="0">
              <a:buNone/>
            </a:pPr>
            <a:r>
              <a:rPr lang="en-US" sz="1500" b="1" dirty="0">
                <a:solidFill>
                  <a:srgbClr val="E9F2F8"/>
                </a:solidFill>
                <a:latin typeface="Calibri" pitchFamily="34" charset="0"/>
                <a:ea typeface="Calibri" pitchFamily="34" charset="-122"/>
                <a:cs typeface="Calibri" pitchFamily="34" charset="-120"/>
              </a:rPr>
              <a:t>Sayfaya çapalanır</a:t>
            </a:r>
            <a:endParaRPr lang="en-US" sz="1500" dirty="0"/>
          </a:p>
        </p:txBody>
      </p:sp>
      <p:sp>
        <p:nvSpPr>
          <p:cNvPr id="12" name="Text 10"/>
          <p:cNvSpPr txBox="1"/>
          <p:nvPr/>
        </p:nvSpPr>
        <p:spPr>
          <a:xfrm>
            <a:off x="6473952" y="3310128"/>
            <a:ext cx="4846320" cy="988466"/>
          </a:xfrm>
          <a:prstGeom prst="rect">
            <a:avLst/>
          </a:prstGeom>
          <a:noFill/>
          <a:ln/>
        </p:spPr>
        <p:txBody>
          <a:bodyPr wrap="square" lIns="0" tIns="0" rIns="0" bIns="0" rtlCol="0" anchor="t"/>
          <a:lstStyle/>
          <a:p>
            <a:pPr indent="0" marL="0">
              <a:lnSpc>
                <a:spcPts val="1800"/>
              </a:lnSpc>
              <a:buNone/>
            </a:pPr>
            <a:r>
              <a:rPr lang="en-US" sz="1100" dirty="0">
                <a:solidFill>
                  <a:srgbClr val="A9BCCB"/>
                </a:solidFill>
                <a:latin typeface="Calibri" pitchFamily="34" charset="0"/>
                <a:ea typeface="Calibri" pitchFamily="34" charset="-122"/>
                <a:cs typeface="Calibri" pitchFamily="34" charset="-120"/>
              </a:rPr>
              <a:t>O şekillerden birini anan soru, o sayfaya bağlanır: sınav çalıştırıcısı ve sonuçlar, çizilmiş sayfayı sorunun yanında, belge ve sayfa başlığıyla gösterir.</a:t>
            </a:r>
            <a:endParaRPr lang="en-US" sz="1100" dirty="0"/>
          </a:p>
        </p:txBody>
      </p:sp>
      <p:sp>
        <p:nvSpPr>
          <p:cNvPr id="13" name="Shape 11"/>
          <p:cNvSpPr/>
          <p:nvPr/>
        </p:nvSpPr>
        <p:spPr>
          <a:xfrm>
            <a:off x="566928" y="4627778"/>
            <a:ext cx="5394960" cy="1609344"/>
          </a:xfrm>
          <a:prstGeom prst="roundRect">
            <a:avLst>
              <a:gd name="adj" fmla="val 3409"/>
            </a:avLst>
          </a:prstGeom>
          <a:solidFill>
            <a:srgbClr val="121C2E">
              <a:alpha val="74000"/>
            </a:srgbClr>
          </a:solidFill>
          <a:ln w="12700">
            <a:solidFill>
              <a:srgbClr val="F0C68A"/>
            </a:solidFill>
            <a:prstDash val="solid"/>
          </a:ln>
        </p:spPr>
      </p:sp>
      <p:sp>
        <p:nvSpPr>
          <p:cNvPr id="14" name="Text 12"/>
          <p:cNvSpPr txBox="1"/>
          <p:nvPr/>
        </p:nvSpPr>
        <p:spPr>
          <a:xfrm>
            <a:off x="841248" y="4902098"/>
            <a:ext cx="4846320" cy="201168"/>
          </a:xfrm>
          <a:prstGeom prst="rect">
            <a:avLst/>
          </a:prstGeom>
          <a:noFill/>
          <a:ln/>
        </p:spPr>
        <p:txBody>
          <a:bodyPr wrap="square" lIns="0" tIns="0" rIns="0" bIns="0" rtlCol="0" anchor="ctr"/>
          <a:lstStyle/>
          <a:p>
            <a:pPr indent="0" marL="0">
              <a:buNone/>
            </a:pPr>
            <a:r>
              <a:rPr lang="en-US" sz="900" b="1" spc="260" kern="0" dirty="0">
                <a:solidFill>
                  <a:srgbClr val="4CC3EA"/>
                </a:solidFill>
                <a:latin typeface="Calibri" pitchFamily="34" charset="0"/>
                <a:ea typeface="Calibri" pitchFamily="34" charset="-122"/>
                <a:cs typeface="Calibri" pitchFamily="34" charset="-120"/>
              </a:rPr>
              <a:t>SINIR</a:t>
            </a:r>
            <a:endParaRPr lang="en-US" sz="900" dirty="0"/>
          </a:p>
        </p:txBody>
      </p:sp>
      <p:sp>
        <p:nvSpPr>
          <p:cNvPr id="15" name="Text 13"/>
          <p:cNvSpPr txBox="1"/>
          <p:nvPr/>
        </p:nvSpPr>
        <p:spPr>
          <a:xfrm>
            <a:off x="841248" y="5194706"/>
            <a:ext cx="4846320" cy="310896"/>
          </a:xfrm>
          <a:prstGeom prst="rect">
            <a:avLst/>
          </a:prstGeom>
          <a:noFill/>
          <a:ln/>
        </p:spPr>
        <p:txBody>
          <a:bodyPr wrap="square" lIns="0" tIns="0" rIns="0" bIns="0" rtlCol="0" anchor="ctr"/>
          <a:lstStyle/>
          <a:p>
            <a:pPr indent="0" marL="0">
              <a:buNone/>
            </a:pPr>
            <a:r>
              <a:rPr lang="en-US" sz="1500" b="1" dirty="0">
                <a:solidFill>
                  <a:srgbClr val="E9F2F8"/>
                </a:solidFill>
                <a:latin typeface="Calibri" pitchFamily="34" charset="0"/>
                <a:ea typeface="Calibri" pitchFamily="34" charset="-122"/>
                <a:cs typeface="Calibri" pitchFamily="34" charset="-120"/>
              </a:rPr>
              <a:t>Neyi sorabilir?</a:t>
            </a:r>
            <a:endParaRPr lang="en-US" sz="1500" dirty="0"/>
          </a:p>
        </p:txBody>
      </p:sp>
      <p:sp>
        <p:nvSpPr>
          <p:cNvPr id="16" name="Text 14"/>
          <p:cNvSpPr txBox="1"/>
          <p:nvPr/>
        </p:nvSpPr>
        <p:spPr>
          <a:xfrm>
            <a:off x="841248" y="5578754"/>
            <a:ext cx="4846320" cy="530352"/>
          </a:xfrm>
          <a:prstGeom prst="rect">
            <a:avLst/>
          </a:prstGeom>
          <a:noFill/>
          <a:ln/>
        </p:spPr>
        <p:txBody>
          <a:bodyPr wrap="square" lIns="0" tIns="0" rIns="0" bIns="0" rtlCol="0" anchor="t"/>
          <a:lstStyle/>
          <a:p>
            <a:pPr indent="0" marL="0">
              <a:lnSpc>
                <a:spcPts val="1800"/>
              </a:lnSpc>
              <a:buNone/>
            </a:pPr>
            <a:r>
              <a:rPr lang="en-US" sz="1100" dirty="0">
                <a:solidFill>
                  <a:srgbClr val="A9BCCB"/>
                </a:solidFill>
                <a:latin typeface="Calibri" pitchFamily="34" charset="0"/>
                <a:ea typeface="Calibri" pitchFamily="34" charset="-122"/>
                <a:cs typeface="Calibri" pitchFamily="34" charset="-120"/>
              </a:rPr>
              <a:t>Yalnızca görüş geçişinin yazdığı betim ve etiketler bir şekil sorusunun sorabileceği olgulardır. Birkaç çizgisi olan bir metin sayfası şekil sayılmaz.</a:t>
            </a:r>
            <a:endParaRPr lang="en-US" sz="1100" dirty="0"/>
          </a:p>
        </p:txBody>
      </p:sp>
      <p:sp>
        <p:nvSpPr>
          <p:cNvPr id="17" name="Shape 15"/>
          <p:cNvSpPr/>
          <p:nvPr/>
        </p:nvSpPr>
        <p:spPr>
          <a:xfrm>
            <a:off x="6199632" y="4627778"/>
            <a:ext cx="5394960" cy="1609344"/>
          </a:xfrm>
          <a:prstGeom prst="roundRect">
            <a:avLst>
              <a:gd name="adj" fmla="val 3409"/>
            </a:avLst>
          </a:prstGeom>
          <a:solidFill>
            <a:srgbClr val="121C2E">
              <a:alpha val="74000"/>
            </a:srgbClr>
          </a:solidFill>
          <a:ln w="12700">
            <a:solidFill>
              <a:srgbClr val="7FE0B2"/>
            </a:solidFill>
            <a:prstDash val="solid"/>
          </a:ln>
        </p:spPr>
      </p:sp>
      <p:sp>
        <p:nvSpPr>
          <p:cNvPr id="18" name="Text 16"/>
          <p:cNvSpPr txBox="1"/>
          <p:nvPr/>
        </p:nvSpPr>
        <p:spPr>
          <a:xfrm>
            <a:off x="6473952" y="4902098"/>
            <a:ext cx="4846320" cy="201168"/>
          </a:xfrm>
          <a:prstGeom prst="rect">
            <a:avLst/>
          </a:prstGeom>
          <a:noFill/>
          <a:ln/>
        </p:spPr>
        <p:txBody>
          <a:bodyPr wrap="square" lIns="0" tIns="0" rIns="0" bIns="0" rtlCol="0" anchor="ctr"/>
          <a:lstStyle/>
          <a:p>
            <a:pPr indent="0" marL="0">
              <a:buNone/>
            </a:pPr>
            <a:r>
              <a:rPr lang="en-US" sz="900" b="1" spc="260" kern="0" dirty="0">
                <a:solidFill>
                  <a:srgbClr val="4CC3EA"/>
                </a:solidFill>
                <a:latin typeface="Calibri" pitchFamily="34" charset="0"/>
                <a:ea typeface="Calibri" pitchFamily="34" charset="-122"/>
                <a:cs typeface="Calibri" pitchFamily="34" charset="-120"/>
              </a:rPr>
              <a:t>KAPANIŞ</a:t>
            </a:r>
            <a:endParaRPr lang="en-US" sz="900" dirty="0"/>
          </a:p>
        </p:txBody>
      </p:sp>
      <p:sp>
        <p:nvSpPr>
          <p:cNvPr id="19" name="Text 17"/>
          <p:cNvSpPr txBox="1"/>
          <p:nvPr/>
        </p:nvSpPr>
        <p:spPr>
          <a:xfrm>
            <a:off x="6473952" y="5194706"/>
            <a:ext cx="4846320" cy="310896"/>
          </a:xfrm>
          <a:prstGeom prst="rect">
            <a:avLst/>
          </a:prstGeom>
          <a:noFill/>
          <a:ln/>
        </p:spPr>
        <p:txBody>
          <a:bodyPr wrap="square" lIns="0" tIns="0" rIns="0" bIns="0" rtlCol="0" anchor="ctr"/>
          <a:lstStyle/>
          <a:p>
            <a:pPr indent="0" marL="0">
              <a:buNone/>
            </a:pPr>
            <a:r>
              <a:rPr lang="en-US" sz="1500" b="1" dirty="0">
                <a:solidFill>
                  <a:srgbClr val="E9F2F8"/>
                </a:solidFill>
                <a:latin typeface="Calibri" pitchFamily="34" charset="0"/>
                <a:ea typeface="Calibri" pitchFamily="34" charset="-122"/>
                <a:cs typeface="Calibri" pitchFamily="34" charset="-120"/>
              </a:rPr>
              <a:t>Uydurulan indeks boşa çıkar</a:t>
            </a:r>
            <a:endParaRPr lang="en-US" sz="1500" dirty="0"/>
          </a:p>
        </p:txBody>
      </p:sp>
      <p:sp>
        <p:nvSpPr>
          <p:cNvPr id="20" name="Text 18"/>
          <p:cNvSpPr txBox="1"/>
          <p:nvPr/>
        </p:nvSpPr>
        <p:spPr>
          <a:xfrm>
            <a:off x="6473952" y="5578754"/>
            <a:ext cx="4846320" cy="530352"/>
          </a:xfrm>
          <a:prstGeom prst="rect">
            <a:avLst/>
          </a:prstGeom>
          <a:noFill/>
          <a:ln/>
        </p:spPr>
        <p:txBody>
          <a:bodyPr wrap="square" lIns="0" tIns="0" rIns="0" bIns="0" rtlCol="0" anchor="t"/>
          <a:lstStyle/>
          <a:p>
            <a:pPr indent="0" marL="0">
              <a:lnSpc>
                <a:spcPts val="1800"/>
              </a:lnSpc>
              <a:buNone/>
            </a:pPr>
            <a:r>
              <a:rPr lang="en-US" sz="1100" dirty="0">
                <a:solidFill>
                  <a:srgbClr val="A9BCCB"/>
                </a:solidFill>
                <a:latin typeface="Calibri" pitchFamily="34" charset="0"/>
                <a:ea typeface="Calibri" pitchFamily="34" charset="-122"/>
                <a:cs typeface="Calibri" pitchFamily="34" charset="-120"/>
              </a:rPr>
              <a:t>Modelin icat ettiği bir şekil indeksi, şekilsiz bir soru üretir. Yanlış sayfaya bağlanmış bir görsel yerine hiç görsel olmaması tercih edilir.</a:t>
            </a:r>
            <a:endParaRPr lang="en-US" sz="1100" dirty="0"/>
          </a:p>
        </p:txBody>
      </p:sp>
      <p:sp>
        <p:nvSpPr>
          <p:cNvPr id="21" name="Text 19"/>
          <p:cNvSpPr txBox="1"/>
          <p:nvPr/>
        </p:nvSpPr>
        <p:spPr>
          <a:xfrm>
            <a:off x="566928" y="6382512"/>
            <a:ext cx="2377440" cy="237744"/>
          </a:xfrm>
          <a:prstGeom prst="rect">
            <a:avLst/>
          </a:prstGeom>
          <a:noFill/>
          <a:ln/>
        </p:spPr>
        <p:txBody>
          <a:bodyPr wrap="square" lIns="0" tIns="0" rIns="0" bIns="0" rtlCol="0" anchor="ctr"/>
          <a:lstStyle/>
          <a:p>
            <a:pPr indent="0" marL="0">
              <a:buNone/>
            </a:pPr>
            <a:r>
              <a:rPr lang="en-US" sz="850" spc="220" kern="0" dirty="0">
                <a:solidFill>
                  <a:srgbClr val="43566A"/>
                </a:solidFill>
                <a:latin typeface="Calibri" pitchFamily="34" charset="0"/>
                <a:ea typeface="Calibri" pitchFamily="34" charset="-122"/>
                <a:cs typeface="Calibri" pitchFamily="34" charset="-120"/>
              </a:rPr>
              <a:t>TIP AKADEMİSİ</a:t>
            </a:r>
            <a:endParaRPr lang="en-US" sz="850" dirty="0"/>
          </a:p>
        </p:txBody>
      </p:sp>
      <p:sp>
        <p:nvSpPr>
          <p:cNvPr id="22" name="Text 20"/>
          <p:cNvSpPr txBox="1"/>
          <p:nvPr/>
        </p:nvSpPr>
        <p:spPr>
          <a:xfrm>
            <a:off x="8229600" y="6382512"/>
            <a:ext cx="3364992" cy="237744"/>
          </a:xfrm>
          <a:prstGeom prst="rect">
            <a:avLst/>
          </a:prstGeom>
          <a:noFill/>
          <a:ln/>
        </p:spPr>
        <p:txBody>
          <a:bodyPr wrap="square" lIns="0" tIns="0" rIns="0" bIns="0" rtlCol="0" anchor="ctr"/>
          <a:lstStyle/>
          <a:p>
            <a:pPr algn="r" indent="0" marL="0">
              <a:buNone/>
            </a:pPr>
            <a:r>
              <a:rPr lang="en-US" sz="850" spc="220" kern="0" dirty="0">
                <a:solidFill>
                  <a:srgbClr val="43566A"/>
                </a:solidFill>
                <a:latin typeface="Calibri" pitchFamily="34" charset="0"/>
                <a:ea typeface="Calibri" pitchFamily="34" charset="-122"/>
                <a:cs typeface="Calibri" pitchFamily="34" charset="-120"/>
              </a:rPr>
              <a:t>16  ·  Sorular</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66928" y="530352"/>
            <a:ext cx="7680960" cy="237744"/>
          </a:xfrm>
          <a:prstGeom prst="rect">
            <a:avLst/>
          </a:prstGeom>
          <a:noFill/>
          <a:ln/>
        </p:spPr>
        <p:txBody>
          <a:bodyPr wrap="square" lIns="0" tIns="0" rIns="0" bIns="0" rtlCol="0" anchor="ctr"/>
          <a:lstStyle/>
          <a:p>
            <a:pPr indent="0" marL="0">
              <a:buNone/>
            </a:pPr>
            <a:r>
              <a:rPr lang="en-US" sz="1000" b="1" spc="340" kern="0" dirty="0">
                <a:solidFill>
                  <a:srgbClr val="4CC3EA"/>
                </a:solidFill>
                <a:latin typeface="Calibri" pitchFamily="34" charset="0"/>
                <a:ea typeface="Calibri" pitchFamily="34" charset="-122"/>
                <a:cs typeface="Calibri" pitchFamily="34" charset="-120"/>
              </a:rPr>
              <a:t>SORULAR</a:t>
            </a:r>
            <a:endParaRPr lang="en-US" sz="1000" dirty="0"/>
          </a:p>
        </p:txBody>
      </p:sp>
      <p:sp>
        <p:nvSpPr>
          <p:cNvPr id="3" name="Text 1"/>
          <p:cNvSpPr txBox="1"/>
          <p:nvPr/>
        </p:nvSpPr>
        <p:spPr>
          <a:xfrm>
            <a:off x="548640" y="786384"/>
            <a:ext cx="8778240" cy="786384"/>
          </a:xfrm>
          <a:prstGeom prst="rect">
            <a:avLst/>
          </a:prstGeom>
          <a:noFill/>
          <a:ln/>
        </p:spPr>
        <p:txBody>
          <a:bodyPr wrap="square" lIns="0" tIns="0" rIns="0" bIns="0" rtlCol="0" anchor="t"/>
          <a:lstStyle/>
          <a:p>
            <a:pPr indent="0" marL="0">
              <a:buNone/>
            </a:pPr>
            <a:r>
              <a:rPr lang="en-US" sz="3100" spc="40" kern="0" dirty="0">
                <a:solidFill>
                  <a:srgbClr val="E9F2F8"/>
                </a:solidFill>
                <a:latin typeface="Calibri" pitchFamily="34" charset="0"/>
                <a:ea typeface="Calibri" pitchFamily="34" charset="-122"/>
                <a:cs typeface="Calibri" pitchFamily="34" charset="-120"/>
              </a:rPr>
              <a:t>Her sorunun bir destek durumu var</a:t>
            </a:r>
            <a:endParaRPr lang="en-US" sz="3100" dirty="0"/>
          </a:p>
        </p:txBody>
      </p:sp>
      <p:sp>
        <p:nvSpPr>
          <p:cNvPr id="4" name="Shape 2"/>
          <p:cNvSpPr/>
          <p:nvPr/>
        </p:nvSpPr>
        <p:spPr>
          <a:xfrm>
            <a:off x="525780" y="1476756"/>
            <a:ext cx="6940296" cy="2878512"/>
          </a:xfrm>
          <a:prstGeom prst="roundRect">
            <a:avLst>
              <a:gd name="adj" fmla="val 1271"/>
            </a:avLst>
          </a:prstGeom>
          <a:solidFill>
            <a:srgbClr val="1B7BA0">
              <a:alpha val="18000"/>
            </a:srgbClr>
          </a:solidFill>
          <a:ln w="12700">
            <a:solidFill>
              <a:srgbClr val="31506A"/>
            </a:solidFill>
            <a:prstDash val="solid"/>
          </a:ln>
        </p:spPr>
      </p:sp>
      <p:pic>
        <p:nvPicPr>
          <p:cNvPr id="5" name="Image 0" descr="img/shots/07_soru_bankasi.jpg">    </p:cNvPr>
          <p:cNvPicPr>
            <a:picLocks noChangeAspect="1"/>
          </p:cNvPicPr>
          <p:nvPr/>
        </p:nvPicPr>
        <p:blipFill>
          <a:blip r:embed="rId2"/>
          <a:stretch>
            <a:fillRect/>
          </a:stretch>
        </p:blipFill>
        <p:spPr>
          <a:xfrm>
            <a:off x="566928" y="1517904"/>
            <a:ext cx="6858000" cy="2796216"/>
          </a:xfrm>
          <a:prstGeom prst="rect">
            <a:avLst/>
          </a:prstGeom>
        </p:spPr>
      </p:pic>
      <p:sp>
        <p:nvSpPr>
          <p:cNvPr id="6" name="Shape 3"/>
          <p:cNvSpPr/>
          <p:nvPr/>
        </p:nvSpPr>
        <p:spPr>
          <a:xfrm>
            <a:off x="7644384" y="1517904"/>
            <a:ext cx="3950208" cy="2067458"/>
          </a:xfrm>
          <a:prstGeom prst="roundRect">
            <a:avLst>
              <a:gd name="adj" fmla="val 2654"/>
            </a:avLst>
          </a:prstGeom>
          <a:solidFill>
            <a:srgbClr val="121C2E">
              <a:alpha val="74000"/>
            </a:srgbClr>
          </a:solidFill>
          <a:ln w="12700">
            <a:solidFill>
              <a:srgbClr val="24384B"/>
            </a:solidFill>
            <a:prstDash val="solid"/>
          </a:ln>
        </p:spPr>
      </p:sp>
      <p:sp>
        <p:nvSpPr>
          <p:cNvPr id="7" name="Text 4"/>
          <p:cNvSpPr txBox="1"/>
          <p:nvPr/>
        </p:nvSpPr>
        <p:spPr>
          <a:xfrm>
            <a:off x="7918704" y="1792224"/>
            <a:ext cx="3401568" cy="201168"/>
          </a:xfrm>
          <a:prstGeom prst="rect">
            <a:avLst/>
          </a:prstGeom>
          <a:noFill/>
          <a:ln/>
        </p:spPr>
        <p:txBody>
          <a:bodyPr wrap="square" lIns="0" tIns="0" rIns="0" bIns="0" rtlCol="0" anchor="ctr"/>
          <a:lstStyle/>
          <a:p>
            <a:pPr indent="0" marL="0">
              <a:buNone/>
            </a:pPr>
            <a:r>
              <a:rPr lang="en-US" sz="900" b="1" spc="260" kern="0" dirty="0">
                <a:solidFill>
                  <a:srgbClr val="4CC3EA"/>
                </a:solidFill>
                <a:latin typeface="Calibri" pitchFamily="34" charset="0"/>
                <a:ea typeface="Calibri" pitchFamily="34" charset="-122"/>
                <a:cs typeface="Calibri" pitchFamily="34" charset="-120"/>
              </a:rPr>
              <a:t>ÜRETIMDE</a:t>
            </a:r>
            <a:endParaRPr lang="en-US" sz="900" dirty="0"/>
          </a:p>
        </p:txBody>
      </p:sp>
      <p:sp>
        <p:nvSpPr>
          <p:cNvPr id="8" name="Text 5"/>
          <p:cNvSpPr txBox="1"/>
          <p:nvPr/>
        </p:nvSpPr>
        <p:spPr>
          <a:xfrm>
            <a:off x="7918704" y="2084832"/>
            <a:ext cx="3401568" cy="310896"/>
          </a:xfrm>
          <a:prstGeom prst="rect">
            <a:avLst/>
          </a:prstGeom>
          <a:noFill/>
          <a:ln/>
        </p:spPr>
        <p:txBody>
          <a:bodyPr wrap="square" lIns="0" tIns="0" rIns="0" bIns="0" rtlCol="0" anchor="ctr"/>
          <a:lstStyle/>
          <a:p>
            <a:pPr indent="0" marL="0">
              <a:buNone/>
            </a:pPr>
            <a:r>
              <a:rPr lang="en-US" sz="1450" b="1" dirty="0">
                <a:solidFill>
                  <a:srgbClr val="E9F2F8"/>
                </a:solidFill>
                <a:latin typeface="Calibri" pitchFamily="34" charset="0"/>
                <a:ea typeface="Calibri" pitchFamily="34" charset="-122"/>
                <a:cs typeface="Calibri" pitchFamily="34" charset="-120"/>
              </a:rPr>
              <a:t>Kapı: kaynak incelemesi</a:t>
            </a:r>
            <a:endParaRPr lang="en-US" sz="1450" dirty="0"/>
          </a:p>
        </p:txBody>
      </p:sp>
      <p:sp>
        <p:nvSpPr>
          <p:cNvPr id="9" name="Text 6"/>
          <p:cNvSpPr txBox="1"/>
          <p:nvPr/>
        </p:nvSpPr>
        <p:spPr>
          <a:xfrm>
            <a:off x="7918704" y="2468880"/>
            <a:ext cx="3401568" cy="988466"/>
          </a:xfrm>
          <a:prstGeom prst="rect">
            <a:avLst/>
          </a:prstGeom>
          <a:noFill/>
          <a:ln/>
        </p:spPr>
        <p:txBody>
          <a:bodyPr wrap="square" lIns="0" tIns="0" rIns="0" bIns="0" rtlCol="0" anchor="t"/>
          <a:lstStyle/>
          <a:p>
            <a:pPr indent="0" marL="0">
              <a:lnSpc>
                <a:spcPts val="1800"/>
              </a:lnSpc>
              <a:buNone/>
            </a:pPr>
            <a:r>
              <a:rPr lang="en-US" sz="1100" dirty="0">
                <a:solidFill>
                  <a:srgbClr val="A9BCCB"/>
                </a:solidFill>
                <a:latin typeface="Calibri" pitchFamily="34" charset="0"/>
                <a:ea typeface="Calibri" pitchFamily="34" charset="-122"/>
                <a:cs typeface="Calibri" pitchFamily="34" charset="-120"/>
              </a:rPr>
              <a:t>Yeni bir kâğıtta en çok on iki soru, her biri tek bir sınırlı model çağrısıyla incelenir. Kaynağı destekleyenler tutulur, geri kalanlar durumlarıyla bankada kalır ve kâğıdın notu kaçının neden dışarıda kaldığını söyler.</a:t>
            </a:r>
            <a:endParaRPr lang="en-US" sz="1100" dirty="0"/>
          </a:p>
        </p:txBody>
      </p:sp>
      <p:sp>
        <p:nvSpPr>
          <p:cNvPr id="10" name="Shape 7"/>
          <p:cNvSpPr/>
          <p:nvPr/>
        </p:nvSpPr>
        <p:spPr>
          <a:xfrm>
            <a:off x="7644384" y="3804818"/>
            <a:ext cx="3950208" cy="1838858"/>
          </a:xfrm>
          <a:prstGeom prst="roundRect">
            <a:avLst>
              <a:gd name="adj" fmla="val 2984"/>
            </a:avLst>
          </a:prstGeom>
          <a:solidFill>
            <a:srgbClr val="121C2E">
              <a:alpha val="74000"/>
            </a:srgbClr>
          </a:solidFill>
          <a:ln w="12700">
            <a:solidFill>
              <a:srgbClr val="FF9E9E"/>
            </a:solidFill>
            <a:prstDash val="solid"/>
          </a:ln>
        </p:spPr>
      </p:sp>
      <p:sp>
        <p:nvSpPr>
          <p:cNvPr id="11" name="Text 8"/>
          <p:cNvSpPr txBox="1"/>
          <p:nvPr/>
        </p:nvSpPr>
        <p:spPr>
          <a:xfrm>
            <a:off x="7918704" y="4079138"/>
            <a:ext cx="3401568" cy="201168"/>
          </a:xfrm>
          <a:prstGeom prst="rect">
            <a:avLst/>
          </a:prstGeom>
          <a:noFill/>
          <a:ln/>
        </p:spPr>
        <p:txBody>
          <a:bodyPr wrap="square" lIns="0" tIns="0" rIns="0" bIns="0" rtlCol="0" anchor="ctr"/>
          <a:lstStyle/>
          <a:p>
            <a:pPr indent="0" marL="0">
              <a:buNone/>
            </a:pPr>
            <a:r>
              <a:rPr lang="en-US" sz="900" b="1" spc="260" kern="0" dirty="0">
                <a:solidFill>
                  <a:srgbClr val="4CC3EA"/>
                </a:solidFill>
                <a:latin typeface="Calibri" pitchFamily="34" charset="0"/>
                <a:ea typeface="Calibri" pitchFamily="34" charset="-122"/>
                <a:cs typeface="Calibri" pitchFamily="34" charset="-120"/>
              </a:rPr>
              <a:t>ÖĞRENCININ SÖZÜ</a:t>
            </a:r>
            <a:endParaRPr lang="en-US" sz="900" dirty="0"/>
          </a:p>
        </p:txBody>
      </p:sp>
      <p:sp>
        <p:nvSpPr>
          <p:cNvPr id="12" name="Text 9"/>
          <p:cNvSpPr txBox="1"/>
          <p:nvPr/>
        </p:nvSpPr>
        <p:spPr>
          <a:xfrm>
            <a:off x="7918704" y="4371746"/>
            <a:ext cx="3401568" cy="310896"/>
          </a:xfrm>
          <a:prstGeom prst="rect">
            <a:avLst/>
          </a:prstGeom>
          <a:noFill/>
          <a:ln/>
        </p:spPr>
        <p:txBody>
          <a:bodyPr wrap="square" lIns="0" tIns="0" rIns="0" bIns="0" rtlCol="0" anchor="ctr"/>
          <a:lstStyle/>
          <a:p>
            <a:pPr indent="0" marL="0">
              <a:buNone/>
            </a:pPr>
            <a:r>
              <a:rPr lang="en-US" sz="1450" b="1" dirty="0">
                <a:solidFill>
                  <a:srgbClr val="E9F2F8"/>
                </a:solidFill>
                <a:latin typeface="Calibri" pitchFamily="34" charset="0"/>
                <a:ea typeface="Calibri" pitchFamily="34" charset="-122"/>
                <a:cs typeface="Calibri" pitchFamily="34" charset="-120"/>
              </a:rPr>
              <a:t>Hata bildirimi</a:t>
            </a:r>
            <a:endParaRPr lang="en-US" sz="1450" dirty="0"/>
          </a:p>
        </p:txBody>
      </p:sp>
      <p:sp>
        <p:nvSpPr>
          <p:cNvPr id="13" name="Text 10"/>
          <p:cNvSpPr txBox="1"/>
          <p:nvPr/>
        </p:nvSpPr>
        <p:spPr>
          <a:xfrm>
            <a:off x="7918704" y="4755794"/>
            <a:ext cx="3401568" cy="759866"/>
          </a:xfrm>
          <a:prstGeom prst="rect">
            <a:avLst/>
          </a:prstGeom>
          <a:noFill/>
          <a:ln/>
        </p:spPr>
        <p:txBody>
          <a:bodyPr wrap="square" lIns="0" tIns="0" rIns="0" bIns="0" rtlCol="0" anchor="t"/>
          <a:lstStyle/>
          <a:p>
            <a:pPr indent="0" marL="0">
              <a:lnSpc>
                <a:spcPts val="1800"/>
              </a:lnSpc>
              <a:buNone/>
            </a:pPr>
            <a:r>
              <a:rPr lang="en-US" sz="1100" dirty="0">
                <a:solidFill>
                  <a:srgbClr val="A9BCCB"/>
                </a:solidFill>
                <a:latin typeface="Calibri" pitchFamily="34" charset="0"/>
                <a:ea typeface="Calibri" pitchFamily="34" charset="-122"/>
                <a:cs typeface="Calibri" pitchFamily="34" charset="-120"/>
              </a:rPr>
              <a:t>"Soruda hata olabilir" dört türde bayrak açar: tartışmalı anahtar, birden çok savunulabilir cevap, kaynak uyuşmazlığı, şekil sorunu. Soruyu asla düzenlemez.</a:t>
            </a:r>
            <a:endParaRPr lang="en-US" sz="1100" dirty="0"/>
          </a:p>
        </p:txBody>
      </p:sp>
      <p:sp>
        <p:nvSpPr>
          <p:cNvPr id="14" name="Shape 11"/>
          <p:cNvSpPr/>
          <p:nvPr/>
        </p:nvSpPr>
        <p:spPr>
          <a:xfrm>
            <a:off x="566928" y="4551864"/>
            <a:ext cx="6858000" cy="1426464"/>
          </a:xfrm>
          <a:prstGeom prst="roundRect">
            <a:avLst>
              <a:gd name="adj" fmla="val 3846"/>
            </a:avLst>
          </a:prstGeom>
          <a:solidFill>
            <a:srgbClr val="121C2E">
              <a:alpha val="74000"/>
            </a:srgbClr>
          </a:solidFill>
          <a:ln w="12700">
            <a:solidFill>
              <a:srgbClr val="24384B"/>
            </a:solidFill>
            <a:prstDash val="solid"/>
          </a:ln>
        </p:spPr>
      </p:sp>
      <p:sp>
        <p:nvSpPr>
          <p:cNvPr id="15" name="Text 12"/>
          <p:cNvSpPr txBox="1"/>
          <p:nvPr/>
        </p:nvSpPr>
        <p:spPr>
          <a:xfrm>
            <a:off x="822960" y="4771320"/>
            <a:ext cx="7680960" cy="237744"/>
          </a:xfrm>
          <a:prstGeom prst="rect">
            <a:avLst/>
          </a:prstGeom>
          <a:noFill/>
          <a:ln/>
        </p:spPr>
        <p:txBody>
          <a:bodyPr wrap="square" lIns="0" tIns="0" rIns="0" bIns="0" rtlCol="0" anchor="ctr"/>
          <a:lstStyle/>
          <a:p>
            <a:pPr indent="0" marL="0">
              <a:buNone/>
            </a:pPr>
            <a:r>
              <a:rPr lang="en-US" sz="1000" b="1" spc="340" kern="0" dirty="0">
                <a:solidFill>
                  <a:srgbClr val="4CC3EA"/>
                </a:solidFill>
                <a:latin typeface="Calibri" pitchFamily="34" charset="0"/>
                <a:ea typeface="Calibri" pitchFamily="34" charset="-122"/>
                <a:cs typeface="Calibri" pitchFamily="34" charset="-120"/>
              </a:rPr>
              <a:t>DESTEK DURUMLARI</a:t>
            </a:r>
            <a:endParaRPr lang="en-US" sz="1000" dirty="0"/>
          </a:p>
        </p:txBody>
      </p:sp>
      <p:sp>
        <p:nvSpPr>
          <p:cNvPr id="16" name="Shape 13"/>
          <p:cNvSpPr/>
          <p:nvPr/>
        </p:nvSpPr>
        <p:spPr>
          <a:xfrm>
            <a:off x="822960" y="5082216"/>
            <a:ext cx="1499616" cy="310896"/>
          </a:xfrm>
          <a:prstGeom prst="roundRect">
            <a:avLst>
              <a:gd name="adj" fmla="val 147059"/>
            </a:avLst>
          </a:prstGeom>
          <a:solidFill>
            <a:srgbClr val="121C2E">
              <a:alpha val="66000"/>
            </a:srgbClr>
          </a:solidFill>
          <a:ln w="11430">
            <a:solidFill>
              <a:srgbClr val="7FE0B2"/>
            </a:solidFill>
            <a:prstDash val="solid"/>
          </a:ln>
        </p:spPr>
      </p:sp>
      <p:sp>
        <p:nvSpPr>
          <p:cNvPr id="17" name="Text 14"/>
          <p:cNvSpPr txBox="1"/>
          <p:nvPr/>
        </p:nvSpPr>
        <p:spPr>
          <a:xfrm>
            <a:off x="822960" y="5082216"/>
            <a:ext cx="1499616" cy="310896"/>
          </a:xfrm>
          <a:prstGeom prst="rect">
            <a:avLst/>
          </a:prstGeom>
          <a:noFill/>
          <a:ln/>
        </p:spPr>
        <p:txBody>
          <a:bodyPr wrap="square" lIns="0" tIns="0" rIns="0" bIns="0" rtlCol="0" anchor="ctr"/>
          <a:lstStyle/>
          <a:p>
            <a:pPr algn="ctr" indent="0" marL="0">
              <a:buNone/>
            </a:pPr>
            <a:r>
              <a:rPr lang="en-US" sz="950" spc="80" kern="0" dirty="0">
                <a:solidFill>
                  <a:srgbClr val="7FE0B2"/>
                </a:solidFill>
                <a:latin typeface="Calibri" pitchFamily="34" charset="0"/>
                <a:ea typeface="Calibri" pitchFamily="34" charset="-122"/>
                <a:cs typeface="Calibri" pitchFamily="34" charset="-120"/>
              </a:rPr>
              <a:t>kaynak destekli</a:t>
            </a:r>
            <a:endParaRPr lang="en-US" sz="950" dirty="0"/>
          </a:p>
        </p:txBody>
      </p:sp>
      <p:sp>
        <p:nvSpPr>
          <p:cNvPr id="18" name="Shape 15"/>
          <p:cNvSpPr/>
          <p:nvPr/>
        </p:nvSpPr>
        <p:spPr>
          <a:xfrm>
            <a:off x="2441448" y="5082216"/>
            <a:ext cx="1422806" cy="310896"/>
          </a:xfrm>
          <a:prstGeom prst="roundRect">
            <a:avLst>
              <a:gd name="adj" fmla="val 147059"/>
            </a:avLst>
          </a:prstGeom>
          <a:solidFill>
            <a:srgbClr val="121C2E">
              <a:alpha val="66000"/>
            </a:srgbClr>
          </a:solidFill>
          <a:ln w="11430">
            <a:solidFill>
              <a:srgbClr val="F0C68A"/>
            </a:solidFill>
            <a:prstDash val="solid"/>
          </a:ln>
        </p:spPr>
      </p:sp>
      <p:sp>
        <p:nvSpPr>
          <p:cNvPr id="19" name="Text 16"/>
          <p:cNvSpPr txBox="1"/>
          <p:nvPr/>
        </p:nvSpPr>
        <p:spPr>
          <a:xfrm>
            <a:off x="2441448" y="5082216"/>
            <a:ext cx="1422806" cy="310896"/>
          </a:xfrm>
          <a:prstGeom prst="rect">
            <a:avLst/>
          </a:prstGeom>
          <a:noFill/>
          <a:ln/>
        </p:spPr>
        <p:txBody>
          <a:bodyPr wrap="square" lIns="0" tIns="0" rIns="0" bIns="0" rtlCol="0" anchor="ctr"/>
          <a:lstStyle/>
          <a:p>
            <a:pPr algn="ctr" indent="0" marL="0">
              <a:buNone/>
            </a:pPr>
            <a:r>
              <a:rPr lang="en-US" sz="950" spc="80" kern="0" dirty="0">
                <a:solidFill>
                  <a:srgbClr val="F0C68A"/>
                </a:solidFill>
                <a:latin typeface="Calibri" pitchFamily="34" charset="0"/>
                <a:ea typeface="Calibri" pitchFamily="34" charset="-122"/>
                <a:cs typeface="Calibri" pitchFamily="34" charset="-120"/>
              </a:rPr>
              <a:t>inceleme gerek</a:t>
            </a:r>
            <a:endParaRPr lang="en-US" sz="950" dirty="0"/>
          </a:p>
        </p:txBody>
      </p:sp>
      <p:sp>
        <p:nvSpPr>
          <p:cNvPr id="20" name="Shape 17"/>
          <p:cNvSpPr/>
          <p:nvPr/>
        </p:nvSpPr>
        <p:spPr>
          <a:xfrm>
            <a:off x="3983126" y="5082216"/>
            <a:ext cx="1345997" cy="310896"/>
          </a:xfrm>
          <a:prstGeom prst="roundRect">
            <a:avLst>
              <a:gd name="adj" fmla="val 147059"/>
            </a:avLst>
          </a:prstGeom>
          <a:solidFill>
            <a:srgbClr val="121C2E">
              <a:alpha val="66000"/>
            </a:srgbClr>
          </a:solidFill>
          <a:ln w="11430">
            <a:solidFill>
              <a:srgbClr val="F0C68A"/>
            </a:solidFill>
            <a:prstDash val="solid"/>
          </a:ln>
        </p:spPr>
      </p:sp>
      <p:sp>
        <p:nvSpPr>
          <p:cNvPr id="21" name="Text 18"/>
          <p:cNvSpPr txBox="1"/>
          <p:nvPr/>
        </p:nvSpPr>
        <p:spPr>
          <a:xfrm>
            <a:off x="3983126" y="5082216"/>
            <a:ext cx="1345997" cy="310896"/>
          </a:xfrm>
          <a:prstGeom prst="rect">
            <a:avLst/>
          </a:prstGeom>
          <a:noFill/>
          <a:ln/>
        </p:spPr>
        <p:txBody>
          <a:bodyPr wrap="square" lIns="0" tIns="0" rIns="0" bIns="0" rtlCol="0" anchor="ctr"/>
          <a:lstStyle/>
          <a:p>
            <a:pPr algn="ctr" indent="0" marL="0">
              <a:buNone/>
            </a:pPr>
            <a:r>
              <a:rPr lang="en-US" sz="950" spc="80" kern="0" dirty="0">
                <a:solidFill>
                  <a:srgbClr val="F0C68A"/>
                </a:solidFill>
                <a:latin typeface="Calibri" pitchFamily="34" charset="0"/>
                <a:ea typeface="Calibri" pitchFamily="34" charset="-122"/>
                <a:cs typeface="Calibri" pitchFamily="34" charset="-120"/>
              </a:rPr>
              <a:t>çelişen kanıt</a:t>
            </a:r>
            <a:endParaRPr lang="en-US" sz="950" dirty="0"/>
          </a:p>
        </p:txBody>
      </p:sp>
      <p:sp>
        <p:nvSpPr>
          <p:cNvPr id="22" name="Shape 19"/>
          <p:cNvSpPr/>
          <p:nvPr/>
        </p:nvSpPr>
        <p:spPr>
          <a:xfrm>
            <a:off x="5447995" y="5082216"/>
            <a:ext cx="1422806" cy="310896"/>
          </a:xfrm>
          <a:prstGeom prst="roundRect">
            <a:avLst>
              <a:gd name="adj" fmla="val 147059"/>
            </a:avLst>
          </a:prstGeom>
          <a:solidFill>
            <a:srgbClr val="121C2E">
              <a:alpha val="66000"/>
            </a:srgbClr>
          </a:solidFill>
          <a:ln w="11430">
            <a:solidFill>
              <a:srgbClr val="F0C68A"/>
            </a:solidFill>
            <a:prstDash val="solid"/>
          </a:ln>
        </p:spPr>
      </p:sp>
      <p:sp>
        <p:nvSpPr>
          <p:cNvPr id="23" name="Text 20"/>
          <p:cNvSpPr txBox="1"/>
          <p:nvPr/>
        </p:nvSpPr>
        <p:spPr>
          <a:xfrm>
            <a:off x="5447995" y="5082216"/>
            <a:ext cx="1422806" cy="310896"/>
          </a:xfrm>
          <a:prstGeom prst="rect">
            <a:avLst/>
          </a:prstGeom>
          <a:noFill/>
          <a:ln/>
        </p:spPr>
        <p:txBody>
          <a:bodyPr wrap="square" lIns="0" tIns="0" rIns="0" bIns="0" rtlCol="0" anchor="ctr"/>
          <a:lstStyle/>
          <a:p>
            <a:pPr algn="ctr" indent="0" marL="0">
              <a:buNone/>
            </a:pPr>
            <a:r>
              <a:rPr lang="en-US" sz="950" spc="80" kern="0" dirty="0">
                <a:solidFill>
                  <a:srgbClr val="F0C68A"/>
                </a:solidFill>
                <a:latin typeface="Calibri" pitchFamily="34" charset="0"/>
                <a:ea typeface="Calibri" pitchFamily="34" charset="-122"/>
                <a:cs typeface="Calibri" pitchFamily="34" charset="-120"/>
              </a:rPr>
              <a:t>yetersiz kanıt</a:t>
            </a:r>
            <a:endParaRPr lang="en-US" sz="950" dirty="0"/>
          </a:p>
        </p:txBody>
      </p:sp>
      <p:sp>
        <p:nvSpPr>
          <p:cNvPr id="24" name="Shape 21"/>
          <p:cNvSpPr/>
          <p:nvPr/>
        </p:nvSpPr>
        <p:spPr>
          <a:xfrm>
            <a:off x="822960" y="5466264"/>
            <a:ext cx="1038758" cy="310896"/>
          </a:xfrm>
          <a:prstGeom prst="roundRect">
            <a:avLst>
              <a:gd name="adj" fmla="val 147059"/>
            </a:avLst>
          </a:prstGeom>
          <a:solidFill>
            <a:srgbClr val="121C2E">
              <a:alpha val="66000"/>
            </a:srgbClr>
          </a:solidFill>
          <a:ln w="11430">
            <a:solidFill>
              <a:srgbClr val="6F8597"/>
            </a:solidFill>
            <a:prstDash val="solid"/>
          </a:ln>
        </p:spPr>
      </p:sp>
      <p:sp>
        <p:nvSpPr>
          <p:cNvPr id="25" name="Text 22"/>
          <p:cNvSpPr txBox="1"/>
          <p:nvPr/>
        </p:nvSpPr>
        <p:spPr>
          <a:xfrm>
            <a:off x="822960" y="5466264"/>
            <a:ext cx="1038758" cy="310896"/>
          </a:xfrm>
          <a:prstGeom prst="rect">
            <a:avLst/>
          </a:prstGeom>
          <a:noFill/>
          <a:ln/>
        </p:spPr>
        <p:txBody>
          <a:bodyPr wrap="square" lIns="0" tIns="0" rIns="0" bIns="0" rtlCol="0" anchor="ctr"/>
          <a:lstStyle/>
          <a:p>
            <a:pPr algn="ctr" indent="0" marL="0">
              <a:buNone/>
            </a:pPr>
            <a:r>
              <a:rPr lang="en-US" sz="950" spc="80" kern="0" dirty="0">
                <a:solidFill>
                  <a:srgbClr val="6F8597"/>
                </a:solidFill>
                <a:latin typeface="Calibri" pitchFamily="34" charset="0"/>
                <a:ea typeface="Calibri" pitchFamily="34" charset="-122"/>
                <a:cs typeface="Calibri" pitchFamily="34" charset="-120"/>
              </a:rPr>
              <a:t>çözülmedi</a:t>
            </a:r>
            <a:endParaRPr lang="en-US" sz="950" dirty="0"/>
          </a:p>
        </p:txBody>
      </p:sp>
      <p:sp>
        <p:nvSpPr>
          <p:cNvPr id="26" name="Shape 23"/>
          <p:cNvSpPr/>
          <p:nvPr/>
        </p:nvSpPr>
        <p:spPr>
          <a:xfrm>
            <a:off x="1980590" y="5466264"/>
            <a:ext cx="777240" cy="310896"/>
          </a:xfrm>
          <a:prstGeom prst="roundRect">
            <a:avLst>
              <a:gd name="adj" fmla="val 147059"/>
            </a:avLst>
          </a:prstGeom>
          <a:solidFill>
            <a:srgbClr val="121C2E">
              <a:alpha val="66000"/>
            </a:srgbClr>
          </a:solidFill>
          <a:ln w="11430">
            <a:solidFill>
              <a:srgbClr val="6F8597"/>
            </a:solidFill>
            <a:prstDash val="solid"/>
          </a:ln>
        </p:spPr>
      </p:sp>
      <p:sp>
        <p:nvSpPr>
          <p:cNvPr id="27" name="Text 24"/>
          <p:cNvSpPr txBox="1"/>
          <p:nvPr/>
        </p:nvSpPr>
        <p:spPr>
          <a:xfrm>
            <a:off x="1980590" y="5466264"/>
            <a:ext cx="777240" cy="310896"/>
          </a:xfrm>
          <a:prstGeom prst="rect">
            <a:avLst/>
          </a:prstGeom>
          <a:noFill/>
          <a:ln/>
        </p:spPr>
        <p:txBody>
          <a:bodyPr wrap="square" lIns="0" tIns="0" rIns="0" bIns="0" rtlCol="0" anchor="ctr"/>
          <a:lstStyle/>
          <a:p>
            <a:pPr algn="ctr" indent="0" marL="0">
              <a:buNone/>
            </a:pPr>
            <a:r>
              <a:rPr lang="en-US" sz="950" spc="80" kern="0" dirty="0">
                <a:solidFill>
                  <a:srgbClr val="6F8597"/>
                </a:solidFill>
                <a:latin typeface="Calibri" pitchFamily="34" charset="0"/>
                <a:ea typeface="Calibri" pitchFamily="34" charset="-122"/>
                <a:cs typeface="Calibri" pitchFamily="34" charset="-120"/>
              </a:rPr>
              <a:t>bayat</a:t>
            </a:r>
            <a:endParaRPr lang="en-US" sz="950" dirty="0"/>
          </a:p>
        </p:txBody>
      </p:sp>
      <p:sp>
        <p:nvSpPr>
          <p:cNvPr id="28" name="Shape 25"/>
          <p:cNvSpPr/>
          <p:nvPr/>
        </p:nvSpPr>
        <p:spPr>
          <a:xfrm>
            <a:off x="2876702" y="5466264"/>
            <a:ext cx="1422806" cy="310896"/>
          </a:xfrm>
          <a:prstGeom prst="roundRect">
            <a:avLst>
              <a:gd name="adj" fmla="val 147059"/>
            </a:avLst>
          </a:prstGeom>
          <a:solidFill>
            <a:srgbClr val="121C2E">
              <a:alpha val="66000"/>
            </a:srgbClr>
          </a:solidFill>
          <a:ln w="11430">
            <a:solidFill>
              <a:srgbClr val="6F8597"/>
            </a:solidFill>
            <a:prstDash val="solid"/>
          </a:ln>
        </p:spPr>
      </p:sp>
      <p:sp>
        <p:nvSpPr>
          <p:cNvPr id="29" name="Text 26"/>
          <p:cNvSpPr txBox="1"/>
          <p:nvPr/>
        </p:nvSpPr>
        <p:spPr>
          <a:xfrm>
            <a:off x="2876702" y="5466264"/>
            <a:ext cx="1422806" cy="310896"/>
          </a:xfrm>
          <a:prstGeom prst="rect">
            <a:avLst/>
          </a:prstGeom>
          <a:noFill/>
          <a:ln/>
        </p:spPr>
        <p:txBody>
          <a:bodyPr wrap="square" lIns="0" tIns="0" rIns="0" bIns="0" rtlCol="0" anchor="ctr"/>
          <a:lstStyle/>
          <a:p>
            <a:pPr algn="ctr" indent="0" marL="0">
              <a:buNone/>
            </a:pPr>
            <a:r>
              <a:rPr lang="en-US" sz="950" spc="80" kern="0" dirty="0">
                <a:solidFill>
                  <a:srgbClr val="6F8597"/>
                </a:solidFill>
                <a:latin typeface="Calibri" pitchFamily="34" charset="0"/>
                <a:ea typeface="Calibri" pitchFamily="34" charset="-122"/>
                <a:cs typeface="Calibri" pitchFamily="34" charset="-120"/>
              </a:rPr>
              <a:t>kaynak silindi</a:t>
            </a:r>
            <a:endParaRPr lang="en-US" sz="950" dirty="0"/>
          </a:p>
        </p:txBody>
      </p:sp>
      <p:sp>
        <p:nvSpPr>
          <p:cNvPr id="30" name="Shape 27"/>
          <p:cNvSpPr/>
          <p:nvPr/>
        </p:nvSpPr>
        <p:spPr>
          <a:xfrm>
            <a:off x="4418381" y="5466264"/>
            <a:ext cx="1422806" cy="310896"/>
          </a:xfrm>
          <a:prstGeom prst="roundRect">
            <a:avLst>
              <a:gd name="adj" fmla="val 147059"/>
            </a:avLst>
          </a:prstGeom>
          <a:solidFill>
            <a:srgbClr val="121C2E">
              <a:alpha val="66000"/>
            </a:srgbClr>
          </a:solidFill>
          <a:ln w="11430">
            <a:solidFill>
              <a:srgbClr val="B8A8FF"/>
            </a:solidFill>
            <a:prstDash val="solid"/>
          </a:ln>
        </p:spPr>
      </p:sp>
      <p:sp>
        <p:nvSpPr>
          <p:cNvPr id="31" name="Text 28"/>
          <p:cNvSpPr txBox="1"/>
          <p:nvPr/>
        </p:nvSpPr>
        <p:spPr>
          <a:xfrm>
            <a:off x="4418381" y="5466264"/>
            <a:ext cx="1422806" cy="310896"/>
          </a:xfrm>
          <a:prstGeom prst="rect">
            <a:avLst/>
          </a:prstGeom>
          <a:noFill/>
          <a:ln/>
        </p:spPr>
        <p:txBody>
          <a:bodyPr wrap="square" lIns="0" tIns="0" rIns="0" bIns="0" rtlCol="0" anchor="ctr"/>
          <a:lstStyle/>
          <a:p>
            <a:pPr algn="ctr" indent="0" marL="0">
              <a:buNone/>
            </a:pPr>
            <a:r>
              <a:rPr lang="en-US" sz="950" spc="80" kern="0" dirty="0">
                <a:solidFill>
                  <a:srgbClr val="B8A8FF"/>
                </a:solidFill>
                <a:latin typeface="Calibri" pitchFamily="34" charset="0"/>
                <a:ea typeface="Calibri" pitchFamily="34" charset="-122"/>
                <a:cs typeface="Calibri" pitchFamily="34" charset="-120"/>
              </a:rPr>
              <a:t>içe aktarılmış</a:t>
            </a:r>
            <a:endParaRPr lang="en-US" sz="950" dirty="0"/>
          </a:p>
        </p:txBody>
      </p:sp>
      <p:sp>
        <p:nvSpPr>
          <p:cNvPr id="32" name="Shape 29"/>
          <p:cNvSpPr/>
          <p:nvPr/>
        </p:nvSpPr>
        <p:spPr>
          <a:xfrm>
            <a:off x="5960059" y="5466264"/>
            <a:ext cx="961949" cy="310896"/>
          </a:xfrm>
          <a:prstGeom prst="roundRect">
            <a:avLst>
              <a:gd name="adj" fmla="val 147059"/>
            </a:avLst>
          </a:prstGeom>
          <a:solidFill>
            <a:srgbClr val="121C2E">
              <a:alpha val="66000"/>
            </a:srgbClr>
          </a:solidFill>
          <a:ln w="11430">
            <a:solidFill>
              <a:srgbClr val="FF9E9E"/>
            </a:solidFill>
            <a:prstDash val="solid"/>
          </a:ln>
        </p:spPr>
      </p:sp>
      <p:sp>
        <p:nvSpPr>
          <p:cNvPr id="33" name="Text 30"/>
          <p:cNvSpPr txBox="1"/>
          <p:nvPr/>
        </p:nvSpPr>
        <p:spPr>
          <a:xfrm>
            <a:off x="5960059" y="5466264"/>
            <a:ext cx="961949" cy="310896"/>
          </a:xfrm>
          <a:prstGeom prst="rect">
            <a:avLst/>
          </a:prstGeom>
          <a:noFill/>
          <a:ln/>
        </p:spPr>
        <p:txBody>
          <a:bodyPr wrap="square" lIns="0" tIns="0" rIns="0" bIns="0" rtlCol="0" anchor="ctr"/>
          <a:lstStyle/>
          <a:p>
            <a:pPr algn="ctr" indent="0" marL="0">
              <a:buNone/>
            </a:pPr>
            <a:r>
              <a:rPr lang="en-US" sz="950" spc="80" kern="0" dirty="0">
                <a:solidFill>
                  <a:srgbClr val="FF9E9E"/>
                </a:solidFill>
                <a:latin typeface="Calibri" pitchFamily="34" charset="0"/>
                <a:ea typeface="Calibri" pitchFamily="34" charset="-122"/>
                <a:cs typeface="Calibri" pitchFamily="34" charset="-120"/>
              </a:rPr>
              <a:t>geçersiz</a:t>
            </a:r>
            <a:endParaRPr lang="en-US" sz="950" dirty="0"/>
          </a:p>
        </p:txBody>
      </p:sp>
      <p:sp>
        <p:nvSpPr>
          <p:cNvPr id="34" name="Text 31"/>
          <p:cNvSpPr txBox="1"/>
          <p:nvPr/>
        </p:nvSpPr>
        <p:spPr>
          <a:xfrm>
            <a:off x="566928" y="6382512"/>
            <a:ext cx="2377440" cy="237744"/>
          </a:xfrm>
          <a:prstGeom prst="rect">
            <a:avLst/>
          </a:prstGeom>
          <a:noFill/>
          <a:ln/>
        </p:spPr>
        <p:txBody>
          <a:bodyPr wrap="square" lIns="0" tIns="0" rIns="0" bIns="0" rtlCol="0" anchor="ctr"/>
          <a:lstStyle/>
          <a:p>
            <a:pPr indent="0" marL="0">
              <a:buNone/>
            </a:pPr>
            <a:r>
              <a:rPr lang="en-US" sz="850" spc="220" kern="0" dirty="0">
                <a:solidFill>
                  <a:srgbClr val="43566A"/>
                </a:solidFill>
                <a:latin typeface="Calibri" pitchFamily="34" charset="0"/>
                <a:ea typeface="Calibri" pitchFamily="34" charset="-122"/>
                <a:cs typeface="Calibri" pitchFamily="34" charset="-120"/>
              </a:rPr>
              <a:t>TIP AKADEMİSİ</a:t>
            </a:r>
            <a:endParaRPr lang="en-US" sz="850" dirty="0"/>
          </a:p>
        </p:txBody>
      </p:sp>
      <p:sp>
        <p:nvSpPr>
          <p:cNvPr id="35" name="Text 32"/>
          <p:cNvSpPr txBox="1"/>
          <p:nvPr/>
        </p:nvSpPr>
        <p:spPr>
          <a:xfrm>
            <a:off x="8229600" y="6382512"/>
            <a:ext cx="3364992" cy="237744"/>
          </a:xfrm>
          <a:prstGeom prst="rect">
            <a:avLst/>
          </a:prstGeom>
          <a:noFill/>
          <a:ln/>
        </p:spPr>
        <p:txBody>
          <a:bodyPr wrap="square" lIns="0" tIns="0" rIns="0" bIns="0" rtlCol="0" anchor="ctr"/>
          <a:lstStyle/>
          <a:p>
            <a:pPr algn="r" indent="0" marL="0">
              <a:buNone/>
            </a:pPr>
            <a:r>
              <a:rPr lang="en-US" sz="850" spc="220" kern="0" dirty="0">
                <a:solidFill>
                  <a:srgbClr val="43566A"/>
                </a:solidFill>
                <a:latin typeface="Calibri" pitchFamily="34" charset="0"/>
                <a:ea typeface="Calibri" pitchFamily="34" charset="-122"/>
                <a:cs typeface="Calibri" pitchFamily="34" charset="-120"/>
              </a:rPr>
              <a:t>17  ·  Sorular</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035040" y="2286000"/>
            <a:ext cx="1828800" cy="1097280"/>
          </a:xfrm>
          <a:prstGeom prst="rect">
            <a:avLst/>
          </a:prstGeom>
          <a:noFill/>
          <a:ln/>
        </p:spPr>
        <p:txBody>
          <a:bodyPr wrap="square" lIns="0" tIns="0" rIns="0" bIns="0" rtlCol="0" anchor="ctr"/>
          <a:lstStyle/>
          <a:p>
            <a:pPr indent="0" marL="0">
              <a:buNone/>
            </a:pPr>
            <a:r>
              <a:rPr lang="en-US" sz="7400" b="1" dirty="0">
                <a:solidFill>
                  <a:srgbClr val="1B7BA0"/>
                </a:solidFill>
                <a:latin typeface="Calibri" pitchFamily="34" charset="0"/>
                <a:ea typeface="Calibri" pitchFamily="34" charset="-122"/>
                <a:cs typeface="Calibri" pitchFamily="34" charset="-120"/>
              </a:rPr>
              <a:t>IV</a:t>
            </a:r>
            <a:endParaRPr lang="en-US" sz="7400" dirty="0"/>
          </a:p>
        </p:txBody>
      </p:sp>
      <p:sp>
        <p:nvSpPr>
          <p:cNvPr id="3" name="Text 1"/>
          <p:cNvSpPr txBox="1"/>
          <p:nvPr/>
        </p:nvSpPr>
        <p:spPr>
          <a:xfrm>
            <a:off x="6053328" y="3456432"/>
            <a:ext cx="7680960" cy="237744"/>
          </a:xfrm>
          <a:prstGeom prst="rect">
            <a:avLst/>
          </a:prstGeom>
          <a:noFill/>
          <a:ln/>
        </p:spPr>
        <p:txBody>
          <a:bodyPr wrap="square" lIns="0" tIns="0" rIns="0" bIns="0" rtlCol="0" anchor="ctr"/>
          <a:lstStyle/>
          <a:p>
            <a:pPr indent="0" marL="0">
              <a:buNone/>
            </a:pPr>
            <a:r>
              <a:rPr lang="en-US" sz="1000" b="1" spc="340" kern="0" dirty="0">
                <a:solidFill>
                  <a:srgbClr val="4CC3EA"/>
                </a:solidFill>
                <a:latin typeface="Calibri" pitchFamily="34" charset="0"/>
                <a:ea typeface="Calibri" pitchFamily="34" charset="-122"/>
                <a:cs typeface="Calibri" pitchFamily="34" charset="-120"/>
              </a:rPr>
              <a:t>BÖLÜM DÖRT</a:t>
            </a:r>
            <a:endParaRPr lang="en-US" sz="1000" dirty="0"/>
          </a:p>
        </p:txBody>
      </p:sp>
      <p:sp>
        <p:nvSpPr>
          <p:cNvPr id="4" name="Text 2"/>
          <p:cNvSpPr txBox="1"/>
          <p:nvPr/>
        </p:nvSpPr>
        <p:spPr>
          <a:xfrm>
            <a:off x="6035040" y="3712464"/>
            <a:ext cx="5577840" cy="868680"/>
          </a:xfrm>
          <a:prstGeom prst="rect">
            <a:avLst/>
          </a:prstGeom>
          <a:noFill/>
          <a:ln/>
        </p:spPr>
        <p:txBody>
          <a:bodyPr wrap="square" lIns="0" tIns="0" rIns="0" bIns="0" rtlCol="0" anchor="ctr"/>
          <a:lstStyle/>
          <a:p>
            <a:pPr indent="0" marL="0">
              <a:buNone/>
            </a:pPr>
            <a:r>
              <a:rPr lang="en-US" sz="3800" spc="40" kern="0" dirty="0">
                <a:solidFill>
                  <a:srgbClr val="E9F2F8"/>
                </a:solidFill>
                <a:latin typeface="Calibri" pitchFamily="34" charset="0"/>
                <a:ea typeface="Calibri" pitchFamily="34" charset="-122"/>
                <a:cs typeface="Calibri" pitchFamily="34" charset="-120"/>
              </a:rPr>
              <a:t>Hoca tarzı</a:t>
            </a:r>
            <a:endParaRPr lang="en-US" sz="3800" dirty="0"/>
          </a:p>
        </p:txBody>
      </p:sp>
      <p:sp>
        <p:nvSpPr>
          <p:cNvPr id="5" name="Text 3"/>
          <p:cNvSpPr txBox="1"/>
          <p:nvPr/>
        </p:nvSpPr>
        <p:spPr>
          <a:xfrm>
            <a:off x="6053328" y="4590288"/>
            <a:ext cx="5394960" cy="822960"/>
          </a:xfrm>
          <a:prstGeom prst="rect">
            <a:avLst/>
          </a:prstGeom>
          <a:noFill/>
          <a:ln/>
        </p:spPr>
        <p:txBody>
          <a:bodyPr wrap="square" lIns="0" tIns="0" rIns="0" bIns="0" rtlCol="0" anchor="t"/>
          <a:lstStyle/>
          <a:p>
            <a:pPr indent="0" marL="0">
              <a:lnSpc>
                <a:spcPts val="2200"/>
              </a:lnSpc>
              <a:buNone/>
            </a:pPr>
            <a:r>
              <a:rPr lang="en-US" sz="1350" dirty="0">
                <a:solidFill>
                  <a:srgbClr val="A9BCCB"/>
                </a:solidFill>
                <a:latin typeface="Calibri" pitchFamily="34" charset="0"/>
                <a:ea typeface="Calibri" pitchFamily="34" charset="-122"/>
                <a:cs typeface="Calibri" pitchFamily="34" charset="-120"/>
              </a:rPr>
              <a:t>Bir sınavı hocanın yazdığı gibi kurmak için önce onun nasıl yazdığını ölçmek gerekir — tahmin ederek değil, sayarak.</a:t>
            </a:r>
            <a:endParaRPr lang="en-US" sz="1350" dirty="0"/>
          </a:p>
        </p:txBody>
      </p:sp>
      <p:sp>
        <p:nvSpPr>
          <p:cNvPr id="6" name="Text 4"/>
          <p:cNvSpPr txBox="1"/>
          <p:nvPr/>
        </p:nvSpPr>
        <p:spPr>
          <a:xfrm>
            <a:off x="566928" y="6382512"/>
            <a:ext cx="2377440" cy="237744"/>
          </a:xfrm>
          <a:prstGeom prst="rect">
            <a:avLst/>
          </a:prstGeom>
          <a:noFill/>
          <a:ln/>
        </p:spPr>
        <p:txBody>
          <a:bodyPr wrap="square" lIns="0" tIns="0" rIns="0" bIns="0" rtlCol="0" anchor="ctr"/>
          <a:lstStyle/>
          <a:p>
            <a:pPr indent="0" marL="0">
              <a:buNone/>
            </a:pPr>
            <a:r>
              <a:rPr lang="en-US" sz="850" spc="220" kern="0" dirty="0">
                <a:solidFill>
                  <a:srgbClr val="43566A"/>
                </a:solidFill>
                <a:latin typeface="Calibri" pitchFamily="34" charset="0"/>
                <a:ea typeface="Calibri" pitchFamily="34" charset="-122"/>
                <a:cs typeface="Calibri" pitchFamily="34" charset="-120"/>
              </a:rPr>
              <a:t>TIP AKADEMİSİ</a:t>
            </a:r>
            <a:endParaRPr lang="en-US" sz="850" dirty="0"/>
          </a:p>
        </p:txBody>
      </p:sp>
      <p:sp>
        <p:nvSpPr>
          <p:cNvPr id="7" name="Text 5"/>
          <p:cNvSpPr txBox="1"/>
          <p:nvPr/>
        </p:nvSpPr>
        <p:spPr>
          <a:xfrm>
            <a:off x="8229600" y="6382512"/>
            <a:ext cx="3364992" cy="237744"/>
          </a:xfrm>
          <a:prstGeom prst="rect">
            <a:avLst/>
          </a:prstGeom>
          <a:noFill/>
          <a:ln/>
        </p:spPr>
        <p:txBody>
          <a:bodyPr wrap="square" lIns="0" tIns="0" rIns="0" bIns="0" rtlCol="0" anchor="ctr"/>
          <a:lstStyle/>
          <a:p>
            <a:pPr algn="r" indent="0" marL="0">
              <a:buNone/>
            </a:pPr>
            <a:r>
              <a:rPr lang="en-US" sz="850" spc="220" kern="0" dirty="0">
                <a:solidFill>
                  <a:srgbClr val="43566A"/>
                </a:solidFill>
                <a:latin typeface="Calibri" pitchFamily="34" charset="0"/>
                <a:ea typeface="Calibri" pitchFamily="34" charset="-122"/>
                <a:cs typeface="Calibri" pitchFamily="34" charset="-120"/>
              </a:rPr>
              <a:t>18</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66928" y="530352"/>
            <a:ext cx="7680960" cy="237744"/>
          </a:xfrm>
          <a:prstGeom prst="rect">
            <a:avLst/>
          </a:prstGeom>
          <a:noFill/>
          <a:ln/>
        </p:spPr>
        <p:txBody>
          <a:bodyPr wrap="square" lIns="0" tIns="0" rIns="0" bIns="0" rtlCol="0" anchor="ctr"/>
          <a:lstStyle/>
          <a:p>
            <a:pPr indent="0" marL="0">
              <a:buNone/>
            </a:pPr>
            <a:r>
              <a:rPr lang="en-US" sz="1000" b="1" spc="340" kern="0" dirty="0">
                <a:solidFill>
                  <a:srgbClr val="4CC3EA"/>
                </a:solidFill>
                <a:latin typeface="Calibri" pitchFamily="34" charset="0"/>
                <a:ea typeface="Calibri" pitchFamily="34" charset="-122"/>
                <a:cs typeface="Calibri" pitchFamily="34" charset="-120"/>
              </a:rPr>
              <a:t>HOCA TARZI</a:t>
            </a:r>
            <a:endParaRPr lang="en-US" sz="1000" dirty="0"/>
          </a:p>
        </p:txBody>
      </p:sp>
      <p:sp>
        <p:nvSpPr>
          <p:cNvPr id="3" name="Text 1"/>
          <p:cNvSpPr txBox="1"/>
          <p:nvPr/>
        </p:nvSpPr>
        <p:spPr>
          <a:xfrm>
            <a:off x="548640" y="786384"/>
            <a:ext cx="8778240" cy="786384"/>
          </a:xfrm>
          <a:prstGeom prst="rect">
            <a:avLst/>
          </a:prstGeom>
          <a:noFill/>
          <a:ln/>
        </p:spPr>
        <p:txBody>
          <a:bodyPr wrap="square" lIns="0" tIns="0" rIns="0" bIns="0" rtlCol="0" anchor="t"/>
          <a:lstStyle/>
          <a:p>
            <a:pPr indent="0" marL="0">
              <a:buNone/>
            </a:pPr>
            <a:r>
              <a:rPr lang="en-US" sz="3100" spc="40" kern="0" dirty="0">
                <a:solidFill>
                  <a:srgbClr val="E9F2F8"/>
                </a:solidFill>
                <a:latin typeface="Calibri" pitchFamily="34" charset="0"/>
                <a:ea typeface="Calibri" pitchFamily="34" charset="-122"/>
                <a:cs typeface="Calibri" pitchFamily="34" charset="-120"/>
              </a:rPr>
              <a:t>On beş gözlemlenebilir özellik</a:t>
            </a:r>
            <a:endParaRPr lang="en-US" sz="3100" dirty="0"/>
          </a:p>
        </p:txBody>
      </p:sp>
      <p:sp>
        <p:nvSpPr>
          <p:cNvPr id="4" name="Shape 2"/>
          <p:cNvSpPr/>
          <p:nvPr/>
        </p:nvSpPr>
        <p:spPr>
          <a:xfrm>
            <a:off x="525780" y="1476756"/>
            <a:ext cx="6940296" cy="2878512"/>
          </a:xfrm>
          <a:prstGeom prst="roundRect">
            <a:avLst>
              <a:gd name="adj" fmla="val 1271"/>
            </a:avLst>
          </a:prstGeom>
          <a:solidFill>
            <a:srgbClr val="1B7BA0">
              <a:alpha val="18000"/>
            </a:srgbClr>
          </a:solidFill>
          <a:ln w="12700">
            <a:solidFill>
              <a:srgbClr val="31506A"/>
            </a:solidFill>
            <a:prstDash val="solid"/>
          </a:ln>
        </p:spPr>
      </p:sp>
      <p:pic>
        <p:nvPicPr>
          <p:cNvPr id="5" name="Image 0" descr="img/shots/10_hoca_tarzi.jpg">    </p:cNvPr>
          <p:cNvPicPr>
            <a:picLocks noChangeAspect="1"/>
          </p:cNvPicPr>
          <p:nvPr/>
        </p:nvPicPr>
        <p:blipFill>
          <a:blip r:embed="rId2"/>
          <a:stretch>
            <a:fillRect/>
          </a:stretch>
        </p:blipFill>
        <p:spPr>
          <a:xfrm>
            <a:off x="566928" y="1517904"/>
            <a:ext cx="6858000" cy="2796216"/>
          </a:xfrm>
          <a:prstGeom prst="rect">
            <a:avLst/>
          </a:prstGeom>
        </p:spPr>
      </p:pic>
      <p:sp>
        <p:nvSpPr>
          <p:cNvPr id="6" name="Shape 3"/>
          <p:cNvSpPr/>
          <p:nvPr/>
        </p:nvSpPr>
        <p:spPr>
          <a:xfrm>
            <a:off x="7644384" y="1517904"/>
            <a:ext cx="3950208" cy="2067458"/>
          </a:xfrm>
          <a:prstGeom prst="roundRect">
            <a:avLst>
              <a:gd name="adj" fmla="val 2654"/>
            </a:avLst>
          </a:prstGeom>
          <a:solidFill>
            <a:srgbClr val="121C2E">
              <a:alpha val="74000"/>
            </a:srgbClr>
          </a:solidFill>
          <a:ln w="12700">
            <a:solidFill>
              <a:srgbClr val="24384B"/>
            </a:solidFill>
            <a:prstDash val="solid"/>
          </a:ln>
        </p:spPr>
      </p:sp>
      <p:sp>
        <p:nvSpPr>
          <p:cNvPr id="7" name="Text 4"/>
          <p:cNvSpPr txBox="1"/>
          <p:nvPr/>
        </p:nvSpPr>
        <p:spPr>
          <a:xfrm>
            <a:off x="7918704" y="1792224"/>
            <a:ext cx="3401568" cy="201168"/>
          </a:xfrm>
          <a:prstGeom prst="rect">
            <a:avLst/>
          </a:prstGeom>
          <a:noFill/>
          <a:ln/>
        </p:spPr>
        <p:txBody>
          <a:bodyPr wrap="square" lIns="0" tIns="0" rIns="0" bIns="0" rtlCol="0" anchor="ctr"/>
          <a:lstStyle/>
          <a:p>
            <a:pPr indent="0" marL="0">
              <a:buNone/>
            </a:pPr>
            <a:r>
              <a:rPr lang="en-US" sz="900" b="1" spc="260" kern="0" dirty="0">
                <a:solidFill>
                  <a:srgbClr val="4CC3EA"/>
                </a:solidFill>
                <a:latin typeface="Calibri" pitchFamily="34" charset="0"/>
                <a:ea typeface="Calibri" pitchFamily="34" charset="-122"/>
                <a:cs typeface="Calibri" pitchFamily="34" charset="-120"/>
              </a:rPr>
              <a:t>STYLEPROFILER</a:t>
            </a:r>
            <a:endParaRPr lang="en-US" sz="900" dirty="0"/>
          </a:p>
        </p:txBody>
      </p:sp>
      <p:sp>
        <p:nvSpPr>
          <p:cNvPr id="8" name="Text 5"/>
          <p:cNvSpPr txBox="1"/>
          <p:nvPr/>
        </p:nvSpPr>
        <p:spPr>
          <a:xfrm>
            <a:off x="7918704" y="2084832"/>
            <a:ext cx="3401568" cy="310896"/>
          </a:xfrm>
          <a:prstGeom prst="rect">
            <a:avLst/>
          </a:prstGeom>
          <a:noFill/>
          <a:ln/>
        </p:spPr>
        <p:txBody>
          <a:bodyPr wrap="square" lIns="0" tIns="0" rIns="0" bIns="0" rtlCol="0" anchor="ctr"/>
          <a:lstStyle/>
          <a:p>
            <a:pPr indent="0" marL="0">
              <a:buNone/>
            </a:pPr>
            <a:r>
              <a:rPr lang="en-US" sz="1450" b="1" dirty="0">
                <a:solidFill>
                  <a:srgbClr val="E9F2F8"/>
                </a:solidFill>
                <a:latin typeface="Calibri" pitchFamily="34" charset="0"/>
                <a:ea typeface="Calibri" pitchFamily="34" charset="-122"/>
                <a:cs typeface="Calibri" pitchFamily="34" charset="-120"/>
              </a:rPr>
              <a:t>Ölçülen, tahmin edilmeyen</a:t>
            </a:r>
            <a:endParaRPr lang="en-US" sz="1450" dirty="0"/>
          </a:p>
        </p:txBody>
      </p:sp>
      <p:sp>
        <p:nvSpPr>
          <p:cNvPr id="9" name="Text 6"/>
          <p:cNvSpPr txBox="1"/>
          <p:nvPr/>
        </p:nvSpPr>
        <p:spPr>
          <a:xfrm>
            <a:off x="7918704" y="2468880"/>
            <a:ext cx="3401568" cy="988466"/>
          </a:xfrm>
          <a:prstGeom prst="rect">
            <a:avLst/>
          </a:prstGeom>
          <a:noFill/>
          <a:ln/>
        </p:spPr>
        <p:txBody>
          <a:bodyPr wrap="square" lIns="0" tIns="0" rIns="0" bIns="0" rtlCol="0" anchor="t"/>
          <a:lstStyle/>
          <a:p>
            <a:pPr indent="0" marL="0">
              <a:lnSpc>
                <a:spcPts val="1800"/>
              </a:lnSpc>
              <a:buNone/>
            </a:pPr>
            <a:r>
              <a:rPr lang="en-US" sz="1100" dirty="0">
                <a:solidFill>
                  <a:srgbClr val="A9BCCB"/>
                </a:solidFill>
                <a:latin typeface="Calibri" pitchFamily="34" charset="0"/>
                <a:ea typeface="Calibri" pitchFamily="34" charset="-122"/>
                <a:cs typeface="Calibri" pitchFamily="34" charset="-120"/>
              </a:rPr>
              <a:t>Olumsuz kökler, "hangisi doğrudur", klinik vinyetler, çok ifadeli maddeler, Latince yoğunluğu, sayısal olgular, tanımlar, yapı tanıma, mekanizma, istisnalar, kök uzunluğu, çeldirici benzerliği, şık sayısı.</a:t>
            </a:r>
            <a:endParaRPr lang="en-US" sz="1100" dirty="0"/>
          </a:p>
        </p:txBody>
      </p:sp>
      <p:sp>
        <p:nvSpPr>
          <p:cNvPr id="10" name="Shape 7"/>
          <p:cNvSpPr/>
          <p:nvPr/>
        </p:nvSpPr>
        <p:spPr>
          <a:xfrm>
            <a:off x="7644384" y="3804818"/>
            <a:ext cx="3950208" cy="1838858"/>
          </a:xfrm>
          <a:prstGeom prst="roundRect">
            <a:avLst>
              <a:gd name="adj" fmla="val 2984"/>
            </a:avLst>
          </a:prstGeom>
          <a:solidFill>
            <a:srgbClr val="121C2E">
              <a:alpha val="74000"/>
            </a:srgbClr>
          </a:solidFill>
          <a:ln w="12700">
            <a:solidFill>
              <a:srgbClr val="7FE0B2"/>
            </a:solidFill>
            <a:prstDash val="solid"/>
          </a:ln>
        </p:spPr>
      </p:sp>
      <p:sp>
        <p:nvSpPr>
          <p:cNvPr id="11" name="Text 8"/>
          <p:cNvSpPr txBox="1"/>
          <p:nvPr/>
        </p:nvSpPr>
        <p:spPr>
          <a:xfrm>
            <a:off x="7918704" y="4079138"/>
            <a:ext cx="3401568" cy="201168"/>
          </a:xfrm>
          <a:prstGeom prst="rect">
            <a:avLst/>
          </a:prstGeom>
          <a:noFill/>
          <a:ln/>
        </p:spPr>
        <p:txBody>
          <a:bodyPr wrap="square" lIns="0" tIns="0" rIns="0" bIns="0" rtlCol="0" anchor="ctr"/>
          <a:lstStyle/>
          <a:p>
            <a:pPr indent="0" marL="0">
              <a:buNone/>
            </a:pPr>
            <a:r>
              <a:rPr lang="en-US" sz="900" b="1" spc="260" kern="0" dirty="0">
                <a:solidFill>
                  <a:srgbClr val="4CC3EA"/>
                </a:solidFill>
                <a:latin typeface="Calibri" pitchFamily="34" charset="0"/>
                <a:ea typeface="Calibri" pitchFamily="34" charset="-122"/>
                <a:cs typeface="Calibri" pitchFamily="34" charset="-120"/>
              </a:rPr>
              <a:t>DÜRÜSTLÜK</a:t>
            </a:r>
            <a:endParaRPr lang="en-US" sz="900" dirty="0"/>
          </a:p>
        </p:txBody>
      </p:sp>
      <p:sp>
        <p:nvSpPr>
          <p:cNvPr id="12" name="Text 9"/>
          <p:cNvSpPr txBox="1"/>
          <p:nvPr/>
        </p:nvSpPr>
        <p:spPr>
          <a:xfrm>
            <a:off x="7918704" y="4371746"/>
            <a:ext cx="3401568" cy="310896"/>
          </a:xfrm>
          <a:prstGeom prst="rect">
            <a:avLst/>
          </a:prstGeom>
          <a:noFill/>
          <a:ln/>
        </p:spPr>
        <p:txBody>
          <a:bodyPr wrap="square" lIns="0" tIns="0" rIns="0" bIns="0" rtlCol="0" anchor="ctr"/>
          <a:lstStyle/>
          <a:p>
            <a:pPr indent="0" marL="0">
              <a:buNone/>
            </a:pPr>
            <a:r>
              <a:rPr lang="en-US" sz="1450" b="1" dirty="0">
                <a:solidFill>
                  <a:srgbClr val="E9F2F8"/>
                </a:solidFill>
                <a:latin typeface="Calibri" pitchFamily="34" charset="0"/>
                <a:ea typeface="Calibri" pitchFamily="34" charset="-122"/>
                <a:cs typeface="Calibri" pitchFamily="34" charset="-120"/>
              </a:rPr>
              <a:t>Güven örneklem kadardır</a:t>
            </a:r>
            <a:endParaRPr lang="en-US" sz="1450" dirty="0"/>
          </a:p>
        </p:txBody>
      </p:sp>
      <p:sp>
        <p:nvSpPr>
          <p:cNvPr id="13" name="Text 10"/>
          <p:cNvSpPr txBox="1"/>
          <p:nvPr/>
        </p:nvSpPr>
        <p:spPr>
          <a:xfrm>
            <a:off x="7918704" y="4755794"/>
            <a:ext cx="3401568" cy="759866"/>
          </a:xfrm>
          <a:prstGeom prst="rect">
            <a:avLst/>
          </a:prstGeom>
          <a:noFill/>
          <a:ln/>
        </p:spPr>
        <p:txBody>
          <a:bodyPr wrap="square" lIns="0" tIns="0" rIns="0" bIns="0" rtlCol="0" anchor="t"/>
          <a:lstStyle/>
          <a:p>
            <a:pPr indent="0" marL="0">
              <a:lnSpc>
                <a:spcPts val="1800"/>
              </a:lnSpc>
              <a:buNone/>
            </a:pPr>
            <a:r>
              <a:rPr lang="en-US" sz="1100" dirty="0">
                <a:solidFill>
                  <a:srgbClr val="A9BCCB"/>
                </a:solidFill>
                <a:latin typeface="Calibri" pitchFamily="34" charset="0"/>
                <a:ea typeface="Calibri" pitchFamily="34" charset="-122"/>
                <a:cs typeface="Calibri" pitchFamily="34" charset="-120"/>
              </a:rPr>
              <a:t>On sorunun altında güven "sınırlı"dır ve profil bunu düz Türkçeyle söyler. Yönerge yalnızca gerçekten gözlenen oranları tekrarlar.</a:t>
            </a:r>
            <a:endParaRPr lang="en-US" sz="1100" dirty="0"/>
          </a:p>
        </p:txBody>
      </p:sp>
      <p:sp>
        <p:nvSpPr>
          <p:cNvPr id="14" name="Text 11"/>
          <p:cNvSpPr txBox="1"/>
          <p:nvPr/>
        </p:nvSpPr>
        <p:spPr>
          <a:xfrm>
            <a:off x="566928" y="4533576"/>
            <a:ext cx="6858000" cy="274320"/>
          </a:xfrm>
          <a:prstGeom prst="rect">
            <a:avLst/>
          </a:prstGeom>
          <a:noFill/>
          <a:ln/>
        </p:spPr>
        <p:txBody>
          <a:bodyPr wrap="square" lIns="0" tIns="0" rIns="0" bIns="0" rtlCol="0" anchor="ctr"/>
          <a:lstStyle/>
          <a:p>
            <a:pPr indent="0" marL="0">
              <a:buNone/>
            </a:pPr>
            <a:r>
              <a:rPr lang="en-US" sz="1100" dirty="0">
                <a:solidFill>
                  <a:srgbClr val="6F8597"/>
                </a:solidFill>
                <a:latin typeface="Calibri" pitchFamily="34" charset="0"/>
                <a:ea typeface="Calibri" pitchFamily="34" charset="-122"/>
                <a:cs typeface="Calibri" pitchFamily="34" charset="-120"/>
              </a:rPr>
              <a:t>Her özellik “gözlenen / toplam” biçiminde, düzeyiyle birlikte raporlanır.</a:t>
            </a:r>
            <a:endParaRPr lang="en-US" sz="1100" dirty="0"/>
          </a:p>
        </p:txBody>
      </p:sp>
      <p:sp>
        <p:nvSpPr>
          <p:cNvPr id="15" name="Text 12"/>
          <p:cNvSpPr txBox="1"/>
          <p:nvPr/>
        </p:nvSpPr>
        <p:spPr>
          <a:xfrm>
            <a:off x="566928" y="6382512"/>
            <a:ext cx="2377440" cy="237744"/>
          </a:xfrm>
          <a:prstGeom prst="rect">
            <a:avLst/>
          </a:prstGeom>
          <a:noFill/>
          <a:ln/>
        </p:spPr>
        <p:txBody>
          <a:bodyPr wrap="square" lIns="0" tIns="0" rIns="0" bIns="0" rtlCol="0" anchor="ctr"/>
          <a:lstStyle/>
          <a:p>
            <a:pPr indent="0" marL="0">
              <a:buNone/>
            </a:pPr>
            <a:r>
              <a:rPr lang="en-US" sz="850" spc="220" kern="0" dirty="0">
                <a:solidFill>
                  <a:srgbClr val="43566A"/>
                </a:solidFill>
                <a:latin typeface="Calibri" pitchFamily="34" charset="0"/>
                <a:ea typeface="Calibri" pitchFamily="34" charset="-122"/>
                <a:cs typeface="Calibri" pitchFamily="34" charset="-120"/>
              </a:rPr>
              <a:t>TIP AKADEMİSİ</a:t>
            </a:r>
            <a:endParaRPr lang="en-US" sz="850" dirty="0"/>
          </a:p>
        </p:txBody>
      </p:sp>
      <p:sp>
        <p:nvSpPr>
          <p:cNvPr id="16" name="Text 13"/>
          <p:cNvSpPr txBox="1"/>
          <p:nvPr/>
        </p:nvSpPr>
        <p:spPr>
          <a:xfrm>
            <a:off x="8229600" y="6382512"/>
            <a:ext cx="3364992" cy="237744"/>
          </a:xfrm>
          <a:prstGeom prst="rect">
            <a:avLst/>
          </a:prstGeom>
          <a:noFill/>
          <a:ln/>
        </p:spPr>
        <p:txBody>
          <a:bodyPr wrap="square" lIns="0" tIns="0" rIns="0" bIns="0" rtlCol="0" anchor="ctr"/>
          <a:lstStyle/>
          <a:p>
            <a:pPr algn="r" indent="0" marL="0">
              <a:buNone/>
            </a:pPr>
            <a:r>
              <a:rPr lang="en-US" sz="850" spc="220" kern="0" dirty="0">
                <a:solidFill>
                  <a:srgbClr val="43566A"/>
                </a:solidFill>
                <a:latin typeface="Calibri" pitchFamily="34" charset="0"/>
                <a:ea typeface="Calibri" pitchFamily="34" charset="-122"/>
                <a:cs typeface="Calibri" pitchFamily="34" charset="-120"/>
              </a:rPr>
              <a:t>19  ·  Hoca tarzı</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66928" y="566928"/>
            <a:ext cx="7680960" cy="237744"/>
          </a:xfrm>
          <a:prstGeom prst="rect">
            <a:avLst/>
          </a:prstGeom>
          <a:noFill/>
          <a:ln/>
        </p:spPr>
        <p:txBody>
          <a:bodyPr wrap="square" lIns="0" tIns="0" rIns="0" bIns="0" rtlCol="0" anchor="ctr"/>
          <a:lstStyle/>
          <a:p>
            <a:pPr indent="0" marL="0">
              <a:buNone/>
            </a:pPr>
            <a:r>
              <a:rPr lang="en-US" sz="1000" b="1" spc="340" kern="0" dirty="0">
                <a:solidFill>
                  <a:srgbClr val="4CC3EA"/>
                </a:solidFill>
                <a:latin typeface="Calibri" pitchFamily="34" charset="0"/>
                <a:ea typeface="Calibri" pitchFamily="34" charset="-122"/>
                <a:cs typeface="Calibri" pitchFamily="34" charset="-120"/>
              </a:rPr>
              <a:t>HOCA TARZI</a:t>
            </a:r>
            <a:endParaRPr lang="en-US" sz="1000" dirty="0"/>
          </a:p>
        </p:txBody>
      </p:sp>
      <p:sp>
        <p:nvSpPr>
          <p:cNvPr id="3" name="Text 1"/>
          <p:cNvSpPr txBox="1"/>
          <p:nvPr/>
        </p:nvSpPr>
        <p:spPr>
          <a:xfrm>
            <a:off x="548640" y="841248"/>
            <a:ext cx="9509760" cy="786384"/>
          </a:xfrm>
          <a:prstGeom prst="rect">
            <a:avLst/>
          </a:prstGeom>
          <a:noFill/>
          <a:ln/>
        </p:spPr>
        <p:txBody>
          <a:bodyPr wrap="square" lIns="0" tIns="0" rIns="0" bIns="0" rtlCol="0" anchor="t"/>
          <a:lstStyle/>
          <a:p>
            <a:pPr indent="0" marL="0">
              <a:buNone/>
            </a:pPr>
            <a:r>
              <a:rPr lang="en-US" sz="3300" spc="40" kern="0" dirty="0">
                <a:solidFill>
                  <a:srgbClr val="E9F2F8"/>
                </a:solidFill>
                <a:latin typeface="Calibri" pitchFamily="34" charset="0"/>
                <a:ea typeface="Calibri" pitchFamily="34" charset="-122"/>
                <a:cs typeface="Calibri" pitchFamily="34" charset="-120"/>
              </a:rPr>
              <a:t>Hocayı materyalin kendisinden okumak</a:t>
            </a:r>
            <a:endParaRPr lang="en-US" sz="3300" dirty="0"/>
          </a:p>
        </p:txBody>
      </p:sp>
      <p:sp>
        <p:nvSpPr>
          <p:cNvPr id="4" name="Text 2"/>
          <p:cNvSpPr txBox="1"/>
          <p:nvPr/>
        </p:nvSpPr>
        <p:spPr>
          <a:xfrm>
            <a:off x="566928" y="1645920"/>
            <a:ext cx="10881360" cy="822960"/>
          </a:xfrm>
          <a:prstGeom prst="rect">
            <a:avLst/>
          </a:prstGeom>
          <a:noFill/>
          <a:ln/>
        </p:spPr>
        <p:txBody>
          <a:bodyPr wrap="square" lIns="0" tIns="0" rIns="0" bIns="0" rtlCol="0" anchor="t"/>
          <a:lstStyle/>
          <a:p>
            <a:pPr indent="0" marL="0">
              <a:lnSpc>
                <a:spcPts val="2200"/>
              </a:lnSpc>
              <a:buNone/>
            </a:pPr>
            <a:r>
              <a:rPr lang="en-US" sz="1400" dirty="0">
                <a:solidFill>
                  <a:srgbClr val="A9BCCB"/>
                </a:solidFill>
                <a:latin typeface="Calibri" pitchFamily="34" charset="0"/>
                <a:ea typeface="Calibri" pitchFamily="34" charset="-122"/>
                <a:cs typeface="Calibri" pitchFamily="34" charset="-120"/>
              </a:rPr>
              <a:t>Hocalar adını başlık slaytına, bazen de dosya adına yazar. mine_questions ikisini de okur.</a:t>
            </a:r>
            <a:endParaRPr lang="en-US" sz="1400" dirty="0"/>
          </a:p>
        </p:txBody>
      </p:sp>
      <p:sp>
        <p:nvSpPr>
          <p:cNvPr id="5" name="Shape 3"/>
          <p:cNvSpPr/>
          <p:nvPr/>
        </p:nvSpPr>
        <p:spPr>
          <a:xfrm>
            <a:off x="566928" y="2359152"/>
            <a:ext cx="3480206" cy="1838858"/>
          </a:xfrm>
          <a:prstGeom prst="roundRect">
            <a:avLst>
              <a:gd name="adj" fmla="val 2984"/>
            </a:avLst>
          </a:prstGeom>
          <a:solidFill>
            <a:srgbClr val="121C2E">
              <a:alpha val="74000"/>
            </a:srgbClr>
          </a:solidFill>
          <a:ln w="12700">
            <a:solidFill>
              <a:srgbClr val="24384B"/>
            </a:solidFill>
            <a:prstDash val="solid"/>
          </a:ln>
        </p:spPr>
      </p:sp>
      <p:sp>
        <p:nvSpPr>
          <p:cNvPr id="6" name="Text 4"/>
          <p:cNvSpPr txBox="1"/>
          <p:nvPr/>
        </p:nvSpPr>
        <p:spPr>
          <a:xfrm>
            <a:off x="841248" y="2633472"/>
            <a:ext cx="2931566" cy="201168"/>
          </a:xfrm>
          <a:prstGeom prst="rect">
            <a:avLst/>
          </a:prstGeom>
          <a:noFill/>
          <a:ln/>
        </p:spPr>
        <p:txBody>
          <a:bodyPr wrap="square" lIns="0" tIns="0" rIns="0" bIns="0" rtlCol="0" anchor="ctr"/>
          <a:lstStyle/>
          <a:p>
            <a:pPr indent="0" marL="0">
              <a:buNone/>
            </a:pPr>
            <a:r>
              <a:rPr lang="en-US" sz="900" b="1" spc="260" kern="0" dirty="0">
                <a:solidFill>
                  <a:srgbClr val="4CC3EA"/>
                </a:solidFill>
                <a:latin typeface="Calibri" pitchFamily="34" charset="0"/>
                <a:ea typeface="Calibri" pitchFamily="34" charset="-122"/>
                <a:cs typeface="Calibri" pitchFamily="34" charset="-120"/>
              </a:rPr>
              <a:t>TANIMA</a:t>
            </a:r>
            <a:endParaRPr lang="en-US" sz="900" dirty="0"/>
          </a:p>
        </p:txBody>
      </p:sp>
      <p:sp>
        <p:nvSpPr>
          <p:cNvPr id="7" name="Text 5"/>
          <p:cNvSpPr txBox="1"/>
          <p:nvPr/>
        </p:nvSpPr>
        <p:spPr>
          <a:xfrm>
            <a:off x="841248" y="2926080"/>
            <a:ext cx="2931566" cy="310896"/>
          </a:xfrm>
          <a:prstGeom prst="rect">
            <a:avLst/>
          </a:prstGeom>
          <a:noFill/>
          <a:ln/>
        </p:spPr>
        <p:txBody>
          <a:bodyPr wrap="square" lIns="0" tIns="0" rIns="0" bIns="0" rtlCol="0" anchor="ctr"/>
          <a:lstStyle/>
          <a:p>
            <a:pPr indent="0" marL="0">
              <a:buNone/>
            </a:pPr>
            <a:r>
              <a:rPr lang="en-US" sz="1450" b="1" dirty="0">
                <a:solidFill>
                  <a:srgbClr val="E9F2F8"/>
                </a:solidFill>
                <a:latin typeface="Calibri" pitchFamily="34" charset="0"/>
                <a:ea typeface="Calibri" pitchFamily="34" charset="-122"/>
                <a:cs typeface="Calibri" pitchFamily="34" charset="-120"/>
              </a:rPr>
              <a:t>Unvanla başlayan satır</a:t>
            </a:r>
            <a:endParaRPr lang="en-US" sz="1450" dirty="0"/>
          </a:p>
        </p:txBody>
      </p:sp>
      <p:sp>
        <p:nvSpPr>
          <p:cNvPr id="8" name="Text 6"/>
          <p:cNvSpPr txBox="1"/>
          <p:nvPr/>
        </p:nvSpPr>
        <p:spPr>
          <a:xfrm>
            <a:off x="841248" y="3310128"/>
            <a:ext cx="2931566" cy="759866"/>
          </a:xfrm>
          <a:prstGeom prst="rect">
            <a:avLst/>
          </a:prstGeom>
          <a:noFill/>
          <a:ln/>
        </p:spPr>
        <p:txBody>
          <a:bodyPr wrap="square" lIns="0" tIns="0" rIns="0" bIns="0" rtlCol="0" anchor="t"/>
          <a:lstStyle/>
          <a:p>
            <a:pPr indent="0" marL="0">
              <a:lnSpc>
                <a:spcPts val="1800"/>
              </a:lnSpc>
              <a:buNone/>
            </a:pPr>
            <a:r>
              <a:rPr lang="en-US" sz="1100" dirty="0">
                <a:solidFill>
                  <a:srgbClr val="A9BCCB"/>
                </a:solidFill>
                <a:latin typeface="Calibri" pitchFamily="34" charset="0"/>
                <a:ea typeface="Calibri" pitchFamily="34" charset="-122"/>
                <a:cs typeface="Calibri" pitchFamily="34" charset="-120"/>
              </a:rPr>
              <a:t>Prof. Dr., PROF.DR., Yrd.Doç.Dr., Doktor Öğretim Üyesi, Öğr. Gör., Uzm. Dr. — ardından bir ilâ dört ad belirteci.</a:t>
            </a:r>
            <a:endParaRPr lang="en-US" sz="1100" dirty="0"/>
          </a:p>
        </p:txBody>
      </p:sp>
      <p:sp>
        <p:nvSpPr>
          <p:cNvPr id="9" name="Shape 7"/>
          <p:cNvSpPr/>
          <p:nvPr/>
        </p:nvSpPr>
        <p:spPr>
          <a:xfrm>
            <a:off x="4339742" y="2359152"/>
            <a:ext cx="3480206" cy="1838858"/>
          </a:xfrm>
          <a:prstGeom prst="roundRect">
            <a:avLst>
              <a:gd name="adj" fmla="val 2984"/>
            </a:avLst>
          </a:prstGeom>
          <a:solidFill>
            <a:srgbClr val="121C2E">
              <a:alpha val="74000"/>
            </a:srgbClr>
          </a:solidFill>
          <a:ln w="12700">
            <a:solidFill>
              <a:srgbClr val="F0C68A"/>
            </a:solidFill>
            <a:prstDash val="solid"/>
          </a:ln>
        </p:spPr>
      </p:sp>
      <p:sp>
        <p:nvSpPr>
          <p:cNvPr id="10" name="Text 8"/>
          <p:cNvSpPr txBox="1"/>
          <p:nvPr/>
        </p:nvSpPr>
        <p:spPr>
          <a:xfrm>
            <a:off x="4614062" y="2633472"/>
            <a:ext cx="2931566" cy="201168"/>
          </a:xfrm>
          <a:prstGeom prst="rect">
            <a:avLst/>
          </a:prstGeom>
          <a:noFill/>
          <a:ln/>
        </p:spPr>
        <p:txBody>
          <a:bodyPr wrap="square" lIns="0" tIns="0" rIns="0" bIns="0" rtlCol="0" anchor="ctr"/>
          <a:lstStyle/>
          <a:p>
            <a:pPr indent="0" marL="0">
              <a:buNone/>
            </a:pPr>
            <a:r>
              <a:rPr lang="en-US" sz="900" b="1" spc="260" kern="0" dirty="0">
                <a:solidFill>
                  <a:srgbClr val="4CC3EA"/>
                </a:solidFill>
                <a:latin typeface="Calibri" pitchFamily="34" charset="0"/>
                <a:ea typeface="Calibri" pitchFamily="34" charset="-122"/>
                <a:cs typeface="Calibri" pitchFamily="34" charset="-120"/>
              </a:rPr>
              <a:t>ELEME</a:t>
            </a:r>
            <a:endParaRPr lang="en-US" sz="900" dirty="0"/>
          </a:p>
        </p:txBody>
      </p:sp>
      <p:sp>
        <p:nvSpPr>
          <p:cNvPr id="11" name="Text 9"/>
          <p:cNvSpPr txBox="1"/>
          <p:nvPr/>
        </p:nvSpPr>
        <p:spPr>
          <a:xfrm>
            <a:off x="4614062" y="2926080"/>
            <a:ext cx="2931566" cy="310896"/>
          </a:xfrm>
          <a:prstGeom prst="rect">
            <a:avLst/>
          </a:prstGeom>
          <a:noFill/>
          <a:ln/>
        </p:spPr>
        <p:txBody>
          <a:bodyPr wrap="square" lIns="0" tIns="0" rIns="0" bIns="0" rtlCol="0" anchor="ctr"/>
          <a:lstStyle/>
          <a:p>
            <a:pPr indent="0" marL="0">
              <a:buNone/>
            </a:pPr>
            <a:r>
              <a:rPr lang="en-US" sz="1450" b="1" dirty="0">
                <a:solidFill>
                  <a:srgbClr val="E9F2F8"/>
                </a:solidFill>
                <a:latin typeface="Calibri" pitchFamily="34" charset="0"/>
                <a:ea typeface="Calibri" pitchFamily="34" charset="-122"/>
                <a:cs typeface="Calibri" pitchFamily="34" charset="-120"/>
              </a:rPr>
              <a:t>Yanlış pozitifler elenir</a:t>
            </a:r>
            <a:endParaRPr lang="en-US" sz="1450" dirty="0"/>
          </a:p>
        </p:txBody>
      </p:sp>
      <p:sp>
        <p:nvSpPr>
          <p:cNvPr id="12" name="Text 10"/>
          <p:cNvSpPr txBox="1"/>
          <p:nvPr/>
        </p:nvSpPr>
        <p:spPr>
          <a:xfrm>
            <a:off x="4614062" y="3310128"/>
            <a:ext cx="2931566" cy="759866"/>
          </a:xfrm>
          <a:prstGeom prst="rect">
            <a:avLst/>
          </a:prstGeom>
          <a:noFill/>
          <a:ln/>
        </p:spPr>
        <p:txBody>
          <a:bodyPr wrap="square" lIns="0" tIns="0" rIns="0" bIns="0" rtlCol="0" anchor="t"/>
          <a:lstStyle/>
          <a:p>
            <a:pPr indent="0" marL="0">
              <a:lnSpc>
                <a:spcPts val="1800"/>
              </a:lnSpc>
              <a:buNone/>
            </a:pPr>
            <a:r>
              <a:rPr lang="en-US" sz="1100" dirty="0">
                <a:solidFill>
                  <a:srgbClr val="A9BCCB"/>
                </a:solidFill>
                <a:latin typeface="Calibri" pitchFamily="34" charset="0"/>
                <a:ea typeface="Calibri" pitchFamily="34" charset="-122"/>
                <a:cs typeface="Calibri" pitchFamily="34" charset="-120"/>
              </a:rPr>
              <a:t>Sıradan bir cümleyi açan kısaltma unvan değildir; unvandan sonra gelen bir meslek ("Dr. Halk Sağlığı Uzmanı") kişi değildir.</a:t>
            </a:r>
            <a:endParaRPr lang="en-US" sz="1100" dirty="0"/>
          </a:p>
        </p:txBody>
      </p:sp>
      <p:sp>
        <p:nvSpPr>
          <p:cNvPr id="13" name="Shape 11"/>
          <p:cNvSpPr/>
          <p:nvPr/>
        </p:nvSpPr>
        <p:spPr>
          <a:xfrm>
            <a:off x="8112557" y="2359152"/>
            <a:ext cx="3480206" cy="1838858"/>
          </a:xfrm>
          <a:prstGeom prst="roundRect">
            <a:avLst>
              <a:gd name="adj" fmla="val 2984"/>
            </a:avLst>
          </a:prstGeom>
          <a:solidFill>
            <a:srgbClr val="121C2E">
              <a:alpha val="74000"/>
            </a:srgbClr>
          </a:solidFill>
          <a:ln w="12700">
            <a:solidFill>
              <a:srgbClr val="B8A8FF"/>
            </a:solidFill>
            <a:prstDash val="solid"/>
          </a:ln>
        </p:spPr>
      </p:sp>
      <p:sp>
        <p:nvSpPr>
          <p:cNvPr id="14" name="Text 12"/>
          <p:cNvSpPr txBox="1"/>
          <p:nvPr/>
        </p:nvSpPr>
        <p:spPr>
          <a:xfrm>
            <a:off x="8386877" y="2633472"/>
            <a:ext cx="2931566" cy="201168"/>
          </a:xfrm>
          <a:prstGeom prst="rect">
            <a:avLst/>
          </a:prstGeom>
          <a:noFill/>
          <a:ln/>
        </p:spPr>
        <p:txBody>
          <a:bodyPr wrap="square" lIns="0" tIns="0" rIns="0" bIns="0" rtlCol="0" anchor="ctr"/>
          <a:lstStyle/>
          <a:p>
            <a:pPr indent="0" marL="0">
              <a:buNone/>
            </a:pPr>
            <a:r>
              <a:rPr lang="en-US" sz="900" b="1" spc="260" kern="0" dirty="0">
                <a:solidFill>
                  <a:srgbClr val="4CC3EA"/>
                </a:solidFill>
                <a:latin typeface="Calibri" pitchFamily="34" charset="0"/>
                <a:ea typeface="Calibri" pitchFamily="34" charset="-122"/>
                <a:cs typeface="Calibri" pitchFamily="34" charset="-120"/>
              </a:rPr>
              <a:t>SAME_PERSON</a:t>
            </a:r>
            <a:endParaRPr lang="en-US" sz="900" dirty="0"/>
          </a:p>
        </p:txBody>
      </p:sp>
      <p:sp>
        <p:nvSpPr>
          <p:cNvPr id="15" name="Text 13"/>
          <p:cNvSpPr txBox="1"/>
          <p:nvPr/>
        </p:nvSpPr>
        <p:spPr>
          <a:xfrm>
            <a:off x="8386877" y="2926080"/>
            <a:ext cx="2931566" cy="310896"/>
          </a:xfrm>
          <a:prstGeom prst="rect">
            <a:avLst/>
          </a:prstGeom>
          <a:noFill/>
          <a:ln/>
        </p:spPr>
        <p:txBody>
          <a:bodyPr wrap="square" lIns="0" tIns="0" rIns="0" bIns="0" rtlCol="0" anchor="ctr"/>
          <a:lstStyle/>
          <a:p>
            <a:pPr indent="0" marL="0">
              <a:buNone/>
            </a:pPr>
            <a:r>
              <a:rPr lang="en-US" sz="1450" b="1" dirty="0">
                <a:solidFill>
                  <a:srgbClr val="E9F2F8"/>
                </a:solidFill>
                <a:latin typeface="Calibri" pitchFamily="34" charset="0"/>
                <a:ea typeface="Calibri" pitchFamily="34" charset="-122"/>
                <a:cs typeface="Calibri" pitchFamily="34" charset="-120"/>
              </a:rPr>
              <a:t>Aynı kişi birleştirilir</a:t>
            </a:r>
            <a:endParaRPr lang="en-US" sz="1450" dirty="0"/>
          </a:p>
        </p:txBody>
      </p:sp>
      <p:sp>
        <p:nvSpPr>
          <p:cNvPr id="16" name="Text 14"/>
          <p:cNvSpPr txBox="1"/>
          <p:nvPr/>
        </p:nvSpPr>
        <p:spPr>
          <a:xfrm>
            <a:off x="8386877" y="3310128"/>
            <a:ext cx="2931566" cy="759866"/>
          </a:xfrm>
          <a:prstGeom prst="rect">
            <a:avLst/>
          </a:prstGeom>
          <a:noFill/>
          <a:ln/>
        </p:spPr>
        <p:txBody>
          <a:bodyPr wrap="square" lIns="0" tIns="0" rIns="0" bIns="0" rtlCol="0" anchor="t"/>
          <a:lstStyle/>
          <a:p>
            <a:pPr indent="0" marL="0">
              <a:lnSpc>
                <a:spcPts val="1800"/>
              </a:lnSpc>
              <a:buNone/>
            </a:pPr>
            <a:r>
              <a:rPr lang="en-US" sz="1100" dirty="0">
                <a:solidFill>
                  <a:srgbClr val="A9BCCB"/>
                </a:solidFill>
                <a:latin typeface="Calibri" pitchFamily="34" charset="0"/>
                <a:ea typeface="Calibri" pitchFamily="34" charset="-122"/>
                <a:cs typeface="Calibri" pitchFamily="34" charset="-120"/>
              </a:rPr>
              <a:t>Unvanlar düşürülür, harfler katlanır; metin katmanının parçaladığı bir soyad harf benzerliğiyle eşleşir.</a:t>
            </a:r>
            <a:endParaRPr lang="en-US" sz="1100" dirty="0"/>
          </a:p>
        </p:txBody>
      </p:sp>
      <p:sp>
        <p:nvSpPr>
          <p:cNvPr id="17" name="Shape 15"/>
          <p:cNvSpPr/>
          <p:nvPr/>
        </p:nvSpPr>
        <p:spPr>
          <a:xfrm>
            <a:off x="566928" y="4399178"/>
            <a:ext cx="5394960" cy="1838858"/>
          </a:xfrm>
          <a:prstGeom prst="roundRect">
            <a:avLst>
              <a:gd name="adj" fmla="val 2984"/>
            </a:avLst>
          </a:prstGeom>
          <a:solidFill>
            <a:srgbClr val="121C2E">
              <a:alpha val="74000"/>
            </a:srgbClr>
          </a:solidFill>
          <a:ln w="12700">
            <a:solidFill>
              <a:srgbClr val="8EE0FF"/>
            </a:solidFill>
            <a:prstDash val="solid"/>
          </a:ln>
        </p:spPr>
      </p:sp>
      <p:sp>
        <p:nvSpPr>
          <p:cNvPr id="18" name="Text 16"/>
          <p:cNvSpPr txBox="1"/>
          <p:nvPr/>
        </p:nvSpPr>
        <p:spPr>
          <a:xfrm>
            <a:off x="841248" y="4673498"/>
            <a:ext cx="4846320" cy="201168"/>
          </a:xfrm>
          <a:prstGeom prst="rect">
            <a:avLst/>
          </a:prstGeom>
          <a:noFill/>
          <a:ln/>
        </p:spPr>
        <p:txBody>
          <a:bodyPr wrap="square" lIns="0" tIns="0" rIns="0" bIns="0" rtlCol="0" anchor="ctr"/>
          <a:lstStyle/>
          <a:p>
            <a:pPr indent="0" marL="0">
              <a:buNone/>
            </a:pPr>
            <a:r>
              <a:rPr lang="en-US" sz="900" b="1" spc="260" kern="0" dirty="0">
                <a:solidFill>
                  <a:srgbClr val="4CC3EA"/>
                </a:solidFill>
                <a:latin typeface="Calibri" pitchFamily="34" charset="0"/>
                <a:ea typeface="Calibri" pitchFamily="34" charset="-122"/>
                <a:cs typeface="Calibri" pitchFamily="34" charset="-120"/>
              </a:rPr>
              <a:t>AYRIM</a:t>
            </a:r>
            <a:endParaRPr lang="en-US" sz="900" dirty="0"/>
          </a:p>
        </p:txBody>
      </p:sp>
      <p:sp>
        <p:nvSpPr>
          <p:cNvPr id="19" name="Text 17"/>
          <p:cNvSpPr txBox="1"/>
          <p:nvPr/>
        </p:nvSpPr>
        <p:spPr>
          <a:xfrm>
            <a:off x="841248" y="4966106"/>
            <a:ext cx="4846320" cy="310896"/>
          </a:xfrm>
          <a:prstGeom prst="rect">
            <a:avLst/>
          </a:prstGeom>
          <a:noFill/>
          <a:ln/>
        </p:spPr>
        <p:txBody>
          <a:bodyPr wrap="square" lIns="0" tIns="0" rIns="0" bIns="0" rtlCol="0" anchor="ctr"/>
          <a:lstStyle/>
          <a:p>
            <a:pPr indent="0" marL="0">
              <a:buNone/>
            </a:pPr>
            <a:r>
              <a:rPr lang="en-US" sz="1500" b="1" dirty="0">
                <a:solidFill>
                  <a:srgbClr val="E9F2F8"/>
                </a:solidFill>
                <a:latin typeface="Calibri" pitchFamily="34" charset="0"/>
                <a:ea typeface="Calibri" pitchFamily="34" charset="-122"/>
                <a:cs typeface="Calibri" pitchFamily="34" charset="-120"/>
              </a:rPr>
              <a:t>Ders kesilmez, kâğıt kesilir</a:t>
            </a:r>
            <a:endParaRPr lang="en-US" sz="1500" dirty="0"/>
          </a:p>
        </p:txBody>
      </p:sp>
      <p:sp>
        <p:nvSpPr>
          <p:cNvPr id="20" name="Text 18"/>
          <p:cNvSpPr txBox="1"/>
          <p:nvPr/>
        </p:nvSpPr>
        <p:spPr>
          <a:xfrm>
            <a:off x="841248" y="5350154"/>
            <a:ext cx="4846320" cy="759866"/>
          </a:xfrm>
          <a:prstGeom prst="rect">
            <a:avLst/>
          </a:prstGeom>
          <a:noFill/>
          <a:ln/>
        </p:spPr>
        <p:txBody>
          <a:bodyPr wrap="square" lIns="0" tIns="0" rIns="0" bIns="0" rtlCol="0" anchor="t"/>
          <a:lstStyle/>
          <a:p>
            <a:pPr indent="0" marL="0">
              <a:lnSpc>
                <a:spcPts val="1800"/>
              </a:lnSpc>
              <a:buNone/>
            </a:pPr>
            <a:r>
              <a:rPr lang="en-US" sz="1100" dirty="0">
                <a:solidFill>
                  <a:srgbClr val="A9BCCB"/>
                </a:solidFill>
                <a:latin typeface="Calibri" pitchFamily="34" charset="0"/>
                <a:ea typeface="Calibri" pitchFamily="34" charset="-122"/>
                <a:cs typeface="Calibri" pitchFamily="34" charset="-120"/>
              </a:rPr>
              <a:t>Bir tarih dersinin içindeki "Dr. Refik Saydam" içeriktir. Yalnızca derlenmiş kâğıda benzeyen bir dosya — en az beş soru ve çoğu satırı soru biçiminde — hoca adı geçen başlıklardan bölünür.</a:t>
            </a:r>
            <a:endParaRPr lang="en-US" sz="1100" dirty="0"/>
          </a:p>
        </p:txBody>
      </p:sp>
      <p:sp>
        <p:nvSpPr>
          <p:cNvPr id="21" name="Shape 19"/>
          <p:cNvSpPr/>
          <p:nvPr/>
        </p:nvSpPr>
        <p:spPr>
          <a:xfrm>
            <a:off x="6199632" y="4399178"/>
            <a:ext cx="5394960" cy="1838858"/>
          </a:xfrm>
          <a:prstGeom prst="roundRect">
            <a:avLst>
              <a:gd name="adj" fmla="val 2984"/>
            </a:avLst>
          </a:prstGeom>
          <a:solidFill>
            <a:srgbClr val="121C2E">
              <a:alpha val="74000"/>
            </a:srgbClr>
          </a:solidFill>
          <a:ln w="12700">
            <a:solidFill>
              <a:srgbClr val="8EE0FF"/>
            </a:solidFill>
            <a:prstDash val="solid"/>
          </a:ln>
        </p:spPr>
      </p:sp>
      <p:sp>
        <p:nvSpPr>
          <p:cNvPr id="22" name="Text 20"/>
          <p:cNvSpPr txBox="1"/>
          <p:nvPr/>
        </p:nvSpPr>
        <p:spPr>
          <a:xfrm>
            <a:off x="6473952" y="4673498"/>
            <a:ext cx="4846320" cy="201168"/>
          </a:xfrm>
          <a:prstGeom prst="rect">
            <a:avLst/>
          </a:prstGeom>
          <a:noFill/>
          <a:ln/>
        </p:spPr>
        <p:txBody>
          <a:bodyPr wrap="square" lIns="0" tIns="0" rIns="0" bIns="0" rtlCol="0" anchor="ctr"/>
          <a:lstStyle/>
          <a:p>
            <a:pPr indent="0" marL="0">
              <a:buNone/>
            </a:pPr>
            <a:r>
              <a:rPr lang="en-US" sz="900" b="1" spc="260" kern="0" dirty="0">
                <a:solidFill>
                  <a:srgbClr val="4CC3EA"/>
                </a:solidFill>
                <a:latin typeface="Calibri" pitchFamily="34" charset="0"/>
                <a:ea typeface="Calibri" pitchFamily="34" charset="-122"/>
                <a:cs typeface="Calibri" pitchFamily="34" charset="-120"/>
              </a:rPr>
              <a:t>AYRIM</a:t>
            </a:r>
            <a:endParaRPr lang="en-US" sz="900" dirty="0"/>
          </a:p>
        </p:txBody>
      </p:sp>
      <p:sp>
        <p:nvSpPr>
          <p:cNvPr id="23" name="Text 21"/>
          <p:cNvSpPr txBox="1"/>
          <p:nvPr/>
        </p:nvSpPr>
        <p:spPr>
          <a:xfrm>
            <a:off x="6473952" y="4966106"/>
            <a:ext cx="4846320" cy="310896"/>
          </a:xfrm>
          <a:prstGeom prst="rect">
            <a:avLst/>
          </a:prstGeom>
          <a:noFill/>
          <a:ln/>
        </p:spPr>
        <p:txBody>
          <a:bodyPr wrap="square" lIns="0" tIns="0" rIns="0" bIns="0" rtlCol="0" anchor="ctr"/>
          <a:lstStyle/>
          <a:p>
            <a:pPr indent="0" marL="0">
              <a:buNone/>
            </a:pPr>
            <a:r>
              <a:rPr lang="en-US" sz="1500" b="1" dirty="0">
                <a:solidFill>
                  <a:srgbClr val="E9F2F8"/>
                </a:solidFill>
                <a:latin typeface="Calibri" pitchFamily="34" charset="0"/>
                <a:ea typeface="Calibri" pitchFamily="34" charset="-122"/>
                <a:cs typeface="Calibri" pitchFamily="34" charset="-120"/>
              </a:rPr>
              <a:t>Kitap ders değildir</a:t>
            </a:r>
            <a:endParaRPr lang="en-US" sz="1500" dirty="0"/>
          </a:p>
        </p:txBody>
      </p:sp>
      <p:sp>
        <p:nvSpPr>
          <p:cNvPr id="24" name="Text 22"/>
          <p:cNvSpPr txBox="1"/>
          <p:nvPr/>
        </p:nvSpPr>
        <p:spPr>
          <a:xfrm>
            <a:off x="6473952" y="5350154"/>
            <a:ext cx="4846320" cy="759866"/>
          </a:xfrm>
          <a:prstGeom prst="rect">
            <a:avLst/>
          </a:prstGeom>
          <a:noFill/>
          <a:ln/>
        </p:spPr>
        <p:txBody>
          <a:bodyPr wrap="square" lIns="0" tIns="0" rIns="0" bIns="0" rtlCol="0" anchor="t"/>
          <a:lstStyle/>
          <a:p>
            <a:pPr indent="0" marL="0">
              <a:lnSpc>
                <a:spcPts val="1800"/>
              </a:lnSpc>
              <a:buNone/>
            </a:pPr>
            <a:r>
              <a:rPr lang="en-US" sz="1100" dirty="0">
                <a:solidFill>
                  <a:srgbClr val="A9BCCB"/>
                </a:solidFill>
                <a:latin typeface="Calibri" pitchFamily="34" charset="0"/>
                <a:ea typeface="Calibri" pitchFamily="34" charset="-122"/>
                <a:cs typeface="Calibri" pitchFamily="34" charset="-120"/>
              </a:rPr>
              <a:t>ISBN taşıyan ön sayfalar belgeyi kitap olarak işaretler; ünite sonu soruları kimseye atanmaz, "kitaptan" etiketlenir ve editörleri öğrencinin hocası olmaz.</a:t>
            </a:r>
            <a:endParaRPr lang="en-US" sz="1100" dirty="0"/>
          </a:p>
        </p:txBody>
      </p:sp>
      <p:sp>
        <p:nvSpPr>
          <p:cNvPr id="25" name="Text 23"/>
          <p:cNvSpPr txBox="1"/>
          <p:nvPr/>
        </p:nvSpPr>
        <p:spPr>
          <a:xfrm>
            <a:off x="566928" y="6382512"/>
            <a:ext cx="2377440" cy="237744"/>
          </a:xfrm>
          <a:prstGeom prst="rect">
            <a:avLst/>
          </a:prstGeom>
          <a:noFill/>
          <a:ln/>
        </p:spPr>
        <p:txBody>
          <a:bodyPr wrap="square" lIns="0" tIns="0" rIns="0" bIns="0" rtlCol="0" anchor="ctr"/>
          <a:lstStyle/>
          <a:p>
            <a:pPr indent="0" marL="0">
              <a:buNone/>
            </a:pPr>
            <a:r>
              <a:rPr lang="en-US" sz="850" spc="220" kern="0" dirty="0">
                <a:solidFill>
                  <a:srgbClr val="43566A"/>
                </a:solidFill>
                <a:latin typeface="Calibri" pitchFamily="34" charset="0"/>
                <a:ea typeface="Calibri" pitchFamily="34" charset="-122"/>
                <a:cs typeface="Calibri" pitchFamily="34" charset="-120"/>
              </a:rPr>
              <a:t>TIP AKADEMİSİ</a:t>
            </a:r>
            <a:endParaRPr lang="en-US" sz="850" dirty="0"/>
          </a:p>
        </p:txBody>
      </p:sp>
      <p:sp>
        <p:nvSpPr>
          <p:cNvPr id="26" name="Text 24"/>
          <p:cNvSpPr txBox="1"/>
          <p:nvPr/>
        </p:nvSpPr>
        <p:spPr>
          <a:xfrm>
            <a:off x="8229600" y="6382512"/>
            <a:ext cx="3364992" cy="237744"/>
          </a:xfrm>
          <a:prstGeom prst="rect">
            <a:avLst/>
          </a:prstGeom>
          <a:noFill/>
          <a:ln/>
        </p:spPr>
        <p:txBody>
          <a:bodyPr wrap="square" lIns="0" tIns="0" rIns="0" bIns="0" rtlCol="0" anchor="ctr"/>
          <a:lstStyle/>
          <a:p>
            <a:pPr algn="r" indent="0" marL="0">
              <a:buNone/>
            </a:pPr>
            <a:r>
              <a:rPr lang="en-US" sz="850" spc="220" kern="0" dirty="0">
                <a:solidFill>
                  <a:srgbClr val="43566A"/>
                </a:solidFill>
                <a:latin typeface="Calibri" pitchFamily="34" charset="0"/>
                <a:ea typeface="Calibri" pitchFamily="34" charset="-122"/>
                <a:cs typeface="Calibri" pitchFamily="34" charset="-120"/>
              </a:rPr>
              <a:t>20  ·  Hoca tarzı</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035040" y="2286000"/>
            <a:ext cx="1828800" cy="1097280"/>
          </a:xfrm>
          <a:prstGeom prst="rect">
            <a:avLst/>
          </a:prstGeom>
          <a:noFill/>
          <a:ln/>
        </p:spPr>
        <p:txBody>
          <a:bodyPr wrap="square" lIns="0" tIns="0" rIns="0" bIns="0" rtlCol="0" anchor="ctr"/>
          <a:lstStyle/>
          <a:p>
            <a:pPr indent="0" marL="0">
              <a:buNone/>
            </a:pPr>
            <a:r>
              <a:rPr lang="en-US" sz="7400" b="1" dirty="0">
                <a:solidFill>
                  <a:srgbClr val="1B7BA0"/>
                </a:solidFill>
                <a:latin typeface="Calibri" pitchFamily="34" charset="0"/>
                <a:ea typeface="Calibri" pitchFamily="34" charset="-122"/>
                <a:cs typeface="Calibri" pitchFamily="34" charset="-120"/>
              </a:rPr>
              <a:t>V</a:t>
            </a:r>
            <a:endParaRPr lang="en-US" sz="7400" dirty="0"/>
          </a:p>
        </p:txBody>
      </p:sp>
      <p:sp>
        <p:nvSpPr>
          <p:cNvPr id="3" name="Text 1"/>
          <p:cNvSpPr txBox="1"/>
          <p:nvPr/>
        </p:nvSpPr>
        <p:spPr>
          <a:xfrm>
            <a:off x="6053328" y="3456432"/>
            <a:ext cx="7680960" cy="237744"/>
          </a:xfrm>
          <a:prstGeom prst="rect">
            <a:avLst/>
          </a:prstGeom>
          <a:noFill/>
          <a:ln/>
        </p:spPr>
        <p:txBody>
          <a:bodyPr wrap="square" lIns="0" tIns="0" rIns="0" bIns="0" rtlCol="0" anchor="ctr"/>
          <a:lstStyle/>
          <a:p>
            <a:pPr indent="0" marL="0">
              <a:buNone/>
            </a:pPr>
            <a:r>
              <a:rPr lang="en-US" sz="1000" b="1" spc="340" kern="0" dirty="0">
                <a:solidFill>
                  <a:srgbClr val="4CC3EA"/>
                </a:solidFill>
                <a:latin typeface="Calibri" pitchFamily="34" charset="0"/>
                <a:ea typeface="Calibri" pitchFamily="34" charset="-122"/>
                <a:cs typeface="Calibri" pitchFamily="34" charset="-120"/>
              </a:rPr>
              <a:t>BÖLÜM BEŞ</a:t>
            </a:r>
            <a:endParaRPr lang="en-US" sz="1000" dirty="0"/>
          </a:p>
        </p:txBody>
      </p:sp>
      <p:sp>
        <p:nvSpPr>
          <p:cNvPr id="4" name="Text 2"/>
          <p:cNvSpPr txBox="1"/>
          <p:nvPr/>
        </p:nvSpPr>
        <p:spPr>
          <a:xfrm>
            <a:off x="6035040" y="3712464"/>
            <a:ext cx="5577840" cy="868680"/>
          </a:xfrm>
          <a:prstGeom prst="rect">
            <a:avLst/>
          </a:prstGeom>
          <a:noFill/>
          <a:ln/>
        </p:spPr>
        <p:txBody>
          <a:bodyPr wrap="square" lIns="0" tIns="0" rIns="0" bIns="0" rtlCol="0" anchor="ctr"/>
          <a:lstStyle/>
          <a:p>
            <a:pPr indent="0" marL="0">
              <a:buNone/>
            </a:pPr>
            <a:r>
              <a:rPr lang="en-US" sz="3800" spc="40" kern="0" dirty="0">
                <a:solidFill>
                  <a:srgbClr val="E9F2F8"/>
                </a:solidFill>
                <a:latin typeface="Calibri" pitchFamily="34" charset="0"/>
                <a:ea typeface="Calibri" pitchFamily="34" charset="-122"/>
                <a:cs typeface="Calibri" pitchFamily="34" charset="-120"/>
              </a:rPr>
              <a:t>Öğrenme modeli</a:t>
            </a:r>
            <a:endParaRPr lang="en-US" sz="3800" dirty="0"/>
          </a:p>
        </p:txBody>
      </p:sp>
      <p:sp>
        <p:nvSpPr>
          <p:cNvPr id="5" name="Text 3"/>
          <p:cNvSpPr txBox="1"/>
          <p:nvPr/>
        </p:nvSpPr>
        <p:spPr>
          <a:xfrm>
            <a:off x="6053328" y="4590288"/>
            <a:ext cx="5394960" cy="822960"/>
          </a:xfrm>
          <a:prstGeom prst="rect">
            <a:avLst/>
          </a:prstGeom>
          <a:noFill/>
          <a:ln/>
        </p:spPr>
        <p:txBody>
          <a:bodyPr wrap="square" lIns="0" tIns="0" rIns="0" bIns="0" rtlCol="0" anchor="t"/>
          <a:lstStyle/>
          <a:p>
            <a:pPr indent="0" marL="0">
              <a:lnSpc>
                <a:spcPts val="2200"/>
              </a:lnSpc>
              <a:buNone/>
            </a:pPr>
            <a:r>
              <a:rPr lang="en-US" sz="1350" dirty="0">
                <a:solidFill>
                  <a:srgbClr val="A9BCCB"/>
                </a:solidFill>
                <a:latin typeface="Calibri" pitchFamily="34" charset="0"/>
                <a:ea typeface="Calibri" pitchFamily="34" charset="-122"/>
                <a:cs typeface="Calibri" pitchFamily="34" charset="-120"/>
              </a:rPr>
              <a:t>Yorumlanabilir olmak için tasarlandı: her seviye bir kuralla, her tekrar bir gerekçeyle gelir.</a:t>
            </a:r>
            <a:endParaRPr lang="en-US" sz="1350" dirty="0"/>
          </a:p>
        </p:txBody>
      </p:sp>
      <p:sp>
        <p:nvSpPr>
          <p:cNvPr id="6" name="Text 4"/>
          <p:cNvSpPr txBox="1"/>
          <p:nvPr/>
        </p:nvSpPr>
        <p:spPr>
          <a:xfrm>
            <a:off x="566928" y="6382512"/>
            <a:ext cx="2377440" cy="237744"/>
          </a:xfrm>
          <a:prstGeom prst="rect">
            <a:avLst/>
          </a:prstGeom>
          <a:noFill/>
          <a:ln/>
        </p:spPr>
        <p:txBody>
          <a:bodyPr wrap="square" lIns="0" tIns="0" rIns="0" bIns="0" rtlCol="0" anchor="ctr"/>
          <a:lstStyle/>
          <a:p>
            <a:pPr indent="0" marL="0">
              <a:buNone/>
            </a:pPr>
            <a:r>
              <a:rPr lang="en-US" sz="850" spc="220" kern="0" dirty="0">
                <a:solidFill>
                  <a:srgbClr val="43566A"/>
                </a:solidFill>
                <a:latin typeface="Calibri" pitchFamily="34" charset="0"/>
                <a:ea typeface="Calibri" pitchFamily="34" charset="-122"/>
                <a:cs typeface="Calibri" pitchFamily="34" charset="-120"/>
              </a:rPr>
              <a:t>TIP AKADEMİSİ</a:t>
            </a:r>
            <a:endParaRPr lang="en-US" sz="850" dirty="0"/>
          </a:p>
        </p:txBody>
      </p:sp>
      <p:sp>
        <p:nvSpPr>
          <p:cNvPr id="7" name="Text 5"/>
          <p:cNvSpPr txBox="1"/>
          <p:nvPr/>
        </p:nvSpPr>
        <p:spPr>
          <a:xfrm>
            <a:off x="8229600" y="6382512"/>
            <a:ext cx="3364992" cy="237744"/>
          </a:xfrm>
          <a:prstGeom prst="rect">
            <a:avLst/>
          </a:prstGeom>
          <a:noFill/>
          <a:ln/>
        </p:spPr>
        <p:txBody>
          <a:bodyPr wrap="square" lIns="0" tIns="0" rIns="0" bIns="0" rtlCol="0" anchor="ctr"/>
          <a:lstStyle/>
          <a:p>
            <a:pPr algn="r" indent="0" marL="0">
              <a:buNone/>
            </a:pPr>
            <a:r>
              <a:rPr lang="en-US" sz="850" spc="220" kern="0" dirty="0">
                <a:solidFill>
                  <a:srgbClr val="43566A"/>
                </a:solidFill>
                <a:latin typeface="Calibri" pitchFamily="34" charset="0"/>
                <a:ea typeface="Calibri" pitchFamily="34" charset="-122"/>
                <a:cs typeface="Calibri" pitchFamily="34" charset="-120"/>
              </a:rPr>
              <a:t>21</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66928" y="566928"/>
            <a:ext cx="7680960" cy="237744"/>
          </a:xfrm>
          <a:prstGeom prst="rect">
            <a:avLst/>
          </a:prstGeom>
          <a:noFill/>
          <a:ln/>
        </p:spPr>
        <p:txBody>
          <a:bodyPr wrap="square" lIns="0" tIns="0" rIns="0" bIns="0" rtlCol="0" anchor="ctr"/>
          <a:lstStyle/>
          <a:p>
            <a:pPr indent="0" marL="0">
              <a:buNone/>
            </a:pPr>
            <a:r>
              <a:rPr lang="en-US" sz="1000" b="1" spc="340" kern="0" dirty="0">
                <a:solidFill>
                  <a:srgbClr val="4CC3EA"/>
                </a:solidFill>
                <a:latin typeface="Calibri" pitchFamily="34" charset="0"/>
                <a:ea typeface="Calibri" pitchFamily="34" charset="-122"/>
                <a:cs typeface="Calibri" pitchFamily="34" charset="-120"/>
              </a:rPr>
              <a:t>ÖĞRENME</a:t>
            </a:r>
            <a:endParaRPr lang="en-US" sz="1000" dirty="0"/>
          </a:p>
        </p:txBody>
      </p:sp>
      <p:sp>
        <p:nvSpPr>
          <p:cNvPr id="3" name="Text 1"/>
          <p:cNvSpPr txBox="1"/>
          <p:nvPr/>
        </p:nvSpPr>
        <p:spPr>
          <a:xfrm>
            <a:off x="548640" y="841248"/>
            <a:ext cx="8229600" cy="786384"/>
          </a:xfrm>
          <a:prstGeom prst="rect">
            <a:avLst/>
          </a:prstGeom>
          <a:noFill/>
          <a:ln/>
        </p:spPr>
        <p:txBody>
          <a:bodyPr wrap="square" lIns="0" tIns="0" rIns="0" bIns="0" rtlCol="0" anchor="t"/>
          <a:lstStyle/>
          <a:p>
            <a:pPr indent="0" marL="0">
              <a:buNone/>
            </a:pPr>
            <a:r>
              <a:rPr lang="en-US" sz="3600" spc="40" kern="0" dirty="0">
                <a:solidFill>
                  <a:srgbClr val="E9F2F8"/>
                </a:solidFill>
                <a:latin typeface="Calibri" pitchFamily="34" charset="0"/>
                <a:ea typeface="Calibri" pitchFamily="34" charset="-122"/>
                <a:cs typeface="Calibri" pitchFamily="34" charset="-120"/>
              </a:rPr>
              <a:t>Kural belli, kara kutu yok</a:t>
            </a:r>
            <a:endParaRPr lang="en-US" sz="3600" dirty="0"/>
          </a:p>
        </p:txBody>
      </p:sp>
      <p:sp>
        <p:nvSpPr>
          <p:cNvPr id="4" name="Text 2"/>
          <p:cNvSpPr txBox="1"/>
          <p:nvPr/>
        </p:nvSpPr>
        <p:spPr>
          <a:xfrm>
            <a:off x="566928" y="1719072"/>
            <a:ext cx="5852160" cy="822960"/>
          </a:xfrm>
          <a:prstGeom prst="rect">
            <a:avLst/>
          </a:prstGeom>
          <a:noFill/>
          <a:ln/>
        </p:spPr>
        <p:txBody>
          <a:bodyPr wrap="square" lIns="0" tIns="0" rIns="0" bIns="0" rtlCol="0" anchor="t"/>
          <a:lstStyle/>
          <a:p>
            <a:pPr indent="0" marL="0">
              <a:lnSpc>
                <a:spcPts val="2200"/>
              </a:lnSpc>
              <a:buNone/>
            </a:pPr>
            <a:r>
              <a:rPr lang="en-US" sz="1350" dirty="0">
                <a:solidFill>
                  <a:srgbClr val="A9BCCB"/>
                </a:solidFill>
                <a:latin typeface="Calibri" pitchFamily="34" charset="0"/>
                <a:ea typeface="Calibri" pitchFamily="34" charset="-122"/>
                <a:cs typeface="Calibri" pitchFamily="34" charset="-120"/>
              </a:rPr>
              <a:t>Son 8 denemelik bir pencere üzerinden dört seviye. Her kuyruğa alınan tekrar, neden alındığını söyler.</a:t>
            </a:r>
            <a:endParaRPr lang="en-US" sz="1350" dirty="0"/>
          </a:p>
        </p:txBody>
      </p:sp>
      <p:sp>
        <p:nvSpPr>
          <p:cNvPr id="5" name="Shape 3"/>
          <p:cNvSpPr/>
          <p:nvPr/>
        </p:nvSpPr>
        <p:spPr>
          <a:xfrm>
            <a:off x="566928" y="2688336"/>
            <a:ext cx="5852160" cy="566928"/>
          </a:xfrm>
          <a:prstGeom prst="roundRect">
            <a:avLst>
              <a:gd name="adj" fmla="val 9677"/>
            </a:avLst>
          </a:prstGeom>
          <a:solidFill>
            <a:srgbClr val="121C2E">
              <a:alpha val="66000"/>
            </a:srgbClr>
          </a:solidFill>
          <a:ln w="12700">
            <a:solidFill>
              <a:srgbClr val="6F8597"/>
            </a:solidFill>
            <a:prstDash val="solid"/>
          </a:ln>
        </p:spPr>
      </p:sp>
      <p:sp>
        <p:nvSpPr>
          <p:cNvPr id="6" name="Text 4"/>
          <p:cNvSpPr txBox="1"/>
          <p:nvPr/>
        </p:nvSpPr>
        <p:spPr>
          <a:xfrm>
            <a:off x="786384" y="2688336"/>
            <a:ext cx="1371600" cy="566928"/>
          </a:xfrm>
          <a:prstGeom prst="rect">
            <a:avLst/>
          </a:prstGeom>
          <a:noFill/>
          <a:ln/>
        </p:spPr>
        <p:txBody>
          <a:bodyPr wrap="square" lIns="0" tIns="0" rIns="0" bIns="0" rtlCol="0" anchor="ctr"/>
          <a:lstStyle/>
          <a:p>
            <a:pPr indent="0" marL="0">
              <a:buNone/>
            </a:pPr>
            <a:r>
              <a:rPr lang="en-US" sz="1050" b="1" dirty="0">
                <a:solidFill>
                  <a:srgbClr val="6F8597"/>
                </a:solidFill>
                <a:latin typeface="Consolas" pitchFamily="34" charset="0"/>
                <a:ea typeface="Consolas" pitchFamily="34" charset="-122"/>
                <a:cs typeface="Consolas" pitchFamily="34" charset="-120"/>
              </a:rPr>
              <a:t>unknown</a:t>
            </a:r>
            <a:endParaRPr lang="en-US" sz="1050" dirty="0"/>
          </a:p>
        </p:txBody>
      </p:sp>
      <p:sp>
        <p:nvSpPr>
          <p:cNvPr id="7" name="Text 5"/>
          <p:cNvSpPr txBox="1"/>
          <p:nvPr/>
        </p:nvSpPr>
        <p:spPr>
          <a:xfrm>
            <a:off x="2231136" y="2688336"/>
            <a:ext cx="1280160" cy="566928"/>
          </a:xfrm>
          <a:prstGeom prst="rect">
            <a:avLst/>
          </a:prstGeom>
          <a:noFill/>
          <a:ln/>
        </p:spPr>
        <p:txBody>
          <a:bodyPr wrap="square" lIns="0" tIns="0" rIns="0" bIns="0" rtlCol="0" anchor="ctr"/>
          <a:lstStyle/>
          <a:p>
            <a:pPr indent="0" marL="0">
              <a:buNone/>
            </a:pPr>
            <a:r>
              <a:rPr lang="en-US" sz="1200" dirty="0">
                <a:solidFill>
                  <a:srgbClr val="E9F2F8"/>
                </a:solidFill>
                <a:latin typeface="Calibri" pitchFamily="34" charset="0"/>
                <a:ea typeface="Calibri" pitchFamily="34" charset="-122"/>
                <a:cs typeface="Calibri" pitchFamily="34" charset="-120"/>
              </a:rPr>
              <a:t>Bilinmiyor</a:t>
            </a:r>
            <a:endParaRPr lang="en-US" sz="1200" dirty="0"/>
          </a:p>
        </p:txBody>
      </p:sp>
      <p:sp>
        <p:nvSpPr>
          <p:cNvPr id="8" name="Text 6"/>
          <p:cNvSpPr txBox="1"/>
          <p:nvPr/>
        </p:nvSpPr>
        <p:spPr>
          <a:xfrm>
            <a:off x="3529584" y="2688336"/>
            <a:ext cx="2743200" cy="566928"/>
          </a:xfrm>
          <a:prstGeom prst="rect">
            <a:avLst/>
          </a:prstGeom>
          <a:noFill/>
          <a:ln/>
        </p:spPr>
        <p:txBody>
          <a:bodyPr wrap="square" lIns="0" tIns="0" rIns="0" bIns="0" rtlCol="0" anchor="ctr"/>
          <a:lstStyle/>
          <a:p>
            <a:pPr indent="0" marL="0">
              <a:buNone/>
            </a:pPr>
            <a:r>
              <a:rPr lang="en-US" sz="1050" dirty="0">
                <a:solidFill>
                  <a:srgbClr val="6F8597"/>
                </a:solidFill>
                <a:latin typeface="Calibri" pitchFamily="34" charset="0"/>
                <a:ea typeface="Calibri" pitchFamily="34" charset="-122"/>
                <a:cs typeface="Calibri" pitchFamily="34" charset="-120"/>
              </a:rPr>
              <a:t>2 denemeden az</a:t>
            </a:r>
            <a:endParaRPr lang="en-US" sz="1050" dirty="0"/>
          </a:p>
        </p:txBody>
      </p:sp>
      <p:sp>
        <p:nvSpPr>
          <p:cNvPr id="9" name="Shape 7"/>
          <p:cNvSpPr/>
          <p:nvPr/>
        </p:nvSpPr>
        <p:spPr>
          <a:xfrm>
            <a:off x="566928" y="3401568"/>
            <a:ext cx="5852160" cy="566928"/>
          </a:xfrm>
          <a:prstGeom prst="roundRect">
            <a:avLst>
              <a:gd name="adj" fmla="val 9677"/>
            </a:avLst>
          </a:prstGeom>
          <a:solidFill>
            <a:srgbClr val="121C2E">
              <a:alpha val="66000"/>
            </a:srgbClr>
          </a:solidFill>
          <a:ln w="12700">
            <a:solidFill>
              <a:srgbClr val="FF9E9E"/>
            </a:solidFill>
            <a:prstDash val="solid"/>
          </a:ln>
        </p:spPr>
      </p:sp>
      <p:sp>
        <p:nvSpPr>
          <p:cNvPr id="10" name="Text 8"/>
          <p:cNvSpPr txBox="1"/>
          <p:nvPr/>
        </p:nvSpPr>
        <p:spPr>
          <a:xfrm>
            <a:off x="786384" y="3401568"/>
            <a:ext cx="1371600" cy="566928"/>
          </a:xfrm>
          <a:prstGeom prst="rect">
            <a:avLst/>
          </a:prstGeom>
          <a:noFill/>
          <a:ln/>
        </p:spPr>
        <p:txBody>
          <a:bodyPr wrap="square" lIns="0" tIns="0" rIns="0" bIns="0" rtlCol="0" anchor="ctr"/>
          <a:lstStyle/>
          <a:p>
            <a:pPr indent="0" marL="0">
              <a:buNone/>
            </a:pPr>
            <a:r>
              <a:rPr lang="en-US" sz="1050" b="1" dirty="0">
                <a:solidFill>
                  <a:srgbClr val="FF9E9E"/>
                </a:solidFill>
                <a:latin typeface="Consolas" pitchFamily="34" charset="0"/>
                <a:ea typeface="Consolas" pitchFamily="34" charset="-122"/>
                <a:cs typeface="Consolas" pitchFamily="34" charset="-120"/>
              </a:rPr>
              <a:t>weak</a:t>
            </a:r>
            <a:endParaRPr lang="en-US" sz="1050" dirty="0"/>
          </a:p>
        </p:txBody>
      </p:sp>
      <p:sp>
        <p:nvSpPr>
          <p:cNvPr id="11" name="Text 9"/>
          <p:cNvSpPr txBox="1"/>
          <p:nvPr/>
        </p:nvSpPr>
        <p:spPr>
          <a:xfrm>
            <a:off x="2231136" y="3401568"/>
            <a:ext cx="1280160" cy="566928"/>
          </a:xfrm>
          <a:prstGeom prst="rect">
            <a:avLst/>
          </a:prstGeom>
          <a:noFill/>
          <a:ln/>
        </p:spPr>
        <p:txBody>
          <a:bodyPr wrap="square" lIns="0" tIns="0" rIns="0" bIns="0" rtlCol="0" anchor="ctr"/>
          <a:lstStyle/>
          <a:p>
            <a:pPr indent="0" marL="0">
              <a:buNone/>
            </a:pPr>
            <a:r>
              <a:rPr lang="en-US" sz="1200" dirty="0">
                <a:solidFill>
                  <a:srgbClr val="E9F2F8"/>
                </a:solidFill>
                <a:latin typeface="Calibri" pitchFamily="34" charset="0"/>
                <a:ea typeface="Calibri" pitchFamily="34" charset="-122"/>
                <a:cs typeface="Calibri" pitchFamily="34" charset="-120"/>
              </a:rPr>
              <a:t>Zayıf</a:t>
            </a:r>
            <a:endParaRPr lang="en-US" sz="1200" dirty="0"/>
          </a:p>
        </p:txBody>
      </p:sp>
      <p:sp>
        <p:nvSpPr>
          <p:cNvPr id="12" name="Text 10"/>
          <p:cNvSpPr txBox="1"/>
          <p:nvPr/>
        </p:nvSpPr>
        <p:spPr>
          <a:xfrm>
            <a:off x="3529584" y="3401568"/>
            <a:ext cx="2743200" cy="566928"/>
          </a:xfrm>
          <a:prstGeom prst="rect">
            <a:avLst/>
          </a:prstGeom>
          <a:noFill/>
          <a:ln/>
        </p:spPr>
        <p:txBody>
          <a:bodyPr wrap="square" lIns="0" tIns="0" rIns="0" bIns="0" rtlCol="0" anchor="ctr"/>
          <a:lstStyle/>
          <a:p>
            <a:pPr indent="0" marL="0">
              <a:buNone/>
            </a:pPr>
            <a:r>
              <a:rPr lang="en-US" sz="1050" dirty="0">
                <a:solidFill>
                  <a:srgbClr val="6F8597"/>
                </a:solidFill>
                <a:latin typeface="Calibri" pitchFamily="34" charset="0"/>
                <a:ea typeface="Calibri" pitchFamily="34" charset="-122"/>
                <a:cs typeface="Calibri" pitchFamily="34" charset="-120"/>
              </a:rPr>
              <a:t>Son doğruluk %50'nin altında</a:t>
            </a:r>
            <a:endParaRPr lang="en-US" sz="1050" dirty="0"/>
          </a:p>
        </p:txBody>
      </p:sp>
      <p:sp>
        <p:nvSpPr>
          <p:cNvPr id="13" name="Shape 11"/>
          <p:cNvSpPr/>
          <p:nvPr/>
        </p:nvSpPr>
        <p:spPr>
          <a:xfrm>
            <a:off x="566928" y="4114800"/>
            <a:ext cx="5852160" cy="566928"/>
          </a:xfrm>
          <a:prstGeom prst="roundRect">
            <a:avLst>
              <a:gd name="adj" fmla="val 9677"/>
            </a:avLst>
          </a:prstGeom>
          <a:solidFill>
            <a:srgbClr val="121C2E">
              <a:alpha val="66000"/>
            </a:srgbClr>
          </a:solidFill>
          <a:ln w="12700">
            <a:solidFill>
              <a:srgbClr val="F0C68A"/>
            </a:solidFill>
            <a:prstDash val="solid"/>
          </a:ln>
        </p:spPr>
      </p:sp>
      <p:sp>
        <p:nvSpPr>
          <p:cNvPr id="14" name="Text 12"/>
          <p:cNvSpPr txBox="1"/>
          <p:nvPr/>
        </p:nvSpPr>
        <p:spPr>
          <a:xfrm>
            <a:off x="786384" y="4114800"/>
            <a:ext cx="1371600" cy="566928"/>
          </a:xfrm>
          <a:prstGeom prst="rect">
            <a:avLst/>
          </a:prstGeom>
          <a:noFill/>
          <a:ln/>
        </p:spPr>
        <p:txBody>
          <a:bodyPr wrap="square" lIns="0" tIns="0" rIns="0" bIns="0" rtlCol="0" anchor="ctr"/>
          <a:lstStyle/>
          <a:p>
            <a:pPr indent="0" marL="0">
              <a:buNone/>
            </a:pPr>
            <a:r>
              <a:rPr lang="en-US" sz="1050" b="1" dirty="0">
                <a:solidFill>
                  <a:srgbClr val="F0C68A"/>
                </a:solidFill>
                <a:latin typeface="Consolas" pitchFamily="34" charset="0"/>
                <a:ea typeface="Consolas" pitchFamily="34" charset="-122"/>
                <a:cs typeface="Consolas" pitchFamily="34" charset="-120"/>
              </a:rPr>
              <a:t>moderate</a:t>
            </a:r>
            <a:endParaRPr lang="en-US" sz="1050" dirty="0"/>
          </a:p>
        </p:txBody>
      </p:sp>
      <p:sp>
        <p:nvSpPr>
          <p:cNvPr id="15" name="Text 13"/>
          <p:cNvSpPr txBox="1"/>
          <p:nvPr/>
        </p:nvSpPr>
        <p:spPr>
          <a:xfrm>
            <a:off x="2231136" y="4114800"/>
            <a:ext cx="1280160" cy="566928"/>
          </a:xfrm>
          <a:prstGeom prst="rect">
            <a:avLst/>
          </a:prstGeom>
          <a:noFill/>
          <a:ln/>
        </p:spPr>
        <p:txBody>
          <a:bodyPr wrap="square" lIns="0" tIns="0" rIns="0" bIns="0" rtlCol="0" anchor="ctr"/>
          <a:lstStyle/>
          <a:p>
            <a:pPr indent="0" marL="0">
              <a:buNone/>
            </a:pPr>
            <a:r>
              <a:rPr lang="en-US" sz="1200" dirty="0">
                <a:solidFill>
                  <a:srgbClr val="E9F2F8"/>
                </a:solidFill>
                <a:latin typeface="Calibri" pitchFamily="34" charset="0"/>
                <a:ea typeface="Calibri" pitchFamily="34" charset="-122"/>
                <a:cs typeface="Calibri" pitchFamily="34" charset="-120"/>
              </a:rPr>
              <a:t>Orta</a:t>
            </a:r>
            <a:endParaRPr lang="en-US" sz="1200" dirty="0"/>
          </a:p>
        </p:txBody>
      </p:sp>
      <p:sp>
        <p:nvSpPr>
          <p:cNvPr id="16" name="Text 14"/>
          <p:cNvSpPr txBox="1"/>
          <p:nvPr/>
        </p:nvSpPr>
        <p:spPr>
          <a:xfrm>
            <a:off x="3529584" y="4114800"/>
            <a:ext cx="2743200" cy="566928"/>
          </a:xfrm>
          <a:prstGeom prst="rect">
            <a:avLst/>
          </a:prstGeom>
          <a:noFill/>
          <a:ln/>
        </p:spPr>
        <p:txBody>
          <a:bodyPr wrap="square" lIns="0" tIns="0" rIns="0" bIns="0" rtlCol="0" anchor="ctr"/>
          <a:lstStyle/>
          <a:p>
            <a:pPr indent="0" marL="0">
              <a:buNone/>
            </a:pPr>
            <a:r>
              <a:rPr lang="en-US" sz="1050" dirty="0">
                <a:solidFill>
                  <a:srgbClr val="6F8597"/>
                </a:solidFill>
                <a:latin typeface="Calibri" pitchFamily="34" charset="0"/>
                <a:ea typeface="Calibri" pitchFamily="34" charset="-122"/>
                <a:cs typeface="Calibri" pitchFamily="34" charset="-120"/>
              </a:rPr>
              <a:t>%80'in altında ya da 3 denemeden az</a:t>
            </a:r>
            <a:endParaRPr lang="en-US" sz="1050" dirty="0"/>
          </a:p>
        </p:txBody>
      </p:sp>
      <p:sp>
        <p:nvSpPr>
          <p:cNvPr id="17" name="Shape 15"/>
          <p:cNvSpPr/>
          <p:nvPr/>
        </p:nvSpPr>
        <p:spPr>
          <a:xfrm>
            <a:off x="566928" y="4828032"/>
            <a:ext cx="5852160" cy="566928"/>
          </a:xfrm>
          <a:prstGeom prst="roundRect">
            <a:avLst>
              <a:gd name="adj" fmla="val 9677"/>
            </a:avLst>
          </a:prstGeom>
          <a:solidFill>
            <a:srgbClr val="121C2E">
              <a:alpha val="66000"/>
            </a:srgbClr>
          </a:solidFill>
          <a:ln w="12700">
            <a:solidFill>
              <a:srgbClr val="7FE0B2"/>
            </a:solidFill>
            <a:prstDash val="solid"/>
          </a:ln>
        </p:spPr>
      </p:sp>
      <p:sp>
        <p:nvSpPr>
          <p:cNvPr id="18" name="Text 16"/>
          <p:cNvSpPr txBox="1"/>
          <p:nvPr/>
        </p:nvSpPr>
        <p:spPr>
          <a:xfrm>
            <a:off x="786384" y="4828032"/>
            <a:ext cx="1371600" cy="566928"/>
          </a:xfrm>
          <a:prstGeom prst="rect">
            <a:avLst/>
          </a:prstGeom>
          <a:noFill/>
          <a:ln/>
        </p:spPr>
        <p:txBody>
          <a:bodyPr wrap="square" lIns="0" tIns="0" rIns="0" bIns="0" rtlCol="0" anchor="ctr"/>
          <a:lstStyle/>
          <a:p>
            <a:pPr indent="0" marL="0">
              <a:buNone/>
            </a:pPr>
            <a:r>
              <a:rPr lang="en-US" sz="1050" b="1" dirty="0">
                <a:solidFill>
                  <a:srgbClr val="7FE0B2"/>
                </a:solidFill>
                <a:latin typeface="Consolas" pitchFamily="34" charset="0"/>
                <a:ea typeface="Consolas" pitchFamily="34" charset="-122"/>
                <a:cs typeface="Consolas" pitchFamily="34" charset="-120"/>
              </a:rPr>
              <a:t>strong</a:t>
            </a:r>
            <a:endParaRPr lang="en-US" sz="1050" dirty="0"/>
          </a:p>
        </p:txBody>
      </p:sp>
      <p:sp>
        <p:nvSpPr>
          <p:cNvPr id="19" name="Text 17"/>
          <p:cNvSpPr txBox="1"/>
          <p:nvPr/>
        </p:nvSpPr>
        <p:spPr>
          <a:xfrm>
            <a:off x="2231136" y="4828032"/>
            <a:ext cx="1280160" cy="566928"/>
          </a:xfrm>
          <a:prstGeom prst="rect">
            <a:avLst/>
          </a:prstGeom>
          <a:noFill/>
          <a:ln/>
        </p:spPr>
        <p:txBody>
          <a:bodyPr wrap="square" lIns="0" tIns="0" rIns="0" bIns="0" rtlCol="0" anchor="ctr"/>
          <a:lstStyle/>
          <a:p>
            <a:pPr indent="0" marL="0">
              <a:buNone/>
            </a:pPr>
            <a:r>
              <a:rPr lang="en-US" sz="1200" dirty="0">
                <a:solidFill>
                  <a:srgbClr val="E9F2F8"/>
                </a:solidFill>
                <a:latin typeface="Calibri" pitchFamily="34" charset="0"/>
                <a:ea typeface="Calibri" pitchFamily="34" charset="-122"/>
                <a:cs typeface="Calibri" pitchFamily="34" charset="-120"/>
              </a:rPr>
              <a:t>Güçlü</a:t>
            </a:r>
            <a:endParaRPr lang="en-US" sz="1200" dirty="0"/>
          </a:p>
        </p:txBody>
      </p:sp>
      <p:sp>
        <p:nvSpPr>
          <p:cNvPr id="20" name="Text 18"/>
          <p:cNvSpPr txBox="1"/>
          <p:nvPr/>
        </p:nvSpPr>
        <p:spPr>
          <a:xfrm>
            <a:off x="3529584" y="4828032"/>
            <a:ext cx="2743200" cy="566928"/>
          </a:xfrm>
          <a:prstGeom prst="rect">
            <a:avLst/>
          </a:prstGeom>
          <a:noFill/>
          <a:ln/>
        </p:spPr>
        <p:txBody>
          <a:bodyPr wrap="square" lIns="0" tIns="0" rIns="0" bIns="0" rtlCol="0" anchor="ctr"/>
          <a:lstStyle/>
          <a:p>
            <a:pPr indent="0" marL="0">
              <a:buNone/>
            </a:pPr>
            <a:r>
              <a:rPr lang="en-US" sz="1050" dirty="0">
                <a:solidFill>
                  <a:srgbClr val="6F8597"/>
                </a:solidFill>
                <a:latin typeface="Calibri" pitchFamily="34" charset="0"/>
                <a:ea typeface="Calibri" pitchFamily="34" charset="-122"/>
                <a:cs typeface="Calibri" pitchFamily="34" charset="-120"/>
              </a:rPr>
              <a:t>Son doğruluk %80 ve üzeri</a:t>
            </a:r>
            <a:endParaRPr lang="en-US" sz="1050" dirty="0"/>
          </a:p>
        </p:txBody>
      </p:sp>
      <p:sp>
        <p:nvSpPr>
          <p:cNvPr id="21" name="Shape 19"/>
          <p:cNvSpPr/>
          <p:nvPr/>
        </p:nvSpPr>
        <p:spPr>
          <a:xfrm>
            <a:off x="6784848" y="1645920"/>
            <a:ext cx="4809744" cy="1380744"/>
          </a:xfrm>
          <a:prstGeom prst="roundRect">
            <a:avLst>
              <a:gd name="adj" fmla="val 3974"/>
            </a:avLst>
          </a:prstGeom>
          <a:solidFill>
            <a:srgbClr val="121C2E">
              <a:alpha val="74000"/>
            </a:srgbClr>
          </a:solidFill>
          <a:ln w="12700">
            <a:solidFill>
              <a:srgbClr val="24384B"/>
            </a:solidFill>
            <a:prstDash val="solid"/>
          </a:ln>
        </p:spPr>
      </p:sp>
      <p:sp>
        <p:nvSpPr>
          <p:cNvPr id="22" name="Text 20"/>
          <p:cNvSpPr txBox="1"/>
          <p:nvPr/>
        </p:nvSpPr>
        <p:spPr>
          <a:xfrm>
            <a:off x="7059168" y="1920240"/>
            <a:ext cx="4261104" cy="201168"/>
          </a:xfrm>
          <a:prstGeom prst="rect">
            <a:avLst/>
          </a:prstGeom>
          <a:noFill/>
          <a:ln/>
        </p:spPr>
        <p:txBody>
          <a:bodyPr wrap="square" lIns="0" tIns="0" rIns="0" bIns="0" rtlCol="0" anchor="ctr"/>
          <a:lstStyle/>
          <a:p>
            <a:pPr indent="0" marL="0">
              <a:buNone/>
            </a:pPr>
            <a:r>
              <a:rPr lang="en-US" sz="900" b="1" spc="260" kern="0" dirty="0">
                <a:solidFill>
                  <a:srgbClr val="4CC3EA"/>
                </a:solidFill>
                <a:latin typeface="Calibri" pitchFamily="34" charset="0"/>
                <a:ea typeface="Calibri" pitchFamily="34" charset="-122"/>
                <a:cs typeface="Calibri" pitchFamily="34" charset="-120"/>
              </a:rPr>
              <a:t>ARALIKLI TEKRAR</a:t>
            </a:r>
            <a:endParaRPr lang="en-US" sz="900" dirty="0"/>
          </a:p>
        </p:txBody>
      </p:sp>
      <p:sp>
        <p:nvSpPr>
          <p:cNvPr id="23" name="Text 21"/>
          <p:cNvSpPr txBox="1"/>
          <p:nvPr/>
        </p:nvSpPr>
        <p:spPr>
          <a:xfrm>
            <a:off x="7059168" y="2212848"/>
            <a:ext cx="4261104" cy="310896"/>
          </a:xfrm>
          <a:prstGeom prst="rect">
            <a:avLst/>
          </a:prstGeom>
          <a:noFill/>
          <a:ln/>
        </p:spPr>
        <p:txBody>
          <a:bodyPr wrap="square" lIns="0" tIns="0" rIns="0" bIns="0" rtlCol="0" anchor="ctr"/>
          <a:lstStyle/>
          <a:p>
            <a:pPr indent="0" marL="0">
              <a:buNone/>
            </a:pPr>
            <a:r>
              <a:rPr lang="en-US" sz="1450" b="1" dirty="0">
                <a:solidFill>
                  <a:srgbClr val="E9F2F8"/>
                </a:solidFill>
                <a:latin typeface="Calibri" pitchFamily="34" charset="0"/>
                <a:ea typeface="Calibri" pitchFamily="34" charset="-122"/>
                <a:cs typeface="Calibri" pitchFamily="34" charset="-120"/>
              </a:rPr>
              <a:t>Tekrar aralıkları</a:t>
            </a:r>
            <a:endParaRPr lang="en-US" sz="1450" dirty="0"/>
          </a:p>
        </p:txBody>
      </p:sp>
      <p:sp>
        <p:nvSpPr>
          <p:cNvPr id="24" name="Text 22"/>
          <p:cNvSpPr txBox="1"/>
          <p:nvPr/>
        </p:nvSpPr>
        <p:spPr>
          <a:xfrm>
            <a:off x="7059168" y="2596896"/>
            <a:ext cx="4261104" cy="301752"/>
          </a:xfrm>
          <a:prstGeom prst="rect">
            <a:avLst/>
          </a:prstGeom>
          <a:noFill/>
          <a:ln/>
        </p:spPr>
        <p:txBody>
          <a:bodyPr wrap="square" lIns="0" tIns="0" rIns="0" bIns="0" rtlCol="0" anchor="t"/>
          <a:lstStyle/>
          <a:p>
            <a:pPr indent="0" marL="0">
              <a:lnSpc>
                <a:spcPts val="1800"/>
              </a:lnSpc>
              <a:buNone/>
            </a:pPr>
            <a:r>
              <a:rPr lang="en-US" sz="1150" dirty="0">
                <a:solidFill>
                  <a:srgbClr val="A9BCCB"/>
                </a:solidFill>
                <a:latin typeface="Calibri" pitchFamily="34" charset="0"/>
                <a:ea typeface="Calibri" pitchFamily="34" charset="-122"/>
                <a:cs typeface="Calibri" pitchFamily="34" charset="-120"/>
              </a:rPr>
              <a:t>Seviyeye bağlı: 1, 1, 3, 7 gün — seri uzadıkça 30 güne kadar büyür.</a:t>
            </a:r>
            <a:endParaRPr lang="en-US" sz="1150" dirty="0"/>
          </a:p>
        </p:txBody>
      </p:sp>
      <p:sp>
        <p:nvSpPr>
          <p:cNvPr id="25" name="Shape 23"/>
          <p:cNvSpPr/>
          <p:nvPr/>
        </p:nvSpPr>
        <p:spPr>
          <a:xfrm>
            <a:off x="6784848" y="3191256"/>
            <a:ext cx="4809744" cy="1453896"/>
          </a:xfrm>
          <a:prstGeom prst="roundRect">
            <a:avLst>
              <a:gd name="adj" fmla="val 3774"/>
            </a:avLst>
          </a:prstGeom>
          <a:solidFill>
            <a:srgbClr val="121C2E">
              <a:alpha val="74000"/>
            </a:srgbClr>
          </a:solidFill>
          <a:ln w="12700">
            <a:solidFill>
              <a:srgbClr val="24384B"/>
            </a:solidFill>
            <a:prstDash val="solid"/>
          </a:ln>
        </p:spPr>
      </p:sp>
      <p:sp>
        <p:nvSpPr>
          <p:cNvPr id="26" name="Text 24"/>
          <p:cNvSpPr txBox="1"/>
          <p:nvPr/>
        </p:nvSpPr>
        <p:spPr>
          <a:xfrm>
            <a:off x="7059168" y="3465576"/>
            <a:ext cx="4261104" cy="201168"/>
          </a:xfrm>
          <a:prstGeom prst="rect">
            <a:avLst/>
          </a:prstGeom>
          <a:noFill/>
          <a:ln/>
        </p:spPr>
        <p:txBody>
          <a:bodyPr wrap="square" lIns="0" tIns="0" rIns="0" bIns="0" rtlCol="0" anchor="ctr"/>
          <a:lstStyle/>
          <a:p>
            <a:pPr indent="0" marL="0">
              <a:buNone/>
            </a:pPr>
            <a:r>
              <a:rPr lang="en-US" sz="900" b="1" spc="260" kern="0" dirty="0">
                <a:solidFill>
                  <a:srgbClr val="4CC3EA"/>
                </a:solidFill>
                <a:latin typeface="Calibri" pitchFamily="34" charset="0"/>
                <a:ea typeface="Calibri" pitchFamily="34" charset="-122"/>
                <a:cs typeface="Calibri" pitchFamily="34" charset="-120"/>
              </a:rPr>
              <a:t>ZORLUK</a:t>
            </a:r>
            <a:endParaRPr lang="en-US" sz="900" dirty="0"/>
          </a:p>
        </p:txBody>
      </p:sp>
      <p:sp>
        <p:nvSpPr>
          <p:cNvPr id="27" name="Text 25"/>
          <p:cNvSpPr txBox="1"/>
          <p:nvPr/>
        </p:nvSpPr>
        <p:spPr>
          <a:xfrm>
            <a:off x="7059168" y="3758184"/>
            <a:ext cx="4261104" cy="758952"/>
          </a:xfrm>
          <a:prstGeom prst="rect">
            <a:avLst/>
          </a:prstGeom>
          <a:noFill/>
          <a:ln/>
        </p:spPr>
        <p:txBody>
          <a:bodyPr wrap="square" lIns="0" tIns="0" rIns="0" bIns="0" rtlCol="0" anchor="t"/>
          <a:lstStyle/>
          <a:p>
            <a:pPr indent="0" marL="0">
              <a:lnSpc>
                <a:spcPts val="1800"/>
              </a:lnSpc>
              <a:buNone/>
            </a:pPr>
            <a:r>
              <a:rPr lang="en-US" sz="1150" dirty="0">
                <a:solidFill>
                  <a:srgbClr val="A9BCCB"/>
                </a:solidFill>
                <a:latin typeface="Calibri" pitchFamily="34" charset="0"/>
                <a:ea typeface="Calibri" pitchFamily="34" charset="-122"/>
                <a:cs typeface="Calibri" pitchFamily="34" charset="-120"/>
              </a:rPr>
              <a:t>Uyarlanabilir zorluk beş yeni sonuç ister, en fazla bir basamak oynar ve ne yaptığını söyler. Karar, denemenin saklanan sonucunun parçasıdır.</a:t>
            </a:r>
            <a:endParaRPr lang="en-US" sz="1150" dirty="0"/>
          </a:p>
        </p:txBody>
      </p:sp>
      <p:sp>
        <p:nvSpPr>
          <p:cNvPr id="28" name="Shape 26"/>
          <p:cNvSpPr/>
          <p:nvPr/>
        </p:nvSpPr>
        <p:spPr>
          <a:xfrm>
            <a:off x="6784848" y="4809744"/>
            <a:ext cx="4809744" cy="1453896"/>
          </a:xfrm>
          <a:prstGeom prst="roundRect">
            <a:avLst>
              <a:gd name="adj" fmla="val 3774"/>
            </a:avLst>
          </a:prstGeom>
          <a:solidFill>
            <a:srgbClr val="121C2E">
              <a:alpha val="74000"/>
            </a:srgbClr>
          </a:solidFill>
          <a:ln w="12700">
            <a:solidFill>
              <a:srgbClr val="B8A8FF"/>
            </a:solidFill>
            <a:prstDash val="solid"/>
          </a:ln>
        </p:spPr>
      </p:sp>
      <p:sp>
        <p:nvSpPr>
          <p:cNvPr id="29" name="Text 27"/>
          <p:cNvSpPr txBox="1"/>
          <p:nvPr/>
        </p:nvSpPr>
        <p:spPr>
          <a:xfrm>
            <a:off x="7059168" y="5084064"/>
            <a:ext cx="4261104" cy="201168"/>
          </a:xfrm>
          <a:prstGeom prst="rect">
            <a:avLst/>
          </a:prstGeom>
          <a:noFill/>
          <a:ln/>
        </p:spPr>
        <p:txBody>
          <a:bodyPr wrap="square" lIns="0" tIns="0" rIns="0" bIns="0" rtlCol="0" anchor="ctr"/>
          <a:lstStyle/>
          <a:p>
            <a:pPr indent="0" marL="0">
              <a:buNone/>
            </a:pPr>
            <a:r>
              <a:rPr lang="en-US" sz="900" b="1" spc="260" kern="0" dirty="0">
                <a:solidFill>
                  <a:srgbClr val="4CC3EA"/>
                </a:solidFill>
                <a:latin typeface="Calibri" pitchFamily="34" charset="0"/>
                <a:ea typeface="Calibri" pitchFamily="34" charset="-122"/>
                <a:cs typeface="Calibri" pitchFamily="34" charset="-120"/>
              </a:rPr>
              <a:t>İÇGÖRÜ</a:t>
            </a:r>
            <a:endParaRPr lang="en-US" sz="900" dirty="0"/>
          </a:p>
        </p:txBody>
      </p:sp>
      <p:sp>
        <p:nvSpPr>
          <p:cNvPr id="30" name="Text 28"/>
          <p:cNvSpPr txBox="1"/>
          <p:nvPr/>
        </p:nvSpPr>
        <p:spPr>
          <a:xfrm>
            <a:off x="7059168" y="5376672"/>
            <a:ext cx="4261104" cy="758952"/>
          </a:xfrm>
          <a:prstGeom prst="rect">
            <a:avLst/>
          </a:prstGeom>
          <a:noFill/>
          <a:ln/>
        </p:spPr>
        <p:txBody>
          <a:bodyPr wrap="square" lIns="0" tIns="0" rIns="0" bIns="0" rtlCol="0" anchor="t"/>
          <a:lstStyle/>
          <a:p>
            <a:pPr indent="0" marL="0">
              <a:lnSpc>
                <a:spcPts val="1800"/>
              </a:lnSpc>
              <a:buNone/>
            </a:pPr>
            <a:r>
              <a:rPr lang="en-US" sz="1150" dirty="0">
                <a:solidFill>
                  <a:srgbClr val="A9BCCB"/>
                </a:solidFill>
                <a:latin typeface="Calibri" pitchFamily="34" charset="0"/>
                <a:ea typeface="Calibri" pitchFamily="34" charset="-122"/>
                <a:cs typeface="Calibri" pitchFamily="34" charset="-120"/>
              </a:rPr>
              <a:t>Yanlış şık seçimleri kavram başına sayılır: "Scapula sorularında 2 kez fossa supraspinata seçeneğine kaydın." Bir gözlem bir olarak bildirilir, eğilim olarak değil.</a:t>
            </a:r>
            <a:endParaRPr lang="en-US" sz="1150" dirty="0"/>
          </a:p>
        </p:txBody>
      </p:sp>
      <p:sp>
        <p:nvSpPr>
          <p:cNvPr id="31" name="Text 29"/>
          <p:cNvSpPr txBox="1"/>
          <p:nvPr/>
        </p:nvSpPr>
        <p:spPr>
          <a:xfrm>
            <a:off x="566928" y="6382512"/>
            <a:ext cx="2377440" cy="237744"/>
          </a:xfrm>
          <a:prstGeom prst="rect">
            <a:avLst/>
          </a:prstGeom>
          <a:noFill/>
          <a:ln/>
        </p:spPr>
        <p:txBody>
          <a:bodyPr wrap="square" lIns="0" tIns="0" rIns="0" bIns="0" rtlCol="0" anchor="ctr"/>
          <a:lstStyle/>
          <a:p>
            <a:pPr indent="0" marL="0">
              <a:buNone/>
            </a:pPr>
            <a:r>
              <a:rPr lang="en-US" sz="850" spc="220" kern="0" dirty="0">
                <a:solidFill>
                  <a:srgbClr val="43566A"/>
                </a:solidFill>
                <a:latin typeface="Calibri" pitchFamily="34" charset="0"/>
                <a:ea typeface="Calibri" pitchFamily="34" charset="-122"/>
                <a:cs typeface="Calibri" pitchFamily="34" charset="-120"/>
              </a:rPr>
              <a:t>TIP AKADEMİSİ</a:t>
            </a:r>
            <a:endParaRPr lang="en-US" sz="850" dirty="0"/>
          </a:p>
        </p:txBody>
      </p:sp>
      <p:sp>
        <p:nvSpPr>
          <p:cNvPr id="32" name="Text 30"/>
          <p:cNvSpPr txBox="1"/>
          <p:nvPr/>
        </p:nvSpPr>
        <p:spPr>
          <a:xfrm>
            <a:off x="8229600" y="6382512"/>
            <a:ext cx="3364992" cy="237744"/>
          </a:xfrm>
          <a:prstGeom prst="rect">
            <a:avLst/>
          </a:prstGeom>
          <a:noFill/>
          <a:ln/>
        </p:spPr>
        <p:txBody>
          <a:bodyPr wrap="square" lIns="0" tIns="0" rIns="0" bIns="0" rtlCol="0" anchor="ctr"/>
          <a:lstStyle/>
          <a:p>
            <a:pPr algn="r" indent="0" marL="0">
              <a:buNone/>
            </a:pPr>
            <a:r>
              <a:rPr lang="en-US" sz="850" spc="220" kern="0" dirty="0">
                <a:solidFill>
                  <a:srgbClr val="43566A"/>
                </a:solidFill>
                <a:latin typeface="Calibri" pitchFamily="34" charset="0"/>
                <a:ea typeface="Calibri" pitchFamily="34" charset="-122"/>
                <a:cs typeface="Calibri" pitchFamily="34" charset="-120"/>
              </a:rPr>
              <a:t>22  ·  Öğrenme</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66928" y="566928"/>
            <a:ext cx="7680960" cy="237744"/>
          </a:xfrm>
          <a:prstGeom prst="rect">
            <a:avLst/>
          </a:prstGeom>
          <a:noFill/>
          <a:ln/>
        </p:spPr>
        <p:txBody>
          <a:bodyPr wrap="square" lIns="0" tIns="0" rIns="0" bIns="0" rtlCol="0" anchor="ctr"/>
          <a:lstStyle/>
          <a:p>
            <a:pPr indent="0" marL="0">
              <a:buNone/>
            </a:pPr>
            <a:r>
              <a:rPr lang="en-US" sz="1000" b="1" spc="340" kern="0" dirty="0">
                <a:solidFill>
                  <a:srgbClr val="4CC3EA"/>
                </a:solidFill>
                <a:latin typeface="Calibri" pitchFamily="34" charset="0"/>
                <a:ea typeface="Calibri" pitchFamily="34" charset="-122"/>
                <a:cs typeface="Calibri" pitchFamily="34" charset="-120"/>
              </a:rPr>
              <a:t>ÖĞRENME</a:t>
            </a:r>
            <a:endParaRPr lang="en-US" sz="1000" dirty="0"/>
          </a:p>
        </p:txBody>
      </p:sp>
      <p:sp>
        <p:nvSpPr>
          <p:cNvPr id="3" name="Text 1"/>
          <p:cNvSpPr txBox="1"/>
          <p:nvPr/>
        </p:nvSpPr>
        <p:spPr>
          <a:xfrm>
            <a:off x="548640" y="841248"/>
            <a:ext cx="9144000" cy="786384"/>
          </a:xfrm>
          <a:prstGeom prst="rect">
            <a:avLst/>
          </a:prstGeom>
          <a:noFill/>
          <a:ln/>
        </p:spPr>
        <p:txBody>
          <a:bodyPr wrap="square" lIns="0" tIns="0" rIns="0" bIns="0" rtlCol="0" anchor="t"/>
          <a:lstStyle/>
          <a:p>
            <a:pPr indent="0" marL="0">
              <a:buNone/>
            </a:pPr>
            <a:r>
              <a:rPr lang="en-US" sz="3400" spc="40" kern="0" dirty="0">
                <a:solidFill>
                  <a:srgbClr val="E9F2F8"/>
                </a:solidFill>
                <a:latin typeface="Calibri" pitchFamily="34" charset="0"/>
                <a:ea typeface="Calibri" pitchFamily="34" charset="-122"/>
                <a:cs typeface="Calibri" pitchFamily="34" charset="-120"/>
              </a:rPr>
              <a:t>Her cevapla birlikte güven ve gerekçe</a:t>
            </a:r>
            <a:endParaRPr lang="en-US" sz="3400" dirty="0"/>
          </a:p>
        </p:txBody>
      </p:sp>
      <p:sp>
        <p:nvSpPr>
          <p:cNvPr id="4" name="Text 2"/>
          <p:cNvSpPr txBox="1"/>
          <p:nvPr/>
        </p:nvSpPr>
        <p:spPr>
          <a:xfrm>
            <a:off x="566928" y="1645920"/>
            <a:ext cx="10881360" cy="822960"/>
          </a:xfrm>
          <a:prstGeom prst="rect">
            <a:avLst/>
          </a:prstGeom>
          <a:noFill/>
          <a:ln/>
        </p:spPr>
        <p:txBody>
          <a:bodyPr wrap="square" lIns="0" tIns="0" rIns="0" bIns="0" rtlCol="0" anchor="t"/>
          <a:lstStyle/>
          <a:p>
            <a:pPr indent="0" marL="0">
              <a:lnSpc>
                <a:spcPts val="2200"/>
              </a:lnSpc>
              <a:buNone/>
            </a:pPr>
            <a:r>
              <a:rPr lang="en-US" sz="1400" dirty="0">
                <a:solidFill>
                  <a:srgbClr val="A9BCCB"/>
                </a:solidFill>
                <a:latin typeface="Calibri" pitchFamily="34" charset="0"/>
                <a:ea typeface="Calibri" pitchFamily="34" charset="-122"/>
                <a:cs typeface="Calibri" pitchFamily="34" charset="-120"/>
              </a:rPr>
              <a:t>Doğru bilmek ile doğru tahmin etmek aynı şey değildir. Akademi ikisini ayırır.</a:t>
            </a:r>
            <a:endParaRPr lang="en-US" sz="1400" dirty="0"/>
          </a:p>
        </p:txBody>
      </p:sp>
      <p:sp>
        <p:nvSpPr>
          <p:cNvPr id="5" name="Shape 3"/>
          <p:cNvSpPr/>
          <p:nvPr/>
        </p:nvSpPr>
        <p:spPr>
          <a:xfrm>
            <a:off x="566928" y="2505456"/>
            <a:ext cx="1005840" cy="384048"/>
          </a:xfrm>
          <a:prstGeom prst="roundRect">
            <a:avLst>
              <a:gd name="adj" fmla="val 119048"/>
            </a:avLst>
          </a:prstGeom>
          <a:solidFill>
            <a:srgbClr val="121C2E">
              <a:alpha val="66000"/>
            </a:srgbClr>
          </a:solidFill>
          <a:ln w="11430">
            <a:solidFill>
              <a:srgbClr val="7FE0B2"/>
            </a:solidFill>
            <a:prstDash val="solid"/>
          </a:ln>
        </p:spPr>
      </p:sp>
      <p:sp>
        <p:nvSpPr>
          <p:cNvPr id="6" name="Text 4"/>
          <p:cNvSpPr txBox="1"/>
          <p:nvPr/>
        </p:nvSpPr>
        <p:spPr>
          <a:xfrm>
            <a:off x="566928" y="2505456"/>
            <a:ext cx="1005840" cy="384048"/>
          </a:xfrm>
          <a:prstGeom prst="rect">
            <a:avLst/>
          </a:prstGeom>
          <a:noFill/>
          <a:ln/>
        </p:spPr>
        <p:txBody>
          <a:bodyPr wrap="square" lIns="0" tIns="0" rIns="0" bIns="0" rtlCol="0" anchor="ctr"/>
          <a:lstStyle/>
          <a:p>
            <a:pPr algn="ctr" indent="0" marL="0">
              <a:buNone/>
            </a:pPr>
            <a:r>
              <a:rPr lang="en-US" sz="1100" spc="80" kern="0" dirty="0">
                <a:solidFill>
                  <a:srgbClr val="7FE0B2"/>
                </a:solidFill>
                <a:latin typeface="Calibri" pitchFamily="34" charset="0"/>
                <a:ea typeface="Calibri" pitchFamily="34" charset="-122"/>
                <a:cs typeface="Calibri" pitchFamily="34" charset="-120"/>
              </a:rPr>
              <a:t>Eminim</a:t>
            </a:r>
            <a:endParaRPr lang="en-US" sz="1100" dirty="0"/>
          </a:p>
        </p:txBody>
      </p:sp>
      <p:sp>
        <p:nvSpPr>
          <p:cNvPr id="7" name="Shape 5"/>
          <p:cNvSpPr/>
          <p:nvPr/>
        </p:nvSpPr>
        <p:spPr>
          <a:xfrm>
            <a:off x="1719072" y="2505456"/>
            <a:ext cx="1371600" cy="384048"/>
          </a:xfrm>
          <a:prstGeom prst="roundRect">
            <a:avLst>
              <a:gd name="adj" fmla="val 119048"/>
            </a:avLst>
          </a:prstGeom>
          <a:solidFill>
            <a:srgbClr val="121C2E">
              <a:alpha val="66000"/>
            </a:srgbClr>
          </a:solidFill>
          <a:ln w="11430">
            <a:solidFill>
              <a:srgbClr val="F0C68A"/>
            </a:solidFill>
            <a:prstDash val="solid"/>
          </a:ln>
        </p:spPr>
      </p:sp>
      <p:sp>
        <p:nvSpPr>
          <p:cNvPr id="8" name="Text 6"/>
          <p:cNvSpPr txBox="1"/>
          <p:nvPr/>
        </p:nvSpPr>
        <p:spPr>
          <a:xfrm>
            <a:off x="1719072" y="2505456"/>
            <a:ext cx="1371600" cy="384048"/>
          </a:xfrm>
          <a:prstGeom prst="rect">
            <a:avLst/>
          </a:prstGeom>
          <a:noFill/>
          <a:ln/>
        </p:spPr>
        <p:txBody>
          <a:bodyPr wrap="square" lIns="0" tIns="0" rIns="0" bIns="0" rtlCol="0" anchor="ctr"/>
          <a:lstStyle/>
          <a:p>
            <a:pPr algn="ctr" indent="0" marL="0">
              <a:buNone/>
            </a:pPr>
            <a:r>
              <a:rPr lang="en-US" sz="1100" spc="80" kern="0" dirty="0">
                <a:solidFill>
                  <a:srgbClr val="F0C68A"/>
                </a:solidFill>
                <a:latin typeface="Calibri" pitchFamily="34" charset="0"/>
                <a:ea typeface="Calibri" pitchFamily="34" charset="-122"/>
                <a:cs typeface="Calibri" pitchFamily="34" charset="-120"/>
              </a:rPr>
              <a:t>Kararsızım</a:t>
            </a:r>
            <a:endParaRPr lang="en-US" sz="1100" dirty="0"/>
          </a:p>
        </p:txBody>
      </p:sp>
      <p:sp>
        <p:nvSpPr>
          <p:cNvPr id="9" name="Shape 7"/>
          <p:cNvSpPr/>
          <p:nvPr/>
        </p:nvSpPr>
        <p:spPr>
          <a:xfrm>
            <a:off x="3236976" y="2505456"/>
            <a:ext cx="1554480" cy="384048"/>
          </a:xfrm>
          <a:prstGeom prst="roundRect">
            <a:avLst>
              <a:gd name="adj" fmla="val 119048"/>
            </a:avLst>
          </a:prstGeom>
          <a:solidFill>
            <a:srgbClr val="121C2E">
              <a:alpha val="66000"/>
            </a:srgbClr>
          </a:solidFill>
          <a:ln w="11430">
            <a:solidFill>
              <a:srgbClr val="6F8597"/>
            </a:solidFill>
            <a:prstDash val="solid"/>
          </a:ln>
        </p:spPr>
      </p:sp>
      <p:sp>
        <p:nvSpPr>
          <p:cNvPr id="10" name="Text 8"/>
          <p:cNvSpPr txBox="1"/>
          <p:nvPr/>
        </p:nvSpPr>
        <p:spPr>
          <a:xfrm>
            <a:off x="3236976" y="2505456"/>
            <a:ext cx="1554480" cy="384048"/>
          </a:xfrm>
          <a:prstGeom prst="rect">
            <a:avLst/>
          </a:prstGeom>
          <a:noFill/>
          <a:ln/>
        </p:spPr>
        <p:txBody>
          <a:bodyPr wrap="square" lIns="0" tIns="0" rIns="0" bIns="0" rtlCol="0" anchor="ctr"/>
          <a:lstStyle/>
          <a:p>
            <a:pPr algn="ctr" indent="0" marL="0">
              <a:buNone/>
            </a:pPr>
            <a:r>
              <a:rPr lang="en-US" sz="1100" spc="80" kern="0" dirty="0">
                <a:solidFill>
                  <a:srgbClr val="6F8597"/>
                </a:solidFill>
                <a:latin typeface="Calibri" pitchFamily="34" charset="0"/>
                <a:ea typeface="Calibri" pitchFamily="34" charset="-122"/>
                <a:cs typeface="Calibri" pitchFamily="34" charset="-120"/>
              </a:rPr>
              <a:t>Tahmin ettim</a:t>
            </a:r>
            <a:endParaRPr lang="en-US" sz="1100" dirty="0"/>
          </a:p>
        </p:txBody>
      </p:sp>
      <p:sp>
        <p:nvSpPr>
          <p:cNvPr id="11" name="Shape 9"/>
          <p:cNvSpPr/>
          <p:nvPr/>
        </p:nvSpPr>
        <p:spPr>
          <a:xfrm>
            <a:off x="566928" y="3108960"/>
            <a:ext cx="6035040" cy="457200"/>
          </a:xfrm>
          <a:prstGeom prst="roundRect">
            <a:avLst>
              <a:gd name="adj" fmla="val 12000"/>
            </a:avLst>
          </a:prstGeom>
          <a:solidFill>
            <a:srgbClr val="121C2E">
              <a:alpha val="66000"/>
            </a:srgbClr>
          </a:solidFill>
          <a:ln w="12700">
            <a:solidFill>
              <a:srgbClr val="7FE0B2"/>
            </a:solidFill>
            <a:prstDash val="solid"/>
          </a:ln>
        </p:spPr>
      </p:sp>
      <p:sp>
        <p:nvSpPr>
          <p:cNvPr id="12" name="Text 10"/>
          <p:cNvSpPr txBox="1"/>
          <p:nvPr/>
        </p:nvSpPr>
        <p:spPr>
          <a:xfrm>
            <a:off x="786384" y="3108960"/>
            <a:ext cx="2468880" cy="457200"/>
          </a:xfrm>
          <a:prstGeom prst="rect">
            <a:avLst/>
          </a:prstGeom>
          <a:noFill/>
          <a:ln/>
        </p:spPr>
        <p:txBody>
          <a:bodyPr wrap="square" lIns="0" tIns="0" rIns="0" bIns="0" rtlCol="0" anchor="ctr"/>
          <a:lstStyle/>
          <a:p>
            <a:pPr indent="0" marL="0">
              <a:buNone/>
            </a:pPr>
            <a:r>
              <a:rPr lang="en-US" sz="900" dirty="0">
                <a:solidFill>
                  <a:srgbClr val="7FE0B2"/>
                </a:solidFill>
                <a:latin typeface="Consolas" pitchFamily="34" charset="0"/>
                <a:ea typeface="Consolas" pitchFamily="34" charset="-122"/>
                <a:cs typeface="Consolas" pitchFamily="34" charset="-120"/>
              </a:rPr>
              <a:t>correct_supported</a:t>
            </a:r>
            <a:endParaRPr lang="en-US" sz="900" dirty="0"/>
          </a:p>
        </p:txBody>
      </p:sp>
      <p:sp>
        <p:nvSpPr>
          <p:cNvPr id="13" name="Text 11"/>
          <p:cNvSpPr txBox="1"/>
          <p:nvPr/>
        </p:nvSpPr>
        <p:spPr>
          <a:xfrm>
            <a:off x="3310128" y="3108960"/>
            <a:ext cx="3108960" cy="457200"/>
          </a:xfrm>
          <a:prstGeom prst="rect">
            <a:avLst/>
          </a:prstGeom>
          <a:noFill/>
          <a:ln/>
        </p:spPr>
        <p:txBody>
          <a:bodyPr wrap="square" lIns="0" tIns="0" rIns="0" bIns="0" rtlCol="0" anchor="ctr"/>
          <a:lstStyle/>
          <a:p>
            <a:pPr indent="0" marL="0">
              <a:buNone/>
            </a:pPr>
            <a:r>
              <a:rPr lang="en-US" sz="1100" dirty="0">
                <a:solidFill>
                  <a:srgbClr val="A9BCCB"/>
                </a:solidFill>
                <a:latin typeface="Calibri" pitchFamily="34" charset="0"/>
                <a:ea typeface="Calibri" pitchFamily="34" charset="-122"/>
                <a:cs typeface="Calibri" pitchFamily="34" charset="-120"/>
              </a:rPr>
              <a:t>Doğru ve gerekçesi destekliyor</a:t>
            </a:r>
            <a:endParaRPr lang="en-US" sz="1100" dirty="0"/>
          </a:p>
        </p:txBody>
      </p:sp>
      <p:sp>
        <p:nvSpPr>
          <p:cNvPr id="14" name="Shape 12"/>
          <p:cNvSpPr/>
          <p:nvPr/>
        </p:nvSpPr>
        <p:spPr>
          <a:xfrm>
            <a:off x="566928" y="3694176"/>
            <a:ext cx="6035040" cy="457200"/>
          </a:xfrm>
          <a:prstGeom prst="roundRect">
            <a:avLst>
              <a:gd name="adj" fmla="val 12000"/>
            </a:avLst>
          </a:prstGeom>
          <a:solidFill>
            <a:srgbClr val="121C2E">
              <a:alpha val="66000"/>
            </a:srgbClr>
          </a:solidFill>
          <a:ln w="12700">
            <a:solidFill>
              <a:srgbClr val="F0C68A"/>
            </a:solidFill>
            <a:prstDash val="solid"/>
          </a:ln>
        </p:spPr>
      </p:sp>
      <p:sp>
        <p:nvSpPr>
          <p:cNvPr id="15" name="Text 13"/>
          <p:cNvSpPr txBox="1"/>
          <p:nvPr/>
        </p:nvSpPr>
        <p:spPr>
          <a:xfrm>
            <a:off x="786384" y="3694176"/>
            <a:ext cx="2468880" cy="457200"/>
          </a:xfrm>
          <a:prstGeom prst="rect">
            <a:avLst/>
          </a:prstGeom>
          <a:noFill/>
          <a:ln/>
        </p:spPr>
        <p:txBody>
          <a:bodyPr wrap="square" lIns="0" tIns="0" rIns="0" bIns="0" rtlCol="0" anchor="ctr"/>
          <a:lstStyle/>
          <a:p>
            <a:pPr indent="0" marL="0">
              <a:buNone/>
            </a:pPr>
            <a:r>
              <a:rPr lang="en-US" sz="900" dirty="0">
                <a:solidFill>
                  <a:srgbClr val="F0C68A"/>
                </a:solidFill>
                <a:latin typeface="Consolas" pitchFamily="34" charset="0"/>
                <a:ea typeface="Consolas" pitchFamily="34" charset="-122"/>
                <a:cs typeface="Consolas" pitchFamily="34" charset="-120"/>
              </a:rPr>
              <a:t>correct_unsupported</a:t>
            </a:r>
            <a:endParaRPr lang="en-US" sz="900" dirty="0"/>
          </a:p>
        </p:txBody>
      </p:sp>
      <p:sp>
        <p:nvSpPr>
          <p:cNvPr id="16" name="Text 14"/>
          <p:cNvSpPr txBox="1"/>
          <p:nvPr/>
        </p:nvSpPr>
        <p:spPr>
          <a:xfrm>
            <a:off x="3310128" y="3694176"/>
            <a:ext cx="3108960" cy="457200"/>
          </a:xfrm>
          <a:prstGeom prst="rect">
            <a:avLst/>
          </a:prstGeom>
          <a:noFill/>
          <a:ln/>
        </p:spPr>
        <p:txBody>
          <a:bodyPr wrap="square" lIns="0" tIns="0" rIns="0" bIns="0" rtlCol="0" anchor="ctr"/>
          <a:lstStyle/>
          <a:p>
            <a:pPr indent="0" marL="0">
              <a:buNone/>
            </a:pPr>
            <a:r>
              <a:rPr lang="en-US" sz="1100" dirty="0">
                <a:solidFill>
                  <a:srgbClr val="A9BCCB"/>
                </a:solidFill>
                <a:latin typeface="Calibri" pitchFamily="34" charset="0"/>
                <a:ea typeface="Calibri" pitchFamily="34" charset="-122"/>
                <a:cs typeface="Calibri" pitchFamily="34" charset="-120"/>
              </a:rPr>
              <a:t>Doğru ama gerekçe desteklemiyor</a:t>
            </a:r>
            <a:endParaRPr lang="en-US" sz="1100" dirty="0"/>
          </a:p>
        </p:txBody>
      </p:sp>
      <p:sp>
        <p:nvSpPr>
          <p:cNvPr id="17" name="Shape 15"/>
          <p:cNvSpPr/>
          <p:nvPr/>
        </p:nvSpPr>
        <p:spPr>
          <a:xfrm>
            <a:off x="566928" y="4279392"/>
            <a:ext cx="6035040" cy="457200"/>
          </a:xfrm>
          <a:prstGeom prst="roundRect">
            <a:avLst>
              <a:gd name="adj" fmla="val 12000"/>
            </a:avLst>
          </a:prstGeom>
          <a:solidFill>
            <a:srgbClr val="121C2E">
              <a:alpha val="66000"/>
            </a:srgbClr>
          </a:solidFill>
          <a:ln w="12700">
            <a:solidFill>
              <a:srgbClr val="F0C68A"/>
            </a:solidFill>
            <a:prstDash val="solid"/>
          </a:ln>
        </p:spPr>
      </p:sp>
      <p:sp>
        <p:nvSpPr>
          <p:cNvPr id="18" name="Text 16"/>
          <p:cNvSpPr txBox="1"/>
          <p:nvPr/>
        </p:nvSpPr>
        <p:spPr>
          <a:xfrm>
            <a:off x="786384" y="4279392"/>
            <a:ext cx="2468880" cy="457200"/>
          </a:xfrm>
          <a:prstGeom prst="rect">
            <a:avLst/>
          </a:prstGeom>
          <a:noFill/>
          <a:ln/>
        </p:spPr>
        <p:txBody>
          <a:bodyPr wrap="square" lIns="0" tIns="0" rIns="0" bIns="0" rtlCol="0" anchor="ctr"/>
          <a:lstStyle/>
          <a:p>
            <a:pPr indent="0" marL="0">
              <a:buNone/>
            </a:pPr>
            <a:r>
              <a:rPr lang="en-US" sz="900" dirty="0">
                <a:solidFill>
                  <a:srgbClr val="F0C68A"/>
                </a:solidFill>
                <a:latin typeface="Consolas" pitchFamily="34" charset="0"/>
                <a:ea typeface="Consolas" pitchFamily="34" charset="-122"/>
                <a:cs typeface="Consolas" pitchFamily="34" charset="-120"/>
              </a:rPr>
              <a:t>correct_contradictory</a:t>
            </a:r>
            <a:endParaRPr lang="en-US" sz="900" dirty="0"/>
          </a:p>
        </p:txBody>
      </p:sp>
      <p:sp>
        <p:nvSpPr>
          <p:cNvPr id="19" name="Text 17"/>
          <p:cNvSpPr txBox="1"/>
          <p:nvPr/>
        </p:nvSpPr>
        <p:spPr>
          <a:xfrm>
            <a:off x="3310128" y="4279392"/>
            <a:ext cx="3108960" cy="457200"/>
          </a:xfrm>
          <a:prstGeom prst="rect">
            <a:avLst/>
          </a:prstGeom>
          <a:noFill/>
          <a:ln/>
        </p:spPr>
        <p:txBody>
          <a:bodyPr wrap="square" lIns="0" tIns="0" rIns="0" bIns="0" rtlCol="0" anchor="ctr"/>
          <a:lstStyle/>
          <a:p>
            <a:pPr indent="0" marL="0">
              <a:buNone/>
            </a:pPr>
            <a:r>
              <a:rPr lang="en-US" sz="1100" dirty="0">
                <a:solidFill>
                  <a:srgbClr val="A9BCCB"/>
                </a:solidFill>
                <a:latin typeface="Calibri" pitchFamily="34" charset="0"/>
                <a:ea typeface="Calibri" pitchFamily="34" charset="-122"/>
                <a:cs typeface="Calibri" pitchFamily="34" charset="-120"/>
              </a:rPr>
              <a:t>Doğru ama gerekçe çelişiyor</a:t>
            </a:r>
            <a:endParaRPr lang="en-US" sz="1100" dirty="0"/>
          </a:p>
        </p:txBody>
      </p:sp>
      <p:sp>
        <p:nvSpPr>
          <p:cNvPr id="20" name="Shape 18"/>
          <p:cNvSpPr/>
          <p:nvPr/>
        </p:nvSpPr>
        <p:spPr>
          <a:xfrm>
            <a:off x="566928" y="4864608"/>
            <a:ext cx="6035040" cy="457200"/>
          </a:xfrm>
          <a:prstGeom prst="roundRect">
            <a:avLst>
              <a:gd name="adj" fmla="val 12000"/>
            </a:avLst>
          </a:prstGeom>
          <a:solidFill>
            <a:srgbClr val="121C2E">
              <a:alpha val="66000"/>
            </a:srgbClr>
          </a:solidFill>
          <a:ln w="12700">
            <a:solidFill>
              <a:srgbClr val="6F8597"/>
            </a:solidFill>
            <a:prstDash val="solid"/>
          </a:ln>
        </p:spPr>
      </p:sp>
      <p:sp>
        <p:nvSpPr>
          <p:cNvPr id="21" name="Text 19"/>
          <p:cNvSpPr txBox="1"/>
          <p:nvPr/>
        </p:nvSpPr>
        <p:spPr>
          <a:xfrm>
            <a:off x="786384" y="4864608"/>
            <a:ext cx="2468880" cy="457200"/>
          </a:xfrm>
          <a:prstGeom prst="rect">
            <a:avLst/>
          </a:prstGeom>
          <a:noFill/>
          <a:ln/>
        </p:spPr>
        <p:txBody>
          <a:bodyPr wrap="square" lIns="0" tIns="0" rIns="0" bIns="0" rtlCol="0" anchor="ctr"/>
          <a:lstStyle/>
          <a:p>
            <a:pPr indent="0" marL="0">
              <a:buNone/>
            </a:pPr>
            <a:r>
              <a:rPr lang="en-US" sz="900" dirty="0">
                <a:solidFill>
                  <a:srgbClr val="6F8597"/>
                </a:solidFill>
                <a:latin typeface="Consolas" pitchFamily="34" charset="0"/>
                <a:ea typeface="Consolas" pitchFamily="34" charset="-122"/>
                <a:cs typeface="Consolas" pitchFamily="34" charset="-120"/>
              </a:rPr>
              <a:t>wrong_low_confidence</a:t>
            </a:r>
            <a:endParaRPr lang="en-US" sz="900" dirty="0"/>
          </a:p>
        </p:txBody>
      </p:sp>
      <p:sp>
        <p:nvSpPr>
          <p:cNvPr id="22" name="Text 20"/>
          <p:cNvSpPr txBox="1"/>
          <p:nvPr/>
        </p:nvSpPr>
        <p:spPr>
          <a:xfrm>
            <a:off x="3310128" y="4864608"/>
            <a:ext cx="3108960" cy="457200"/>
          </a:xfrm>
          <a:prstGeom prst="rect">
            <a:avLst/>
          </a:prstGeom>
          <a:noFill/>
          <a:ln/>
        </p:spPr>
        <p:txBody>
          <a:bodyPr wrap="square" lIns="0" tIns="0" rIns="0" bIns="0" rtlCol="0" anchor="ctr"/>
          <a:lstStyle/>
          <a:p>
            <a:pPr indent="0" marL="0">
              <a:buNone/>
            </a:pPr>
            <a:r>
              <a:rPr lang="en-US" sz="1100" dirty="0">
                <a:solidFill>
                  <a:srgbClr val="A9BCCB"/>
                </a:solidFill>
                <a:latin typeface="Calibri" pitchFamily="34" charset="0"/>
                <a:ea typeface="Calibri" pitchFamily="34" charset="-122"/>
                <a:cs typeface="Calibri" pitchFamily="34" charset="-120"/>
              </a:rPr>
              <a:t>Yanlış, güven düşük</a:t>
            </a:r>
            <a:endParaRPr lang="en-US" sz="1100" dirty="0"/>
          </a:p>
        </p:txBody>
      </p:sp>
      <p:sp>
        <p:nvSpPr>
          <p:cNvPr id="23" name="Shape 21"/>
          <p:cNvSpPr/>
          <p:nvPr/>
        </p:nvSpPr>
        <p:spPr>
          <a:xfrm>
            <a:off x="566928" y="5449824"/>
            <a:ext cx="6035040" cy="457200"/>
          </a:xfrm>
          <a:prstGeom prst="roundRect">
            <a:avLst>
              <a:gd name="adj" fmla="val 12000"/>
            </a:avLst>
          </a:prstGeom>
          <a:solidFill>
            <a:srgbClr val="121C2E">
              <a:alpha val="66000"/>
            </a:srgbClr>
          </a:solidFill>
          <a:ln w="12700">
            <a:solidFill>
              <a:srgbClr val="FF9E9E"/>
            </a:solidFill>
            <a:prstDash val="solid"/>
          </a:ln>
        </p:spPr>
      </p:sp>
      <p:sp>
        <p:nvSpPr>
          <p:cNvPr id="24" name="Text 22"/>
          <p:cNvSpPr txBox="1"/>
          <p:nvPr/>
        </p:nvSpPr>
        <p:spPr>
          <a:xfrm>
            <a:off x="786384" y="5449824"/>
            <a:ext cx="2468880" cy="457200"/>
          </a:xfrm>
          <a:prstGeom prst="rect">
            <a:avLst/>
          </a:prstGeom>
          <a:noFill/>
          <a:ln/>
        </p:spPr>
        <p:txBody>
          <a:bodyPr wrap="square" lIns="0" tIns="0" rIns="0" bIns="0" rtlCol="0" anchor="ctr"/>
          <a:lstStyle/>
          <a:p>
            <a:pPr indent="0" marL="0">
              <a:buNone/>
            </a:pPr>
            <a:r>
              <a:rPr lang="en-US" sz="900" dirty="0">
                <a:solidFill>
                  <a:srgbClr val="FF9E9E"/>
                </a:solidFill>
                <a:latin typeface="Consolas" pitchFamily="34" charset="0"/>
                <a:ea typeface="Consolas" pitchFamily="34" charset="-122"/>
                <a:cs typeface="Consolas" pitchFamily="34" charset="-120"/>
              </a:rPr>
              <a:t>wrong_high_confidence</a:t>
            </a:r>
            <a:endParaRPr lang="en-US" sz="900" dirty="0"/>
          </a:p>
        </p:txBody>
      </p:sp>
      <p:sp>
        <p:nvSpPr>
          <p:cNvPr id="25" name="Text 23"/>
          <p:cNvSpPr txBox="1"/>
          <p:nvPr/>
        </p:nvSpPr>
        <p:spPr>
          <a:xfrm>
            <a:off x="3310128" y="5449824"/>
            <a:ext cx="3108960" cy="457200"/>
          </a:xfrm>
          <a:prstGeom prst="rect">
            <a:avLst/>
          </a:prstGeom>
          <a:noFill/>
          <a:ln/>
        </p:spPr>
        <p:txBody>
          <a:bodyPr wrap="square" lIns="0" tIns="0" rIns="0" bIns="0" rtlCol="0" anchor="ctr"/>
          <a:lstStyle/>
          <a:p>
            <a:pPr indent="0" marL="0">
              <a:buNone/>
            </a:pPr>
            <a:r>
              <a:rPr lang="en-US" sz="1100" dirty="0">
                <a:solidFill>
                  <a:srgbClr val="A9BCCB"/>
                </a:solidFill>
                <a:latin typeface="Calibri" pitchFamily="34" charset="0"/>
                <a:ea typeface="Calibri" pitchFamily="34" charset="-122"/>
                <a:cs typeface="Calibri" pitchFamily="34" charset="-120"/>
              </a:rPr>
              <a:t>Yanlış, güven yüksek</a:t>
            </a:r>
            <a:endParaRPr lang="en-US" sz="1100" dirty="0"/>
          </a:p>
        </p:txBody>
      </p:sp>
      <p:sp>
        <p:nvSpPr>
          <p:cNvPr id="26" name="Shape 24"/>
          <p:cNvSpPr/>
          <p:nvPr/>
        </p:nvSpPr>
        <p:spPr>
          <a:xfrm>
            <a:off x="6876288" y="2395728"/>
            <a:ext cx="4718304" cy="1838858"/>
          </a:xfrm>
          <a:prstGeom prst="roundRect">
            <a:avLst>
              <a:gd name="adj" fmla="val 2984"/>
            </a:avLst>
          </a:prstGeom>
          <a:solidFill>
            <a:srgbClr val="121C2E">
              <a:alpha val="74000"/>
            </a:srgbClr>
          </a:solidFill>
          <a:ln w="12700">
            <a:solidFill>
              <a:srgbClr val="24384B"/>
            </a:solidFill>
            <a:prstDash val="solid"/>
          </a:ln>
        </p:spPr>
      </p:sp>
      <p:sp>
        <p:nvSpPr>
          <p:cNvPr id="27" name="Text 25"/>
          <p:cNvSpPr txBox="1"/>
          <p:nvPr/>
        </p:nvSpPr>
        <p:spPr>
          <a:xfrm>
            <a:off x="7150608" y="2670048"/>
            <a:ext cx="4169664" cy="201168"/>
          </a:xfrm>
          <a:prstGeom prst="rect">
            <a:avLst/>
          </a:prstGeom>
          <a:noFill/>
          <a:ln/>
        </p:spPr>
        <p:txBody>
          <a:bodyPr wrap="square" lIns="0" tIns="0" rIns="0" bIns="0" rtlCol="0" anchor="ctr"/>
          <a:lstStyle/>
          <a:p>
            <a:pPr indent="0" marL="0">
              <a:buNone/>
            </a:pPr>
            <a:r>
              <a:rPr lang="en-US" sz="900" b="1" spc="260" kern="0" dirty="0">
                <a:solidFill>
                  <a:srgbClr val="4CC3EA"/>
                </a:solidFill>
                <a:latin typeface="Calibri" pitchFamily="34" charset="0"/>
                <a:ea typeface="Calibri" pitchFamily="34" charset="-122"/>
                <a:cs typeface="Calibri" pitchFamily="34" charset="-120"/>
              </a:rPr>
              <a:t>ÖLÇÜ</a:t>
            </a:r>
            <a:endParaRPr lang="en-US" sz="900" dirty="0"/>
          </a:p>
        </p:txBody>
      </p:sp>
      <p:sp>
        <p:nvSpPr>
          <p:cNvPr id="28" name="Text 26"/>
          <p:cNvSpPr txBox="1"/>
          <p:nvPr/>
        </p:nvSpPr>
        <p:spPr>
          <a:xfrm>
            <a:off x="7150608" y="2962656"/>
            <a:ext cx="4169664" cy="310896"/>
          </a:xfrm>
          <a:prstGeom prst="rect">
            <a:avLst/>
          </a:prstGeom>
          <a:noFill/>
          <a:ln/>
        </p:spPr>
        <p:txBody>
          <a:bodyPr wrap="square" lIns="0" tIns="0" rIns="0" bIns="0" rtlCol="0" anchor="ctr"/>
          <a:lstStyle/>
          <a:p>
            <a:pPr indent="0" marL="0">
              <a:buNone/>
            </a:pPr>
            <a:r>
              <a:rPr lang="en-US" sz="1450" b="1" dirty="0">
                <a:solidFill>
                  <a:srgbClr val="E9F2F8"/>
                </a:solidFill>
                <a:latin typeface="Calibri" pitchFamily="34" charset="0"/>
                <a:ea typeface="Calibri" pitchFamily="34" charset="-122"/>
                <a:cs typeface="Calibri" pitchFamily="34" charset="-120"/>
              </a:rPr>
              <a:t>Gerekçe seyrek istenir</a:t>
            </a:r>
            <a:endParaRPr lang="en-US" sz="1450" dirty="0"/>
          </a:p>
        </p:txBody>
      </p:sp>
      <p:sp>
        <p:nvSpPr>
          <p:cNvPr id="29" name="Text 27"/>
          <p:cNvSpPr txBox="1"/>
          <p:nvPr/>
        </p:nvSpPr>
        <p:spPr>
          <a:xfrm>
            <a:off x="7150608" y="3346704"/>
            <a:ext cx="4169664" cy="759866"/>
          </a:xfrm>
          <a:prstGeom prst="rect">
            <a:avLst/>
          </a:prstGeom>
          <a:noFill/>
          <a:ln/>
        </p:spPr>
        <p:txBody>
          <a:bodyPr wrap="square" lIns="0" tIns="0" rIns="0" bIns="0" rtlCol="0" anchor="t"/>
          <a:lstStyle/>
          <a:p>
            <a:pPr indent="0" marL="0">
              <a:lnSpc>
                <a:spcPts val="1800"/>
              </a:lnSpc>
              <a:buNone/>
            </a:pPr>
            <a:r>
              <a:rPr lang="en-US" sz="1100" dirty="0">
                <a:solidFill>
                  <a:srgbClr val="A9BCCB"/>
                </a:solidFill>
                <a:latin typeface="Calibri" pitchFamily="34" charset="0"/>
                <a:ea typeface="Calibri" pitchFamily="34" charset="-122"/>
                <a:cs typeface="Calibri" pitchFamily="34" charset="-120"/>
              </a:rPr>
              <a:t>Anında geri bildirimli bir kâğıtta sınav başına en çok iki soruda "Kısaca neden?" sorulur — sabit bir karmayla seçilerek. Kavramda açık bir bulgu varsa her zaman sorulur.</a:t>
            </a:r>
            <a:endParaRPr lang="en-US" sz="1100" dirty="0"/>
          </a:p>
        </p:txBody>
      </p:sp>
      <p:sp>
        <p:nvSpPr>
          <p:cNvPr id="30" name="Shape 28"/>
          <p:cNvSpPr/>
          <p:nvPr/>
        </p:nvSpPr>
        <p:spPr>
          <a:xfrm>
            <a:off x="6876288" y="4417466"/>
            <a:ext cx="4718304" cy="1838858"/>
          </a:xfrm>
          <a:prstGeom prst="roundRect">
            <a:avLst>
              <a:gd name="adj" fmla="val 2984"/>
            </a:avLst>
          </a:prstGeom>
          <a:solidFill>
            <a:srgbClr val="121C2E">
              <a:alpha val="74000"/>
            </a:srgbClr>
          </a:solidFill>
          <a:ln w="12700">
            <a:solidFill>
              <a:srgbClr val="7FE0B2"/>
            </a:solidFill>
            <a:prstDash val="solid"/>
          </a:ln>
        </p:spPr>
      </p:sp>
      <p:sp>
        <p:nvSpPr>
          <p:cNvPr id="31" name="Text 29"/>
          <p:cNvSpPr txBox="1"/>
          <p:nvPr/>
        </p:nvSpPr>
        <p:spPr>
          <a:xfrm>
            <a:off x="7150608" y="4691786"/>
            <a:ext cx="4169664" cy="201168"/>
          </a:xfrm>
          <a:prstGeom prst="rect">
            <a:avLst/>
          </a:prstGeom>
          <a:noFill/>
          <a:ln/>
        </p:spPr>
        <p:txBody>
          <a:bodyPr wrap="square" lIns="0" tIns="0" rIns="0" bIns="0" rtlCol="0" anchor="ctr"/>
          <a:lstStyle/>
          <a:p>
            <a:pPr indent="0" marL="0">
              <a:buNone/>
            </a:pPr>
            <a:r>
              <a:rPr lang="en-US" sz="900" b="1" spc="260" kern="0" dirty="0">
                <a:solidFill>
                  <a:srgbClr val="4CC3EA"/>
                </a:solidFill>
                <a:latin typeface="Calibri" pitchFamily="34" charset="0"/>
                <a:ea typeface="Calibri" pitchFamily="34" charset="-122"/>
                <a:cs typeface="Calibri" pitchFamily="34" charset="-120"/>
              </a:rPr>
              <a:t>SINIR</a:t>
            </a:r>
            <a:endParaRPr lang="en-US" sz="900" dirty="0"/>
          </a:p>
        </p:txBody>
      </p:sp>
      <p:sp>
        <p:nvSpPr>
          <p:cNvPr id="32" name="Text 30"/>
          <p:cNvSpPr txBox="1"/>
          <p:nvPr/>
        </p:nvSpPr>
        <p:spPr>
          <a:xfrm>
            <a:off x="7150608" y="4984394"/>
            <a:ext cx="4169664" cy="310896"/>
          </a:xfrm>
          <a:prstGeom prst="rect">
            <a:avLst/>
          </a:prstGeom>
          <a:noFill/>
          <a:ln/>
        </p:spPr>
        <p:txBody>
          <a:bodyPr wrap="square" lIns="0" tIns="0" rIns="0" bIns="0" rtlCol="0" anchor="ctr"/>
          <a:lstStyle/>
          <a:p>
            <a:pPr indent="0" marL="0">
              <a:buNone/>
            </a:pPr>
            <a:r>
              <a:rPr lang="en-US" sz="1450" b="1" dirty="0">
                <a:solidFill>
                  <a:srgbClr val="E9F2F8"/>
                </a:solidFill>
                <a:latin typeface="Calibri" pitchFamily="34" charset="0"/>
                <a:ea typeface="Calibri" pitchFamily="34" charset="-122"/>
                <a:cs typeface="Calibri" pitchFamily="34" charset="-120"/>
              </a:rPr>
              <a:t>Notu değiştirmez</a:t>
            </a:r>
            <a:endParaRPr lang="en-US" sz="1450" dirty="0"/>
          </a:p>
        </p:txBody>
      </p:sp>
      <p:sp>
        <p:nvSpPr>
          <p:cNvPr id="33" name="Text 31"/>
          <p:cNvSpPr txBox="1"/>
          <p:nvPr/>
        </p:nvSpPr>
        <p:spPr>
          <a:xfrm>
            <a:off x="7150608" y="5368442"/>
            <a:ext cx="4169664" cy="759866"/>
          </a:xfrm>
          <a:prstGeom prst="rect">
            <a:avLst/>
          </a:prstGeom>
          <a:noFill/>
          <a:ln/>
        </p:spPr>
        <p:txBody>
          <a:bodyPr wrap="square" lIns="0" tIns="0" rIns="0" bIns="0" rtlCol="0" anchor="t"/>
          <a:lstStyle/>
          <a:p>
            <a:pPr indent="0" marL="0">
              <a:lnSpc>
                <a:spcPts val="1800"/>
              </a:lnSpc>
              <a:buNone/>
            </a:pPr>
            <a:r>
              <a:rPr lang="en-US" sz="1100" dirty="0">
                <a:solidFill>
                  <a:srgbClr val="A9BCCB"/>
                </a:solidFill>
                <a:latin typeface="Calibri" pitchFamily="34" charset="0"/>
                <a:ea typeface="Calibri" pitchFamily="34" charset="-122"/>
                <a:cs typeface="Calibri" pitchFamily="34" charset="-120"/>
              </a:rPr>
              <a:t>Gerekçe tek bir sınırlı model çağrısıyla değerlendirilir: destekliyor, çelişiyor, belirsiz. Ne gerekçe ne de kararı sınav notunu etkiler. Model yoksa gerekçe saklanır ve değerlendirilmemiş sayılır.</a:t>
            </a:r>
            <a:endParaRPr lang="en-US" sz="1100" dirty="0"/>
          </a:p>
        </p:txBody>
      </p:sp>
      <p:sp>
        <p:nvSpPr>
          <p:cNvPr id="34" name="Text 32"/>
          <p:cNvSpPr txBox="1"/>
          <p:nvPr/>
        </p:nvSpPr>
        <p:spPr>
          <a:xfrm>
            <a:off x="566928" y="6382512"/>
            <a:ext cx="2377440" cy="237744"/>
          </a:xfrm>
          <a:prstGeom prst="rect">
            <a:avLst/>
          </a:prstGeom>
          <a:noFill/>
          <a:ln/>
        </p:spPr>
        <p:txBody>
          <a:bodyPr wrap="square" lIns="0" tIns="0" rIns="0" bIns="0" rtlCol="0" anchor="ctr"/>
          <a:lstStyle/>
          <a:p>
            <a:pPr indent="0" marL="0">
              <a:buNone/>
            </a:pPr>
            <a:r>
              <a:rPr lang="en-US" sz="850" spc="220" kern="0" dirty="0">
                <a:solidFill>
                  <a:srgbClr val="43566A"/>
                </a:solidFill>
                <a:latin typeface="Calibri" pitchFamily="34" charset="0"/>
                <a:ea typeface="Calibri" pitchFamily="34" charset="-122"/>
                <a:cs typeface="Calibri" pitchFamily="34" charset="-120"/>
              </a:rPr>
              <a:t>TIP AKADEMİSİ</a:t>
            </a:r>
            <a:endParaRPr lang="en-US" sz="850" dirty="0"/>
          </a:p>
        </p:txBody>
      </p:sp>
      <p:sp>
        <p:nvSpPr>
          <p:cNvPr id="35" name="Text 33"/>
          <p:cNvSpPr txBox="1"/>
          <p:nvPr/>
        </p:nvSpPr>
        <p:spPr>
          <a:xfrm>
            <a:off x="8229600" y="6382512"/>
            <a:ext cx="3364992" cy="237744"/>
          </a:xfrm>
          <a:prstGeom prst="rect">
            <a:avLst/>
          </a:prstGeom>
          <a:noFill/>
          <a:ln/>
        </p:spPr>
        <p:txBody>
          <a:bodyPr wrap="square" lIns="0" tIns="0" rIns="0" bIns="0" rtlCol="0" anchor="ctr"/>
          <a:lstStyle/>
          <a:p>
            <a:pPr algn="r" indent="0" marL="0">
              <a:buNone/>
            </a:pPr>
            <a:r>
              <a:rPr lang="en-US" sz="850" spc="220" kern="0" dirty="0">
                <a:solidFill>
                  <a:srgbClr val="43566A"/>
                </a:solidFill>
                <a:latin typeface="Calibri" pitchFamily="34" charset="0"/>
                <a:ea typeface="Calibri" pitchFamily="34" charset="-122"/>
                <a:cs typeface="Calibri" pitchFamily="34" charset="-120"/>
              </a:rPr>
              <a:t>23  ·  Öğrenme</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66928" y="566928"/>
            <a:ext cx="7680960" cy="237744"/>
          </a:xfrm>
          <a:prstGeom prst="rect">
            <a:avLst/>
          </a:prstGeom>
          <a:noFill/>
          <a:ln/>
        </p:spPr>
        <p:txBody>
          <a:bodyPr wrap="square" lIns="0" tIns="0" rIns="0" bIns="0" rtlCol="0" anchor="ctr"/>
          <a:lstStyle/>
          <a:p>
            <a:pPr indent="0" marL="0">
              <a:buNone/>
            </a:pPr>
            <a:r>
              <a:rPr lang="en-US" sz="1000" b="1" spc="340" kern="0" dirty="0">
                <a:solidFill>
                  <a:srgbClr val="4CC3EA"/>
                </a:solidFill>
                <a:latin typeface="Calibri" pitchFamily="34" charset="0"/>
                <a:ea typeface="Calibri" pitchFamily="34" charset="-122"/>
                <a:cs typeface="Calibri" pitchFamily="34" charset="-120"/>
              </a:rPr>
              <a:t>ÖĞRENME</a:t>
            </a:r>
            <a:endParaRPr lang="en-US" sz="1000" dirty="0"/>
          </a:p>
        </p:txBody>
      </p:sp>
      <p:sp>
        <p:nvSpPr>
          <p:cNvPr id="3" name="Text 1"/>
          <p:cNvSpPr txBox="1"/>
          <p:nvPr/>
        </p:nvSpPr>
        <p:spPr>
          <a:xfrm>
            <a:off x="548640" y="841248"/>
            <a:ext cx="9144000" cy="786384"/>
          </a:xfrm>
          <a:prstGeom prst="rect">
            <a:avLst/>
          </a:prstGeom>
          <a:noFill/>
          <a:ln/>
        </p:spPr>
        <p:txBody>
          <a:bodyPr wrap="square" lIns="0" tIns="0" rIns="0" bIns="0" rtlCol="0" anchor="t"/>
          <a:lstStyle/>
          <a:p>
            <a:pPr indent="0" marL="0">
              <a:buNone/>
            </a:pPr>
            <a:r>
              <a:rPr lang="en-US" sz="3400" spc="40" kern="0" dirty="0">
                <a:solidFill>
                  <a:srgbClr val="E9F2F8"/>
                </a:solidFill>
                <a:latin typeface="Calibri" pitchFamily="34" charset="0"/>
                <a:ea typeface="Calibri" pitchFamily="34" charset="-122"/>
                <a:cs typeface="Calibri" pitchFamily="34" charset="-120"/>
              </a:rPr>
              <a:t>Yanlış anlama bulgusu ve onarımı</a:t>
            </a:r>
            <a:endParaRPr lang="en-US" sz="3400" dirty="0"/>
          </a:p>
        </p:txBody>
      </p:sp>
      <p:sp>
        <p:nvSpPr>
          <p:cNvPr id="4" name="Text 2"/>
          <p:cNvSpPr txBox="1"/>
          <p:nvPr/>
        </p:nvSpPr>
        <p:spPr>
          <a:xfrm>
            <a:off x="566928" y="1645920"/>
            <a:ext cx="5943600" cy="822960"/>
          </a:xfrm>
          <a:prstGeom prst="rect">
            <a:avLst/>
          </a:prstGeom>
          <a:noFill/>
          <a:ln/>
        </p:spPr>
        <p:txBody>
          <a:bodyPr wrap="square" lIns="0" tIns="0" rIns="0" bIns="0" rtlCol="0" anchor="t"/>
          <a:lstStyle/>
          <a:p>
            <a:pPr indent="0" marL="0">
              <a:lnSpc>
                <a:spcPts val="2200"/>
              </a:lnSpc>
              <a:buNone/>
            </a:pPr>
            <a:r>
              <a:rPr lang="en-US" sz="1350" dirty="0">
                <a:solidFill>
                  <a:srgbClr val="A9BCCB"/>
                </a:solidFill>
                <a:latin typeface="Calibri" pitchFamily="34" charset="0"/>
                <a:ea typeface="Calibri" pitchFamily="34" charset="-122"/>
                <a:cs typeface="Calibri" pitchFamily="34" charset="-120"/>
              </a:rPr>
              <a:t>Bir bulgu, tek bir kavram hakkında kanıtı olan bir ifadedir: "Yükselen fazı K+ girişi sanıyor." Tek kanıt hipotez açar; iki ayrı kanıt onu destekli yapar.</a:t>
            </a:r>
            <a:endParaRPr lang="en-US" sz="1350" dirty="0"/>
          </a:p>
        </p:txBody>
      </p:sp>
      <p:sp>
        <p:nvSpPr>
          <p:cNvPr id="5" name="Shape 3"/>
          <p:cNvSpPr/>
          <p:nvPr/>
        </p:nvSpPr>
        <p:spPr>
          <a:xfrm>
            <a:off x="566928" y="2962656"/>
            <a:ext cx="5943600" cy="457200"/>
          </a:xfrm>
          <a:prstGeom prst="roundRect">
            <a:avLst>
              <a:gd name="adj" fmla="val 12000"/>
            </a:avLst>
          </a:prstGeom>
          <a:solidFill>
            <a:srgbClr val="121C2E">
              <a:alpha val="74000"/>
            </a:srgbClr>
          </a:solidFill>
          <a:ln w="12700">
            <a:solidFill>
              <a:srgbClr val="24384B"/>
            </a:solidFill>
            <a:prstDash val="solid"/>
          </a:ln>
        </p:spPr>
      </p:sp>
      <p:sp>
        <p:nvSpPr>
          <p:cNvPr id="6" name="Text 4"/>
          <p:cNvSpPr txBox="1"/>
          <p:nvPr/>
        </p:nvSpPr>
        <p:spPr>
          <a:xfrm>
            <a:off x="768096" y="2962656"/>
            <a:ext cx="384048" cy="457200"/>
          </a:xfrm>
          <a:prstGeom prst="rect">
            <a:avLst/>
          </a:prstGeom>
          <a:noFill/>
          <a:ln/>
        </p:spPr>
        <p:txBody>
          <a:bodyPr wrap="square" lIns="0" tIns="0" rIns="0" bIns="0" rtlCol="0" anchor="ctr"/>
          <a:lstStyle/>
          <a:p>
            <a:pPr indent="0" marL="0">
              <a:buNone/>
            </a:pPr>
            <a:r>
              <a:rPr lang="en-US" sz="1050" dirty="0">
                <a:solidFill>
                  <a:srgbClr val="43566A"/>
                </a:solidFill>
                <a:latin typeface="Consolas" pitchFamily="34" charset="0"/>
                <a:ea typeface="Consolas" pitchFamily="34" charset="-122"/>
                <a:cs typeface="Consolas" pitchFamily="34" charset="-120"/>
              </a:rPr>
              <a:t>01</a:t>
            </a:r>
            <a:endParaRPr lang="en-US" sz="1050" dirty="0"/>
          </a:p>
        </p:txBody>
      </p:sp>
      <p:sp>
        <p:nvSpPr>
          <p:cNvPr id="7" name="Text 5"/>
          <p:cNvSpPr txBox="1"/>
          <p:nvPr/>
        </p:nvSpPr>
        <p:spPr>
          <a:xfrm>
            <a:off x="1225296" y="2962656"/>
            <a:ext cx="5074920" cy="457200"/>
          </a:xfrm>
          <a:prstGeom prst="rect">
            <a:avLst/>
          </a:prstGeom>
          <a:noFill/>
          <a:ln/>
        </p:spPr>
        <p:txBody>
          <a:bodyPr wrap="square" lIns="0" tIns="0" rIns="0" bIns="0" rtlCol="0" anchor="ctr"/>
          <a:lstStyle/>
          <a:p>
            <a:pPr indent="0" marL="0">
              <a:buNone/>
            </a:pPr>
            <a:r>
              <a:rPr lang="en-US" sz="1150" dirty="0">
                <a:solidFill>
                  <a:srgbClr val="A9BCCB"/>
                </a:solidFill>
                <a:latin typeface="Calibri" pitchFamily="34" charset="0"/>
                <a:ea typeface="Calibri" pitchFamily="34" charset="-122"/>
                <a:cs typeface="Calibri" pitchFamily="34" charset="-120"/>
              </a:rPr>
              <a:t>Sorun sözle konur</a:t>
            </a:r>
            <a:endParaRPr lang="en-US" sz="1150" dirty="0"/>
          </a:p>
        </p:txBody>
      </p:sp>
      <p:sp>
        <p:nvSpPr>
          <p:cNvPr id="8" name="Shape 6"/>
          <p:cNvSpPr/>
          <p:nvPr/>
        </p:nvSpPr>
        <p:spPr>
          <a:xfrm>
            <a:off x="960120" y="3419856"/>
            <a:ext cx="0" cy="128016"/>
          </a:xfrm>
          <a:prstGeom prst="line">
            <a:avLst/>
          </a:prstGeom>
          <a:noFill/>
          <a:ln w="15875">
            <a:solidFill>
              <a:srgbClr val="31506A"/>
            </a:solidFill>
            <a:prstDash val="solid"/>
            <a:tailEnd type="triangle"/>
          </a:ln>
        </p:spPr>
      </p:sp>
      <p:sp>
        <p:nvSpPr>
          <p:cNvPr id="9" name="Shape 7"/>
          <p:cNvSpPr/>
          <p:nvPr/>
        </p:nvSpPr>
        <p:spPr>
          <a:xfrm>
            <a:off x="566928" y="3547872"/>
            <a:ext cx="5943600" cy="457200"/>
          </a:xfrm>
          <a:prstGeom prst="roundRect">
            <a:avLst>
              <a:gd name="adj" fmla="val 12000"/>
            </a:avLst>
          </a:prstGeom>
          <a:solidFill>
            <a:srgbClr val="121C2E">
              <a:alpha val="74000"/>
            </a:srgbClr>
          </a:solidFill>
          <a:ln w="12700">
            <a:solidFill>
              <a:srgbClr val="24384B"/>
            </a:solidFill>
            <a:prstDash val="solid"/>
          </a:ln>
        </p:spPr>
      </p:sp>
      <p:sp>
        <p:nvSpPr>
          <p:cNvPr id="10" name="Text 8"/>
          <p:cNvSpPr txBox="1"/>
          <p:nvPr/>
        </p:nvSpPr>
        <p:spPr>
          <a:xfrm>
            <a:off x="768096" y="3547872"/>
            <a:ext cx="384048" cy="457200"/>
          </a:xfrm>
          <a:prstGeom prst="rect">
            <a:avLst/>
          </a:prstGeom>
          <a:noFill/>
          <a:ln/>
        </p:spPr>
        <p:txBody>
          <a:bodyPr wrap="square" lIns="0" tIns="0" rIns="0" bIns="0" rtlCol="0" anchor="ctr"/>
          <a:lstStyle/>
          <a:p>
            <a:pPr indent="0" marL="0">
              <a:buNone/>
            </a:pPr>
            <a:r>
              <a:rPr lang="en-US" sz="1050" dirty="0">
                <a:solidFill>
                  <a:srgbClr val="43566A"/>
                </a:solidFill>
                <a:latin typeface="Consolas" pitchFamily="34" charset="0"/>
                <a:ea typeface="Consolas" pitchFamily="34" charset="-122"/>
                <a:cs typeface="Consolas" pitchFamily="34" charset="-120"/>
              </a:rPr>
              <a:t>02</a:t>
            </a:r>
            <a:endParaRPr lang="en-US" sz="1050" dirty="0"/>
          </a:p>
        </p:txBody>
      </p:sp>
      <p:sp>
        <p:nvSpPr>
          <p:cNvPr id="11" name="Text 9"/>
          <p:cNvSpPr txBox="1"/>
          <p:nvPr/>
        </p:nvSpPr>
        <p:spPr>
          <a:xfrm>
            <a:off x="1225296" y="3547872"/>
            <a:ext cx="5074920" cy="457200"/>
          </a:xfrm>
          <a:prstGeom prst="rect">
            <a:avLst/>
          </a:prstGeom>
          <a:noFill/>
          <a:ln/>
        </p:spPr>
        <p:txBody>
          <a:bodyPr wrap="square" lIns="0" tIns="0" rIns="0" bIns="0" rtlCol="0" anchor="ctr"/>
          <a:lstStyle/>
          <a:p>
            <a:pPr indent="0" marL="0">
              <a:buNone/>
            </a:pPr>
            <a:r>
              <a:rPr lang="en-US" sz="1150" dirty="0">
                <a:solidFill>
                  <a:srgbClr val="A9BCCB"/>
                </a:solidFill>
                <a:latin typeface="Calibri" pitchFamily="34" charset="0"/>
                <a:ea typeface="Calibri" pitchFamily="34" charset="-122"/>
                <a:cs typeface="Calibri" pitchFamily="34" charset="-120"/>
              </a:rPr>
              <a:t>Kavram için ders pasajı getirilir  ·  sayfa etiketleriyle</a:t>
            </a:r>
            <a:endParaRPr lang="en-US" sz="1150" dirty="0"/>
          </a:p>
        </p:txBody>
      </p:sp>
      <p:sp>
        <p:nvSpPr>
          <p:cNvPr id="12" name="Shape 10"/>
          <p:cNvSpPr/>
          <p:nvPr/>
        </p:nvSpPr>
        <p:spPr>
          <a:xfrm>
            <a:off x="960120" y="4005072"/>
            <a:ext cx="0" cy="128016"/>
          </a:xfrm>
          <a:prstGeom prst="line">
            <a:avLst/>
          </a:prstGeom>
          <a:noFill/>
          <a:ln w="15875">
            <a:solidFill>
              <a:srgbClr val="31506A"/>
            </a:solidFill>
            <a:prstDash val="solid"/>
            <a:tailEnd type="triangle"/>
          </a:ln>
        </p:spPr>
      </p:sp>
      <p:sp>
        <p:nvSpPr>
          <p:cNvPr id="13" name="Shape 11"/>
          <p:cNvSpPr/>
          <p:nvPr/>
        </p:nvSpPr>
        <p:spPr>
          <a:xfrm>
            <a:off x="566928" y="4133088"/>
            <a:ext cx="5943600" cy="457200"/>
          </a:xfrm>
          <a:prstGeom prst="roundRect">
            <a:avLst>
              <a:gd name="adj" fmla="val 12000"/>
            </a:avLst>
          </a:prstGeom>
          <a:solidFill>
            <a:srgbClr val="121C2E">
              <a:alpha val="74000"/>
            </a:srgbClr>
          </a:solidFill>
          <a:ln w="12700">
            <a:solidFill>
              <a:srgbClr val="24384B"/>
            </a:solidFill>
            <a:prstDash val="solid"/>
          </a:ln>
        </p:spPr>
      </p:sp>
      <p:sp>
        <p:nvSpPr>
          <p:cNvPr id="14" name="Text 12"/>
          <p:cNvSpPr txBox="1"/>
          <p:nvPr/>
        </p:nvSpPr>
        <p:spPr>
          <a:xfrm>
            <a:off x="768096" y="4133088"/>
            <a:ext cx="384048" cy="457200"/>
          </a:xfrm>
          <a:prstGeom prst="rect">
            <a:avLst/>
          </a:prstGeom>
          <a:noFill/>
          <a:ln/>
        </p:spPr>
        <p:txBody>
          <a:bodyPr wrap="square" lIns="0" tIns="0" rIns="0" bIns="0" rtlCol="0" anchor="ctr"/>
          <a:lstStyle/>
          <a:p>
            <a:pPr indent="0" marL="0">
              <a:buNone/>
            </a:pPr>
            <a:r>
              <a:rPr lang="en-US" sz="1050" dirty="0">
                <a:solidFill>
                  <a:srgbClr val="43566A"/>
                </a:solidFill>
                <a:latin typeface="Consolas" pitchFamily="34" charset="0"/>
                <a:ea typeface="Consolas" pitchFamily="34" charset="-122"/>
                <a:cs typeface="Consolas" pitchFamily="34" charset="-120"/>
              </a:rPr>
              <a:t>03</a:t>
            </a:r>
            <a:endParaRPr lang="en-US" sz="1050" dirty="0"/>
          </a:p>
        </p:txBody>
      </p:sp>
      <p:sp>
        <p:nvSpPr>
          <p:cNvPr id="15" name="Text 13"/>
          <p:cNvSpPr txBox="1"/>
          <p:nvPr/>
        </p:nvSpPr>
        <p:spPr>
          <a:xfrm>
            <a:off x="1225296" y="4133088"/>
            <a:ext cx="5074920" cy="457200"/>
          </a:xfrm>
          <a:prstGeom prst="rect">
            <a:avLst/>
          </a:prstGeom>
          <a:noFill/>
          <a:ln/>
        </p:spPr>
        <p:txBody>
          <a:bodyPr wrap="square" lIns="0" tIns="0" rIns="0" bIns="0" rtlCol="0" anchor="ctr"/>
          <a:lstStyle/>
          <a:p>
            <a:pPr indent="0" marL="0">
              <a:buNone/>
            </a:pPr>
            <a:r>
              <a:rPr lang="en-US" sz="1150" dirty="0">
                <a:solidFill>
                  <a:srgbClr val="A9BCCB"/>
                </a:solidFill>
                <a:latin typeface="Calibri" pitchFamily="34" charset="0"/>
                <a:ea typeface="Calibri" pitchFamily="34" charset="-122"/>
                <a:cs typeface="Calibri" pitchFamily="34" charset="-120"/>
              </a:rPr>
              <a:t>Kısa açıklama  ·  model ya da pasaja işaret, etiketli</a:t>
            </a:r>
            <a:endParaRPr lang="en-US" sz="1150" dirty="0"/>
          </a:p>
        </p:txBody>
      </p:sp>
      <p:sp>
        <p:nvSpPr>
          <p:cNvPr id="16" name="Shape 14"/>
          <p:cNvSpPr/>
          <p:nvPr/>
        </p:nvSpPr>
        <p:spPr>
          <a:xfrm>
            <a:off x="960120" y="4590288"/>
            <a:ext cx="0" cy="128016"/>
          </a:xfrm>
          <a:prstGeom prst="line">
            <a:avLst/>
          </a:prstGeom>
          <a:noFill/>
          <a:ln w="15875">
            <a:solidFill>
              <a:srgbClr val="31506A"/>
            </a:solidFill>
            <a:prstDash val="solid"/>
            <a:tailEnd type="triangle"/>
          </a:ln>
        </p:spPr>
      </p:sp>
      <p:sp>
        <p:nvSpPr>
          <p:cNvPr id="17" name="Shape 15"/>
          <p:cNvSpPr/>
          <p:nvPr/>
        </p:nvSpPr>
        <p:spPr>
          <a:xfrm>
            <a:off x="566928" y="4718304"/>
            <a:ext cx="5943600" cy="457200"/>
          </a:xfrm>
          <a:prstGeom prst="roundRect">
            <a:avLst>
              <a:gd name="adj" fmla="val 12000"/>
            </a:avLst>
          </a:prstGeom>
          <a:solidFill>
            <a:srgbClr val="121C2E">
              <a:alpha val="74000"/>
            </a:srgbClr>
          </a:solidFill>
          <a:ln w="12700">
            <a:solidFill>
              <a:srgbClr val="24384B"/>
            </a:solidFill>
            <a:prstDash val="solid"/>
          </a:ln>
        </p:spPr>
      </p:sp>
      <p:sp>
        <p:nvSpPr>
          <p:cNvPr id="18" name="Text 16"/>
          <p:cNvSpPr txBox="1"/>
          <p:nvPr/>
        </p:nvSpPr>
        <p:spPr>
          <a:xfrm>
            <a:off x="768096" y="4718304"/>
            <a:ext cx="384048" cy="457200"/>
          </a:xfrm>
          <a:prstGeom prst="rect">
            <a:avLst/>
          </a:prstGeom>
          <a:noFill/>
          <a:ln/>
        </p:spPr>
        <p:txBody>
          <a:bodyPr wrap="square" lIns="0" tIns="0" rIns="0" bIns="0" rtlCol="0" anchor="ctr"/>
          <a:lstStyle/>
          <a:p>
            <a:pPr indent="0" marL="0">
              <a:buNone/>
            </a:pPr>
            <a:r>
              <a:rPr lang="en-US" sz="1050" dirty="0">
                <a:solidFill>
                  <a:srgbClr val="43566A"/>
                </a:solidFill>
                <a:latin typeface="Consolas" pitchFamily="34" charset="0"/>
                <a:ea typeface="Consolas" pitchFamily="34" charset="-122"/>
                <a:cs typeface="Consolas" pitchFamily="34" charset="-120"/>
              </a:rPr>
              <a:t>04</a:t>
            </a:r>
            <a:endParaRPr lang="en-US" sz="1050" dirty="0"/>
          </a:p>
        </p:txBody>
      </p:sp>
      <p:sp>
        <p:nvSpPr>
          <p:cNvPr id="19" name="Text 17"/>
          <p:cNvSpPr txBox="1"/>
          <p:nvPr/>
        </p:nvSpPr>
        <p:spPr>
          <a:xfrm>
            <a:off x="1225296" y="4718304"/>
            <a:ext cx="5074920" cy="457200"/>
          </a:xfrm>
          <a:prstGeom prst="rect">
            <a:avLst/>
          </a:prstGeom>
          <a:noFill/>
          <a:ln/>
        </p:spPr>
        <p:txBody>
          <a:bodyPr wrap="square" lIns="0" tIns="0" rIns="0" bIns="0" rtlCol="0" anchor="ctr"/>
          <a:lstStyle/>
          <a:p>
            <a:pPr indent="0" marL="0">
              <a:buNone/>
            </a:pPr>
            <a:r>
              <a:rPr lang="en-US" sz="1150" dirty="0">
                <a:solidFill>
                  <a:srgbClr val="A9BCCB"/>
                </a:solidFill>
                <a:latin typeface="Calibri" pitchFamily="34" charset="0"/>
                <a:ea typeface="Calibri" pitchFamily="34" charset="-122"/>
                <a:cs typeface="Calibri" pitchFamily="34" charset="-120"/>
              </a:rPr>
              <a:t>Farklı bağlamda transfer sorusu  ·  benzerliği belirtilir</a:t>
            </a:r>
            <a:endParaRPr lang="en-US" sz="1150" dirty="0"/>
          </a:p>
        </p:txBody>
      </p:sp>
      <p:sp>
        <p:nvSpPr>
          <p:cNvPr id="20" name="Shape 18"/>
          <p:cNvSpPr/>
          <p:nvPr/>
        </p:nvSpPr>
        <p:spPr>
          <a:xfrm>
            <a:off x="960120" y="5175504"/>
            <a:ext cx="0" cy="128016"/>
          </a:xfrm>
          <a:prstGeom prst="line">
            <a:avLst/>
          </a:prstGeom>
          <a:noFill/>
          <a:ln w="15875">
            <a:solidFill>
              <a:srgbClr val="31506A"/>
            </a:solidFill>
            <a:prstDash val="solid"/>
            <a:tailEnd type="triangle"/>
          </a:ln>
        </p:spPr>
      </p:sp>
      <p:sp>
        <p:nvSpPr>
          <p:cNvPr id="21" name="Shape 19"/>
          <p:cNvSpPr/>
          <p:nvPr/>
        </p:nvSpPr>
        <p:spPr>
          <a:xfrm>
            <a:off x="566928" y="5303520"/>
            <a:ext cx="5943600" cy="457200"/>
          </a:xfrm>
          <a:prstGeom prst="roundRect">
            <a:avLst>
              <a:gd name="adj" fmla="val 12000"/>
            </a:avLst>
          </a:prstGeom>
          <a:solidFill>
            <a:srgbClr val="1B7BA0">
              <a:alpha val="38000"/>
            </a:srgbClr>
          </a:solidFill>
          <a:ln w="12700">
            <a:solidFill>
              <a:srgbClr val="1B7BA0"/>
            </a:solidFill>
            <a:prstDash val="solid"/>
          </a:ln>
        </p:spPr>
      </p:sp>
      <p:sp>
        <p:nvSpPr>
          <p:cNvPr id="22" name="Text 20"/>
          <p:cNvSpPr txBox="1"/>
          <p:nvPr/>
        </p:nvSpPr>
        <p:spPr>
          <a:xfrm>
            <a:off x="768096" y="5303520"/>
            <a:ext cx="384048" cy="457200"/>
          </a:xfrm>
          <a:prstGeom prst="rect">
            <a:avLst/>
          </a:prstGeom>
          <a:noFill/>
          <a:ln/>
        </p:spPr>
        <p:txBody>
          <a:bodyPr wrap="square" lIns="0" tIns="0" rIns="0" bIns="0" rtlCol="0" anchor="ctr"/>
          <a:lstStyle/>
          <a:p>
            <a:pPr indent="0" marL="0">
              <a:buNone/>
            </a:pPr>
            <a:r>
              <a:rPr lang="en-US" sz="1050" dirty="0">
                <a:solidFill>
                  <a:srgbClr val="8EE0FF"/>
                </a:solidFill>
                <a:latin typeface="Consolas" pitchFamily="34" charset="0"/>
                <a:ea typeface="Consolas" pitchFamily="34" charset="-122"/>
                <a:cs typeface="Consolas" pitchFamily="34" charset="-120"/>
              </a:rPr>
              <a:t>05</a:t>
            </a:r>
            <a:endParaRPr lang="en-US" sz="1050" dirty="0"/>
          </a:p>
        </p:txBody>
      </p:sp>
      <p:sp>
        <p:nvSpPr>
          <p:cNvPr id="23" name="Text 21"/>
          <p:cNvSpPr txBox="1"/>
          <p:nvPr/>
        </p:nvSpPr>
        <p:spPr>
          <a:xfrm>
            <a:off x="1225296" y="5303520"/>
            <a:ext cx="5074920" cy="457200"/>
          </a:xfrm>
          <a:prstGeom prst="rect">
            <a:avLst/>
          </a:prstGeom>
          <a:noFill/>
          <a:ln/>
        </p:spPr>
        <p:txBody>
          <a:bodyPr wrap="square" lIns="0" tIns="0" rIns="0" bIns="0" rtlCol="0" anchor="ctr"/>
          <a:lstStyle/>
          <a:p>
            <a:pPr indent="0" marL="0">
              <a:buNone/>
            </a:pPr>
            <a:r>
              <a:rPr lang="en-US" sz="1150" dirty="0">
                <a:solidFill>
                  <a:srgbClr val="E9F2F8"/>
                </a:solidFill>
                <a:latin typeface="Calibri" pitchFamily="34" charset="0"/>
                <a:ea typeface="Calibri" pitchFamily="34" charset="-122"/>
                <a:cs typeface="Calibri" pitchFamily="34" charset="-120"/>
              </a:rPr>
              <a:t>Üç gün sonra gecikmeli takip  ·  tekrar kuyruğuna girer</a:t>
            </a:r>
            <a:endParaRPr lang="en-US" sz="1150" dirty="0"/>
          </a:p>
        </p:txBody>
      </p:sp>
      <p:sp>
        <p:nvSpPr>
          <p:cNvPr id="24" name="Shape 22"/>
          <p:cNvSpPr/>
          <p:nvPr/>
        </p:nvSpPr>
        <p:spPr>
          <a:xfrm>
            <a:off x="6784848" y="1645920"/>
            <a:ext cx="4809744" cy="1838858"/>
          </a:xfrm>
          <a:prstGeom prst="roundRect">
            <a:avLst>
              <a:gd name="adj" fmla="val 2984"/>
            </a:avLst>
          </a:prstGeom>
          <a:solidFill>
            <a:srgbClr val="121C2E">
              <a:alpha val="74000"/>
            </a:srgbClr>
          </a:solidFill>
          <a:ln w="12700">
            <a:solidFill>
              <a:srgbClr val="24384B"/>
            </a:solidFill>
            <a:prstDash val="solid"/>
          </a:ln>
        </p:spPr>
      </p:sp>
      <p:sp>
        <p:nvSpPr>
          <p:cNvPr id="25" name="Text 23"/>
          <p:cNvSpPr txBox="1"/>
          <p:nvPr/>
        </p:nvSpPr>
        <p:spPr>
          <a:xfrm>
            <a:off x="7059168" y="1920240"/>
            <a:ext cx="4261104" cy="201168"/>
          </a:xfrm>
          <a:prstGeom prst="rect">
            <a:avLst/>
          </a:prstGeom>
          <a:noFill/>
          <a:ln/>
        </p:spPr>
        <p:txBody>
          <a:bodyPr wrap="square" lIns="0" tIns="0" rIns="0" bIns="0" rtlCol="0" anchor="ctr"/>
          <a:lstStyle/>
          <a:p>
            <a:pPr indent="0" marL="0">
              <a:buNone/>
            </a:pPr>
            <a:r>
              <a:rPr lang="en-US" sz="900" b="1" spc="260" kern="0" dirty="0">
                <a:solidFill>
                  <a:srgbClr val="4CC3EA"/>
                </a:solidFill>
                <a:latin typeface="Calibri" pitchFamily="34" charset="0"/>
                <a:ea typeface="Calibri" pitchFamily="34" charset="-122"/>
                <a:cs typeface="Calibri" pitchFamily="34" charset="-120"/>
              </a:rPr>
              <a:t>EŞIK</a:t>
            </a:r>
            <a:endParaRPr lang="en-US" sz="900" dirty="0"/>
          </a:p>
        </p:txBody>
      </p:sp>
      <p:sp>
        <p:nvSpPr>
          <p:cNvPr id="26" name="Text 24"/>
          <p:cNvSpPr txBox="1"/>
          <p:nvPr/>
        </p:nvSpPr>
        <p:spPr>
          <a:xfrm>
            <a:off x="7059168" y="2212848"/>
            <a:ext cx="4261104" cy="310896"/>
          </a:xfrm>
          <a:prstGeom prst="rect">
            <a:avLst/>
          </a:prstGeom>
          <a:noFill/>
          <a:ln/>
        </p:spPr>
        <p:txBody>
          <a:bodyPr wrap="square" lIns="0" tIns="0" rIns="0" bIns="0" rtlCol="0" anchor="ctr"/>
          <a:lstStyle/>
          <a:p>
            <a:pPr indent="0" marL="0">
              <a:buNone/>
            </a:pPr>
            <a:r>
              <a:rPr lang="en-US" sz="1450" b="1" dirty="0">
                <a:solidFill>
                  <a:srgbClr val="E9F2F8"/>
                </a:solidFill>
                <a:latin typeface="Calibri" pitchFamily="34" charset="0"/>
                <a:ea typeface="Calibri" pitchFamily="34" charset="-122"/>
                <a:cs typeface="Calibri" pitchFamily="34" charset="-120"/>
              </a:rPr>
              <a:t>Kanıtın ağırlığı</a:t>
            </a:r>
            <a:endParaRPr lang="en-US" sz="1450" dirty="0"/>
          </a:p>
        </p:txBody>
      </p:sp>
      <p:sp>
        <p:nvSpPr>
          <p:cNvPr id="27" name="Text 25"/>
          <p:cNvSpPr txBox="1"/>
          <p:nvPr/>
        </p:nvSpPr>
        <p:spPr>
          <a:xfrm>
            <a:off x="7059168" y="2596896"/>
            <a:ext cx="4261104" cy="759866"/>
          </a:xfrm>
          <a:prstGeom prst="rect">
            <a:avLst/>
          </a:prstGeom>
          <a:noFill/>
          <a:ln/>
        </p:spPr>
        <p:txBody>
          <a:bodyPr wrap="square" lIns="0" tIns="0" rIns="0" bIns="0" rtlCol="0" anchor="t"/>
          <a:lstStyle/>
          <a:p>
            <a:pPr indent="0" marL="0">
              <a:lnSpc>
                <a:spcPts val="1800"/>
              </a:lnSpc>
              <a:buNone/>
            </a:pPr>
            <a:r>
              <a:rPr lang="en-US" sz="1100" dirty="0">
                <a:solidFill>
                  <a:srgbClr val="A9BCCB"/>
                </a:solidFill>
                <a:latin typeface="Calibri" pitchFamily="34" charset="0"/>
                <a:ea typeface="Calibri" pitchFamily="34" charset="-122"/>
                <a:cs typeface="Calibri" pitchFamily="34" charset="-120"/>
              </a:rPr>
              <a:t>Düz, düşük güvenli bir yanlış 0,7 sayılır; kendinden emin bir yanlış ya da çelişen gerekçe 1,0; tanısal bir cevap 2. Öğrenci bulguya itiraz edebilir, kapatabilir ya da yeniden açabilir — her biri geçmişe not düşer.</a:t>
            </a:r>
            <a:endParaRPr lang="en-US" sz="1100" dirty="0"/>
          </a:p>
        </p:txBody>
      </p:sp>
      <p:sp>
        <p:nvSpPr>
          <p:cNvPr id="28" name="Shape 26"/>
          <p:cNvSpPr/>
          <p:nvPr/>
        </p:nvSpPr>
        <p:spPr>
          <a:xfrm>
            <a:off x="6784848" y="3704234"/>
            <a:ext cx="4809744" cy="1838858"/>
          </a:xfrm>
          <a:prstGeom prst="roundRect">
            <a:avLst>
              <a:gd name="adj" fmla="val 2984"/>
            </a:avLst>
          </a:prstGeom>
          <a:solidFill>
            <a:srgbClr val="121C2E">
              <a:alpha val="74000"/>
            </a:srgbClr>
          </a:solidFill>
          <a:ln w="12700">
            <a:solidFill>
              <a:srgbClr val="7FE0B2"/>
            </a:solidFill>
            <a:prstDash val="solid"/>
          </a:ln>
        </p:spPr>
      </p:sp>
      <p:sp>
        <p:nvSpPr>
          <p:cNvPr id="29" name="Text 27"/>
          <p:cNvSpPr txBox="1"/>
          <p:nvPr/>
        </p:nvSpPr>
        <p:spPr>
          <a:xfrm>
            <a:off x="7059168" y="3978554"/>
            <a:ext cx="4261104" cy="201168"/>
          </a:xfrm>
          <a:prstGeom prst="rect">
            <a:avLst/>
          </a:prstGeom>
          <a:noFill/>
          <a:ln/>
        </p:spPr>
        <p:txBody>
          <a:bodyPr wrap="square" lIns="0" tIns="0" rIns="0" bIns="0" rtlCol="0" anchor="ctr"/>
          <a:lstStyle/>
          <a:p>
            <a:pPr indent="0" marL="0">
              <a:buNone/>
            </a:pPr>
            <a:r>
              <a:rPr lang="en-US" sz="900" b="1" spc="260" kern="0" dirty="0">
                <a:solidFill>
                  <a:srgbClr val="4CC3EA"/>
                </a:solidFill>
                <a:latin typeface="Calibri" pitchFamily="34" charset="0"/>
                <a:ea typeface="Calibri" pitchFamily="34" charset="-122"/>
                <a:cs typeface="Calibri" pitchFamily="34" charset="-120"/>
              </a:rPr>
              <a:t>KAPANIŞ</a:t>
            </a:r>
            <a:endParaRPr lang="en-US" sz="900" dirty="0"/>
          </a:p>
        </p:txBody>
      </p:sp>
      <p:sp>
        <p:nvSpPr>
          <p:cNvPr id="30" name="Text 28"/>
          <p:cNvSpPr txBox="1"/>
          <p:nvPr/>
        </p:nvSpPr>
        <p:spPr>
          <a:xfrm>
            <a:off x="7059168" y="4271162"/>
            <a:ext cx="4261104" cy="310896"/>
          </a:xfrm>
          <a:prstGeom prst="rect">
            <a:avLst/>
          </a:prstGeom>
          <a:noFill/>
          <a:ln/>
        </p:spPr>
        <p:txBody>
          <a:bodyPr wrap="square" lIns="0" tIns="0" rIns="0" bIns="0" rtlCol="0" anchor="ctr"/>
          <a:lstStyle/>
          <a:p>
            <a:pPr indent="0" marL="0">
              <a:buNone/>
            </a:pPr>
            <a:r>
              <a:rPr lang="en-US" sz="1450" b="1" dirty="0">
                <a:solidFill>
                  <a:srgbClr val="E9F2F8"/>
                </a:solidFill>
                <a:latin typeface="Calibri" pitchFamily="34" charset="0"/>
                <a:ea typeface="Calibri" pitchFamily="34" charset="-122"/>
                <a:cs typeface="Calibri" pitchFamily="34" charset="-120"/>
              </a:rPr>
              <a:t>Çözülmüş saymak zordur</a:t>
            </a:r>
            <a:endParaRPr lang="en-US" sz="1450" dirty="0"/>
          </a:p>
        </p:txBody>
      </p:sp>
      <p:sp>
        <p:nvSpPr>
          <p:cNvPr id="31" name="Text 29"/>
          <p:cNvSpPr txBox="1"/>
          <p:nvPr/>
        </p:nvSpPr>
        <p:spPr>
          <a:xfrm>
            <a:off x="7059168" y="4655210"/>
            <a:ext cx="4261104" cy="759866"/>
          </a:xfrm>
          <a:prstGeom prst="rect">
            <a:avLst/>
          </a:prstGeom>
          <a:noFill/>
          <a:ln/>
        </p:spPr>
        <p:txBody>
          <a:bodyPr wrap="square" lIns="0" tIns="0" rIns="0" bIns="0" rtlCol="0" anchor="t"/>
          <a:lstStyle/>
          <a:p>
            <a:pPr indent="0" marL="0">
              <a:lnSpc>
                <a:spcPts val="1800"/>
              </a:lnSpc>
              <a:buNone/>
            </a:pPr>
            <a:r>
              <a:rPr lang="en-US" sz="1100" dirty="0">
                <a:solidFill>
                  <a:srgbClr val="A9BCCB"/>
                </a:solidFill>
                <a:latin typeface="Calibri" pitchFamily="34" charset="0"/>
                <a:ea typeface="Calibri" pitchFamily="34" charset="-122"/>
                <a:cs typeface="Calibri" pitchFamily="34" charset="-120"/>
              </a:rPr>
              <a:t>Transfer sorusunu doğru yanıtlamak bulguyu yalnızca "onarım gösterildi" yapar. Bulguyu ancak en az iki gün sonra, bir sınavda, kontrolde ya da histoloji pratiğinde o kavramda verilen doğru bir cevap çözer.</a:t>
            </a:r>
            <a:endParaRPr lang="en-US" sz="1100" dirty="0"/>
          </a:p>
        </p:txBody>
      </p:sp>
      <p:sp>
        <p:nvSpPr>
          <p:cNvPr id="32" name="Text 30"/>
          <p:cNvSpPr txBox="1"/>
          <p:nvPr/>
        </p:nvSpPr>
        <p:spPr>
          <a:xfrm>
            <a:off x="566928" y="6382512"/>
            <a:ext cx="2377440" cy="237744"/>
          </a:xfrm>
          <a:prstGeom prst="rect">
            <a:avLst/>
          </a:prstGeom>
          <a:noFill/>
          <a:ln/>
        </p:spPr>
        <p:txBody>
          <a:bodyPr wrap="square" lIns="0" tIns="0" rIns="0" bIns="0" rtlCol="0" anchor="ctr"/>
          <a:lstStyle/>
          <a:p>
            <a:pPr indent="0" marL="0">
              <a:buNone/>
            </a:pPr>
            <a:r>
              <a:rPr lang="en-US" sz="850" spc="220" kern="0" dirty="0">
                <a:solidFill>
                  <a:srgbClr val="43566A"/>
                </a:solidFill>
                <a:latin typeface="Calibri" pitchFamily="34" charset="0"/>
                <a:ea typeface="Calibri" pitchFamily="34" charset="-122"/>
                <a:cs typeface="Calibri" pitchFamily="34" charset="-120"/>
              </a:rPr>
              <a:t>TIP AKADEMİSİ</a:t>
            </a:r>
            <a:endParaRPr lang="en-US" sz="850" dirty="0"/>
          </a:p>
        </p:txBody>
      </p:sp>
      <p:sp>
        <p:nvSpPr>
          <p:cNvPr id="33" name="Text 31"/>
          <p:cNvSpPr txBox="1"/>
          <p:nvPr/>
        </p:nvSpPr>
        <p:spPr>
          <a:xfrm>
            <a:off x="8229600" y="6382512"/>
            <a:ext cx="3364992" cy="237744"/>
          </a:xfrm>
          <a:prstGeom prst="rect">
            <a:avLst/>
          </a:prstGeom>
          <a:noFill/>
          <a:ln/>
        </p:spPr>
        <p:txBody>
          <a:bodyPr wrap="square" lIns="0" tIns="0" rIns="0" bIns="0" rtlCol="0" anchor="ctr"/>
          <a:lstStyle/>
          <a:p>
            <a:pPr algn="r" indent="0" marL="0">
              <a:buNone/>
            </a:pPr>
            <a:r>
              <a:rPr lang="en-US" sz="850" spc="220" kern="0" dirty="0">
                <a:solidFill>
                  <a:srgbClr val="43566A"/>
                </a:solidFill>
                <a:latin typeface="Calibri" pitchFamily="34" charset="0"/>
                <a:ea typeface="Calibri" pitchFamily="34" charset="-122"/>
                <a:cs typeface="Calibri" pitchFamily="34" charset="-120"/>
              </a:rPr>
              <a:t>24  ·  Öğrenme</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66928" y="566928"/>
            <a:ext cx="7680960" cy="237744"/>
          </a:xfrm>
          <a:prstGeom prst="rect">
            <a:avLst/>
          </a:prstGeom>
          <a:noFill/>
          <a:ln/>
        </p:spPr>
        <p:txBody>
          <a:bodyPr wrap="square" lIns="0" tIns="0" rIns="0" bIns="0" rtlCol="0" anchor="ctr"/>
          <a:lstStyle/>
          <a:p>
            <a:pPr indent="0" marL="0">
              <a:buNone/>
            </a:pPr>
            <a:r>
              <a:rPr lang="en-US" sz="1000" b="1" spc="340" kern="0" dirty="0">
                <a:solidFill>
                  <a:srgbClr val="4CC3EA"/>
                </a:solidFill>
                <a:latin typeface="Calibri" pitchFamily="34" charset="0"/>
                <a:ea typeface="Calibri" pitchFamily="34" charset="-122"/>
                <a:cs typeface="Calibri" pitchFamily="34" charset="-120"/>
              </a:rPr>
              <a:t>ÖĞRENME</a:t>
            </a:r>
            <a:endParaRPr lang="en-US" sz="1000" dirty="0"/>
          </a:p>
        </p:txBody>
      </p:sp>
      <p:sp>
        <p:nvSpPr>
          <p:cNvPr id="3" name="Text 1"/>
          <p:cNvSpPr txBox="1"/>
          <p:nvPr/>
        </p:nvSpPr>
        <p:spPr>
          <a:xfrm>
            <a:off x="548640" y="841248"/>
            <a:ext cx="8229600" cy="786384"/>
          </a:xfrm>
          <a:prstGeom prst="rect">
            <a:avLst/>
          </a:prstGeom>
          <a:noFill/>
          <a:ln/>
        </p:spPr>
        <p:txBody>
          <a:bodyPr wrap="square" lIns="0" tIns="0" rIns="0" bIns="0" rtlCol="0" anchor="t"/>
          <a:lstStyle/>
          <a:p>
            <a:pPr indent="0" marL="0">
              <a:buNone/>
            </a:pPr>
            <a:r>
              <a:rPr lang="en-US" sz="3600" spc="40" kern="0" dirty="0">
                <a:solidFill>
                  <a:srgbClr val="E9F2F8"/>
                </a:solidFill>
                <a:latin typeface="Calibri" pitchFamily="34" charset="0"/>
                <a:ea typeface="Calibri" pitchFamily="34" charset="-122"/>
                <a:cs typeface="Calibri" pitchFamily="34" charset="-120"/>
              </a:rPr>
              <a:t>Ön koşullar ve teşhis</a:t>
            </a:r>
            <a:endParaRPr lang="en-US" sz="3600" dirty="0"/>
          </a:p>
        </p:txBody>
      </p:sp>
      <p:sp>
        <p:nvSpPr>
          <p:cNvPr id="4" name="Text 2"/>
          <p:cNvSpPr txBox="1"/>
          <p:nvPr/>
        </p:nvSpPr>
        <p:spPr>
          <a:xfrm>
            <a:off x="566928" y="1719072"/>
            <a:ext cx="10881360" cy="822960"/>
          </a:xfrm>
          <a:prstGeom prst="rect">
            <a:avLst/>
          </a:prstGeom>
          <a:noFill/>
          <a:ln/>
        </p:spPr>
        <p:txBody>
          <a:bodyPr wrap="square" lIns="0" tIns="0" rIns="0" bIns="0" rtlCol="0" anchor="t"/>
          <a:lstStyle/>
          <a:p>
            <a:pPr indent="0" marL="0">
              <a:lnSpc>
                <a:spcPts val="2200"/>
              </a:lnSpc>
              <a:buNone/>
            </a:pPr>
            <a:r>
              <a:rPr lang="en-US" sz="1400" dirty="0">
                <a:solidFill>
                  <a:srgbClr val="A9BCCB"/>
                </a:solidFill>
                <a:latin typeface="Calibri" pitchFamily="34" charset="0"/>
                <a:ea typeface="Calibri" pitchFamily="34" charset="-122"/>
                <a:cs typeface="Calibri" pitchFamily="34" charset="-120"/>
              </a:rPr>
              <a:t>Bir kavram ısrarla başarısızsa sorun çoğu zaman o kavramda değildir. Anlama ekranı "Ön koşulu teşhis et" önerir.</a:t>
            </a:r>
            <a:endParaRPr lang="en-US" sz="1400" dirty="0"/>
          </a:p>
        </p:txBody>
      </p:sp>
      <p:sp>
        <p:nvSpPr>
          <p:cNvPr id="5" name="Shape 3"/>
          <p:cNvSpPr/>
          <p:nvPr/>
        </p:nvSpPr>
        <p:spPr>
          <a:xfrm>
            <a:off x="566928" y="2468880"/>
            <a:ext cx="5394960" cy="1838858"/>
          </a:xfrm>
          <a:prstGeom prst="roundRect">
            <a:avLst>
              <a:gd name="adj" fmla="val 2984"/>
            </a:avLst>
          </a:prstGeom>
          <a:solidFill>
            <a:srgbClr val="121C2E">
              <a:alpha val="74000"/>
            </a:srgbClr>
          </a:solidFill>
          <a:ln w="12700">
            <a:solidFill>
              <a:srgbClr val="24384B"/>
            </a:solidFill>
            <a:prstDash val="solid"/>
          </a:ln>
        </p:spPr>
      </p:sp>
      <p:sp>
        <p:nvSpPr>
          <p:cNvPr id="6" name="Text 4"/>
          <p:cNvSpPr txBox="1"/>
          <p:nvPr/>
        </p:nvSpPr>
        <p:spPr>
          <a:xfrm>
            <a:off x="841248" y="2743200"/>
            <a:ext cx="4846320" cy="201168"/>
          </a:xfrm>
          <a:prstGeom prst="rect">
            <a:avLst/>
          </a:prstGeom>
          <a:noFill/>
          <a:ln/>
        </p:spPr>
        <p:txBody>
          <a:bodyPr wrap="square" lIns="0" tIns="0" rIns="0" bIns="0" rtlCol="0" anchor="ctr"/>
          <a:lstStyle/>
          <a:p>
            <a:pPr indent="0" marL="0">
              <a:buNone/>
            </a:pPr>
            <a:r>
              <a:rPr lang="en-US" sz="900" b="1" spc="260" kern="0" dirty="0">
                <a:solidFill>
                  <a:srgbClr val="4CC3EA"/>
                </a:solidFill>
                <a:latin typeface="Calibri" pitchFamily="34" charset="0"/>
                <a:ea typeface="Calibri" pitchFamily="34" charset="-122"/>
                <a:cs typeface="Calibri" pitchFamily="34" charset="-120"/>
              </a:rPr>
              <a:t>GRAF</a:t>
            </a:r>
            <a:endParaRPr lang="en-US" sz="900" dirty="0"/>
          </a:p>
        </p:txBody>
      </p:sp>
      <p:sp>
        <p:nvSpPr>
          <p:cNvPr id="7" name="Text 5"/>
          <p:cNvSpPr txBox="1"/>
          <p:nvPr/>
        </p:nvSpPr>
        <p:spPr>
          <a:xfrm>
            <a:off x="841248" y="3035808"/>
            <a:ext cx="4846320" cy="310896"/>
          </a:xfrm>
          <a:prstGeom prst="rect">
            <a:avLst/>
          </a:prstGeom>
          <a:noFill/>
          <a:ln/>
        </p:spPr>
        <p:txBody>
          <a:bodyPr wrap="square" lIns="0" tIns="0" rIns="0" bIns="0" rtlCol="0" anchor="ctr"/>
          <a:lstStyle/>
          <a:p>
            <a:pPr indent="0" marL="0">
              <a:buNone/>
            </a:pPr>
            <a:r>
              <a:rPr lang="en-US" sz="1500" b="1" dirty="0">
                <a:solidFill>
                  <a:srgbClr val="E9F2F8"/>
                </a:solidFill>
                <a:latin typeface="Calibri" pitchFamily="34" charset="0"/>
                <a:ea typeface="Calibri" pitchFamily="34" charset="-122"/>
                <a:cs typeface="Calibri" pitchFamily="34" charset="-120"/>
              </a:rPr>
              <a:t>Her kenarın bir kaynağı var</a:t>
            </a:r>
            <a:endParaRPr lang="en-US" sz="1500" dirty="0"/>
          </a:p>
        </p:txBody>
      </p:sp>
      <p:sp>
        <p:nvSpPr>
          <p:cNvPr id="8" name="Text 6"/>
          <p:cNvSpPr txBox="1"/>
          <p:nvPr/>
        </p:nvSpPr>
        <p:spPr>
          <a:xfrm>
            <a:off x="841248" y="3419856"/>
            <a:ext cx="4846320" cy="759866"/>
          </a:xfrm>
          <a:prstGeom prst="rect">
            <a:avLst/>
          </a:prstGeom>
          <a:noFill/>
          <a:ln/>
        </p:spPr>
        <p:txBody>
          <a:bodyPr wrap="square" lIns="0" tIns="0" rIns="0" bIns="0" rtlCol="0" anchor="t"/>
          <a:lstStyle/>
          <a:p>
            <a:pPr indent="0" marL="0">
              <a:lnSpc>
                <a:spcPts val="1800"/>
              </a:lnSpc>
              <a:buNone/>
            </a:pPr>
            <a:r>
              <a:rPr lang="en-US" sz="1100" dirty="0">
                <a:solidFill>
                  <a:srgbClr val="A9BCCB"/>
                </a:solidFill>
                <a:latin typeface="Calibri" pitchFamily="34" charset="0"/>
                <a:ea typeface="Calibri" pitchFamily="34" charset="-122"/>
                <a:cs typeface="Calibri" pitchFamily="34" charset="-120"/>
              </a:rPr>
              <a:t>63 bağ, gözden geçirilmiş müfredat sırası olarak gelir. Yeni kenarlar öneri olarak girer — materyalden, modelden ya da öğrencinin kendisinden — ve öğrenci onaylayana kadar beklemede kalır.</a:t>
            </a:r>
            <a:endParaRPr lang="en-US" sz="1100" dirty="0"/>
          </a:p>
        </p:txBody>
      </p:sp>
      <p:sp>
        <p:nvSpPr>
          <p:cNvPr id="9" name="Shape 7"/>
          <p:cNvSpPr/>
          <p:nvPr/>
        </p:nvSpPr>
        <p:spPr>
          <a:xfrm>
            <a:off x="566928" y="4508906"/>
            <a:ext cx="5394960" cy="1609344"/>
          </a:xfrm>
          <a:prstGeom prst="roundRect">
            <a:avLst>
              <a:gd name="adj" fmla="val 3409"/>
            </a:avLst>
          </a:prstGeom>
          <a:solidFill>
            <a:srgbClr val="121C2E">
              <a:alpha val="74000"/>
            </a:srgbClr>
          </a:solidFill>
          <a:ln w="12700">
            <a:solidFill>
              <a:srgbClr val="F0C68A"/>
            </a:solidFill>
            <a:prstDash val="solid"/>
          </a:ln>
        </p:spPr>
      </p:sp>
      <p:sp>
        <p:nvSpPr>
          <p:cNvPr id="10" name="Text 8"/>
          <p:cNvSpPr txBox="1"/>
          <p:nvPr/>
        </p:nvSpPr>
        <p:spPr>
          <a:xfrm>
            <a:off x="841248" y="4783226"/>
            <a:ext cx="4846320" cy="201168"/>
          </a:xfrm>
          <a:prstGeom prst="rect">
            <a:avLst/>
          </a:prstGeom>
          <a:noFill/>
          <a:ln/>
        </p:spPr>
        <p:txBody>
          <a:bodyPr wrap="square" lIns="0" tIns="0" rIns="0" bIns="0" rtlCol="0" anchor="ctr"/>
          <a:lstStyle/>
          <a:p>
            <a:pPr indent="0" marL="0">
              <a:buNone/>
            </a:pPr>
            <a:r>
              <a:rPr lang="en-US" sz="900" b="1" spc="260" kern="0" dirty="0">
                <a:solidFill>
                  <a:srgbClr val="4CC3EA"/>
                </a:solidFill>
                <a:latin typeface="Calibri" pitchFamily="34" charset="0"/>
                <a:ea typeface="Calibri" pitchFamily="34" charset="-122"/>
                <a:cs typeface="Calibri" pitchFamily="34" charset="-120"/>
              </a:rPr>
              <a:t>BÜTÜNLÜK</a:t>
            </a:r>
            <a:endParaRPr lang="en-US" sz="900" dirty="0"/>
          </a:p>
        </p:txBody>
      </p:sp>
      <p:sp>
        <p:nvSpPr>
          <p:cNvPr id="11" name="Text 9"/>
          <p:cNvSpPr txBox="1"/>
          <p:nvPr/>
        </p:nvSpPr>
        <p:spPr>
          <a:xfrm>
            <a:off x="841248" y="5075834"/>
            <a:ext cx="4846320" cy="310896"/>
          </a:xfrm>
          <a:prstGeom prst="rect">
            <a:avLst/>
          </a:prstGeom>
          <a:noFill/>
          <a:ln/>
        </p:spPr>
        <p:txBody>
          <a:bodyPr wrap="square" lIns="0" tIns="0" rIns="0" bIns="0" rtlCol="0" anchor="ctr"/>
          <a:lstStyle/>
          <a:p>
            <a:pPr indent="0" marL="0">
              <a:buNone/>
            </a:pPr>
            <a:r>
              <a:rPr lang="en-US" sz="1500" b="1" dirty="0">
                <a:solidFill>
                  <a:srgbClr val="E9F2F8"/>
                </a:solidFill>
                <a:latin typeface="Calibri" pitchFamily="34" charset="0"/>
                <a:ea typeface="Calibri" pitchFamily="34" charset="-122"/>
                <a:cs typeface="Calibri" pitchFamily="34" charset="-120"/>
              </a:rPr>
              <a:t>Döngü reddedilir</a:t>
            </a:r>
            <a:endParaRPr lang="en-US" sz="1500" dirty="0"/>
          </a:p>
        </p:txBody>
      </p:sp>
      <p:sp>
        <p:nvSpPr>
          <p:cNvPr id="12" name="Text 10"/>
          <p:cNvSpPr txBox="1"/>
          <p:nvPr/>
        </p:nvSpPr>
        <p:spPr>
          <a:xfrm>
            <a:off x="841248" y="5459882"/>
            <a:ext cx="4846320" cy="530352"/>
          </a:xfrm>
          <a:prstGeom prst="rect">
            <a:avLst/>
          </a:prstGeom>
          <a:noFill/>
          <a:ln/>
        </p:spPr>
        <p:txBody>
          <a:bodyPr wrap="square" lIns="0" tIns="0" rIns="0" bIns="0" rtlCol="0" anchor="t"/>
          <a:lstStyle/>
          <a:p>
            <a:pPr indent="0" marL="0">
              <a:lnSpc>
                <a:spcPts val="1800"/>
              </a:lnSpc>
              <a:buNone/>
            </a:pPr>
            <a:r>
              <a:rPr lang="en-US" sz="1100" dirty="0">
                <a:solidFill>
                  <a:srgbClr val="A9BCCB"/>
                </a:solidFill>
                <a:latin typeface="Calibri" pitchFamily="34" charset="0"/>
                <a:ea typeface="Calibri" pitchFamily="34" charset="-122"/>
                <a:cs typeface="Calibri" pitchFamily="34" charset="-120"/>
              </a:rPr>
              <a:t>Bir döngüyü kapatacak onay, döngüye yol açan yolla birlikte reddedilir. Aramalar yalnızca gözden geçirilmiş kenarları kullanır ve iki seviye yürür.</a:t>
            </a:r>
            <a:endParaRPr lang="en-US" sz="1100" dirty="0"/>
          </a:p>
        </p:txBody>
      </p:sp>
      <p:sp>
        <p:nvSpPr>
          <p:cNvPr id="13" name="Shape 11"/>
          <p:cNvSpPr/>
          <p:nvPr/>
        </p:nvSpPr>
        <p:spPr>
          <a:xfrm>
            <a:off x="6199632" y="2468880"/>
            <a:ext cx="5394960" cy="3218688"/>
          </a:xfrm>
          <a:prstGeom prst="roundRect">
            <a:avLst>
              <a:gd name="adj" fmla="val 1705"/>
            </a:avLst>
          </a:prstGeom>
          <a:solidFill>
            <a:srgbClr val="121C2E">
              <a:alpha val="74000"/>
            </a:srgbClr>
          </a:solidFill>
          <a:ln w="12700">
            <a:solidFill>
              <a:srgbClr val="B8A8FF"/>
            </a:solidFill>
            <a:prstDash val="solid"/>
          </a:ln>
        </p:spPr>
      </p:sp>
      <p:sp>
        <p:nvSpPr>
          <p:cNvPr id="14" name="Text 12"/>
          <p:cNvSpPr txBox="1"/>
          <p:nvPr/>
        </p:nvSpPr>
        <p:spPr>
          <a:xfrm>
            <a:off x="6473952" y="2743200"/>
            <a:ext cx="4846320" cy="201168"/>
          </a:xfrm>
          <a:prstGeom prst="rect">
            <a:avLst/>
          </a:prstGeom>
          <a:noFill/>
          <a:ln/>
        </p:spPr>
        <p:txBody>
          <a:bodyPr wrap="square" lIns="0" tIns="0" rIns="0" bIns="0" rtlCol="0" anchor="ctr"/>
          <a:lstStyle/>
          <a:p>
            <a:pPr indent="0" marL="0">
              <a:buNone/>
            </a:pPr>
            <a:r>
              <a:rPr lang="en-US" sz="900" b="1" spc="260" kern="0" dirty="0">
                <a:solidFill>
                  <a:srgbClr val="4CC3EA"/>
                </a:solidFill>
                <a:latin typeface="Calibri" pitchFamily="34" charset="0"/>
                <a:ea typeface="Calibri" pitchFamily="34" charset="-122"/>
                <a:cs typeface="Calibri" pitchFamily="34" charset="-120"/>
              </a:rPr>
              <a:t>AKIŞ</a:t>
            </a:r>
            <a:endParaRPr lang="en-US" sz="900" dirty="0"/>
          </a:p>
        </p:txBody>
      </p:sp>
      <p:sp>
        <p:nvSpPr>
          <p:cNvPr id="15" name="Text 13"/>
          <p:cNvSpPr txBox="1"/>
          <p:nvPr/>
        </p:nvSpPr>
        <p:spPr>
          <a:xfrm>
            <a:off x="6473952" y="3035808"/>
            <a:ext cx="4846320" cy="310896"/>
          </a:xfrm>
          <a:prstGeom prst="rect">
            <a:avLst/>
          </a:prstGeom>
          <a:noFill/>
          <a:ln/>
        </p:spPr>
        <p:txBody>
          <a:bodyPr wrap="square" lIns="0" tIns="0" rIns="0" bIns="0" rtlCol="0" anchor="ctr"/>
          <a:lstStyle/>
          <a:p>
            <a:pPr indent="0" marL="0">
              <a:buNone/>
            </a:pPr>
            <a:r>
              <a:rPr lang="en-US" sz="1500" b="1" dirty="0">
                <a:solidFill>
                  <a:srgbClr val="E9F2F8"/>
                </a:solidFill>
                <a:latin typeface="Calibri" pitchFamily="34" charset="0"/>
                <a:ea typeface="Calibri" pitchFamily="34" charset="-122"/>
                <a:cs typeface="Calibri" pitchFamily="34" charset="-120"/>
              </a:rPr>
              <a:t>Teşhis ne yapar</a:t>
            </a:r>
            <a:endParaRPr lang="en-US" sz="1500" dirty="0"/>
          </a:p>
        </p:txBody>
      </p:sp>
      <p:sp>
        <p:nvSpPr>
          <p:cNvPr id="16" name="Text 14"/>
          <p:cNvSpPr txBox="1"/>
          <p:nvPr/>
        </p:nvSpPr>
        <p:spPr>
          <a:xfrm>
            <a:off x="6473952" y="3419856"/>
            <a:ext cx="4846320" cy="2139696"/>
          </a:xfrm>
          <a:prstGeom prst="rect">
            <a:avLst/>
          </a:prstGeom>
          <a:noFill/>
          <a:ln/>
        </p:spPr>
        <p:txBody>
          <a:bodyPr wrap="square" lIns="0" tIns="0" rIns="0" bIns="0" rtlCol="0" anchor="t"/>
          <a:lstStyle/>
          <a:p>
            <a:pPr indent="0" marL="0">
              <a:lnSpc>
                <a:spcPts val="1800"/>
              </a:lnSpc>
              <a:buNone/>
            </a:pPr>
            <a:r>
              <a:rPr lang="en-US" sz="1100" dirty="0">
                <a:solidFill>
                  <a:srgbClr val="A9BCCB"/>
                </a:solidFill>
                <a:latin typeface="Calibri" pitchFamily="34" charset="0"/>
                <a:ea typeface="Calibri" pitchFamily="34" charset="-122"/>
                <a:cs typeface="Calibri" pitchFamily="34" charset="-120"/>
              </a:rPr>
              <a:t>Ne yaptığını söyleyerek başlar: "X konusuna dönmeden önce şu temel kavramı kontrol edelim." En yakın, en zayıf bilinen en çok üç ön koşulu alır; en çok üç anahtarlı banka sorusu sorar (atlanabilir, "Kısalt" en yakına atlar) ve temeli bulur: hedefe geri dönen bir yol, adım başına bir etkinlik, etiketli bir tahmin ve sonunda "Orijinal hedefe dön".</a:t>
            </a:r>
            <a:endParaRPr lang="en-US" sz="1100" dirty="0"/>
          </a:p>
          <a:p>
            <a:pPr indent="0" marL="0">
              <a:lnSpc>
                <a:spcPts val="1800"/>
              </a:lnSpc>
              <a:buNone/>
            </a:pPr>
            <a:endParaRPr lang="en-US" sz="1100" dirty="0"/>
          </a:p>
          <a:p>
            <a:pPr indent="0" marL="0">
              <a:lnSpc>
                <a:spcPts val="1800"/>
              </a:lnSpc>
              <a:buNone/>
            </a:pPr>
            <a:r>
              <a:rPr lang="en-US" sz="1100" dirty="0">
                <a:solidFill>
                  <a:srgbClr val="A9BCCB"/>
                </a:solidFill>
                <a:latin typeface="Calibri" pitchFamily="34" charset="0"/>
                <a:ea typeface="Calibri" pitchFamily="34" charset="-122"/>
                <a:cs typeface="Calibri" pitchFamily="34" charset="-120"/>
              </a:rPr>
              <a:t>Kayıtlı ön koşulu olmayan ya da banka sorusu bulunmayan bir kavram bunu söyler ve öğrencinin bunun yerine yapabileceklerini listeler.</a:t>
            </a:r>
            <a:endParaRPr lang="en-US" sz="1100" dirty="0"/>
          </a:p>
        </p:txBody>
      </p:sp>
      <p:sp>
        <p:nvSpPr>
          <p:cNvPr id="17" name="Text 15"/>
          <p:cNvSpPr txBox="1"/>
          <p:nvPr/>
        </p:nvSpPr>
        <p:spPr>
          <a:xfrm>
            <a:off x="566928" y="6382512"/>
            <a:ext cx="2377440" cy="237744"/>
          </a:xfrm>
          <a:prstGeom prst="rect">
            <a:avLst/>
          </a:prstGeom>
          <a:noFill/>
          <a:ln/>
        </p:spPr>
        <p:txBody>
          <a:bodyPr wrap="square" lIns="0" tIns="0" rIns="0" bIns="0" rtlCol="0" anchor="ctr"/>
          <a:lstStyle/>
          <a:p>
            <a:pPr indent="0" marL="0">
              <a:buNone/>
            </a:pPr>
            <a:r>
              <a:rPr lang="en-US" sz="850" spc="220" kern="0" dirty="0">
                <a:solidFill>
                  <a:srgbClr val="43566A"/>
                </a:solidFill>
                <a:latin typeface="Calibri" pitchFamily="34" charset="0"/>
                <a:ea typeface="Calibri" pitchFamily="34" charset="-122"/>
                <a:cs typeface="Calibri" pitchFamily="34" charset="-120"/>
              </a:rPr>
              <a:t>TIP AKADEMİSİ</a:t>
            </a:r>
            <a:endParaRPr lang="en-US" sz="850" dirty="0"/>
          </a:p>
        </p:txBody>
      </p:sp>
      <p:sp>
        <p:nvSpPr>
          <p:cNvPr id="18" name="Text 16"/>
          <p:cNvSpPr txBox="1"/>
          <p:nvPr/>
        </p:nvSpPr>
        <p:spPr>
          <a:xfrm>
            <a:off x="8229600" y="6382512"/>
            <a:ext cx="3364992" cy="237744"/>
          </a:xfrm>
          <a:prstGeom prst="rect">
            <a:avLst/>
          </a:prstGeom>
          <a:noFill/>
          <a:ln/>
        </p:spPr>
        <p:txBody>
          <a:bodyPr wrap="square" lIns="0" tIns="0" rIns="0" bIns="0" rtlCol="0" anchor="ctr"/>
          <a:lstStyle/>
          <a:p>
            <a:pPr algn="r" indent="0" marL="0">
              <a:buNone/>
            </a:pPr>
            <a:r>
              <a:rPr lang="en-US" sz="850" spc="220" kern="0" dirty="0">
                <a:solidFill>
                  <a:srgbClr val="43566A"/>
                </a:solidFill>
                <a:latin typeface="Calibri" pitchFamily="34" charset="0"/>
                <a:ea typeface="Calibri" pitchFamily="34" charset="-122"/>
                <a:cs typeface="Calibri" pitchFamily="34" charset="-120"/>
              </a:rPr>
              <a:t>25  ·  Öğrenme</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66928" y="530352"/>
            <a:ext cx="7680960" cy="237744"/>
          </a:xfrm>
          <a:prstGeom prst="rect">
            <a:avLst/>
          </a:prstGeom>
          <a:noFill/>
          <a:ln/>
        </p:spPr>
        <p:txBody>
          <a:bodyPr wrap="square" lIns="0" tIns="0" rIns="0" bIns="0" rtlCol="0" anchor="ctr"/>
          <a:lstStyle/>
          <a:p>
            <a:pPr indent="0" marL="0">
              <a:buNone/>
            </a:pPr>
            <a:r>
              <a:rPr lang="en-US" sz="1000" b="1" spc="340" kern="0" dirty="0">
                <a:solidFill>
                  <a:srgbClr val="4CC3EA"/>
                </a:solidFill>
                <a:latin typeface="Calibri" pitchFamily="34" charset="0"/>
                <a:ea typeface="Calibri" pitchFamily="34" charset="-122"/>
                <a:cs typeface="Calibri" pitchFamily="34" charset="-120"/>
              </a:rPr>
              <a:t>ÖĞRENME</a:t>
            </a:r>
            <a:endParaRPr lang="en-US" sz="1000" dirty="0"/>
          </a:p>
        </p:txBody>
      </p:sp>
      <p:sp>
        <p:nvSpPr>
          <p:cNvPr id="3" name="Text 1"/>
          <p:cNvSpPr txBox="1"/>
          <p:nvPr/>
        </p:nvSpPr>
        <p:spPr>
          <a:xfrm>
            <a:off x="548640" y="786384"/>
            <a:ext cx="8778240" cy="786384"/>
          </a:xfrm>
          <a:prstGeom prst="rect">
            <a:avLst/>
          </a:prstGeom>
          <a:noFill/>
          <a:ln/>
        </p:spPr>
        <p:txBody>
          <a:bodyPr wrap="square" lIns="0" tIns="0" rIns="0" bIns="0" rtlCol="0" anchor="t"/>
          <a:lstStyle/>
          <a:p>
            <a:pPr indent="0" marL="0">
              <a:buNone/>
            </a:pPr>
            <a:r>
              <a:rPr lang="en-US" sz="3100" spc="40" kern="0" dirty="0">
                <a:solidFill>
                  <a:srgbClr val="E9F2F8"/>
                </a:solidFill>
                <a:latin typeface="Calibri" pitchFamily="34" charset="0"/>
                <a:ea typeface="Calibri" pitchFamily="34" charset="-122"/>
                <a:cs typeface="Calibri" pitchFamily="34" charset="-120"/>
              </a:rPr>
              <a:t>Sınav tarihine göre plan</a:t>
            </a:r>
            <a:endParaRPr lang="en-US" sz="3100" dirty="0"/>
          </a:p>
        </p:txBody>
      </p:sp>
      <p:sp>
        <p:nvSpPr>
          <p:cNvPr id="4" name="Shape 2"/>
          <p:cNvSpPr/>
          <p:nvPr/>
        </p:nvSpPr>
        <p:spPr>
          <a:xfrm>
            <a:off x="525780" y="1476756"/>
            <a:ext cx="6940296" cy="2878512"/>
          </a:xfrm>
          <a:prstGeom prst="roundRect">
            <a:avLst>
              <a:gd name="adj" fmla="val 1271"/>
            </a:avLst>
          </a:prstGeom>
          <a:solidFill>
            <a:srgbClr val="1B7BA0">
              <a:alpha val="18000"/>
            </a:srgbClr>
          </a:solidFill>
          <a:ln w="12700">
            <a:solidFill>
              <a:srgbClr val="31506A"/>
            </a:solidFill>
            <a:prstDash val="solid"/>
          </a:ln>
        </p:spPr>
      </p:sp>
      <p:pic>
        <p:nvPicPr>
          <p:cNvPr id="5" name="Image 0" descr="img/shots/02_plan.jpg">    </p:cNvPr>
          <p:cNvPicPr>
            <a:picLocks noChangeAspect="1"/>
          </p:cNvPicPr>
          <p:nvPr/>
        </p:nvPicPr>
        <p:blipFill>
          <a:blip r:embed="rId2"/>
          <a:stretch>
            <a:fillRect/>
          </a:stretch>
        </p:blipFill>
        <p:spPr>
          <a:xfrm>
            <a:off x="566928" y="1517904"/>
            <a:ext cx="6858000" cy="2796216"/>
          </a:xfrm>
          <a:prstGeom prst="rect">
            <a:avLst/>
          </a:prstGeom>
        </p:spPr>
      </p:pic>
      <p:sp>
        <p:nvSpPr>
          <p:cNvPr id="6" name="Shape 3"/>
          <p:cNvSpPr/>
          <p:nvPr/>
        </p:nvSpPr>
        <p:spPr>
          <a:xfrm>
            <a:off x="7644384" y="1517904"/>
            <a:ext cx="3950208" cy="2067458"/>
          </a:xfrm>
          <a:prstGeom prst="roundRect">
            <a:avLst>
              <a:gd name="adj" fmla="val 2654"/>
            </a:avLst>
          </a:prstGeom>
          <a:solidFill>
            <a:srgbClr val="121C2E">
              <a:alpha val="74000"/>
            </a:srgbClr>
          </a:solidFill>
          <a:ln w="12700">
            <a:solidFill>
              <a:srgbClr val="24384B"/>
            </a:solidFill>
            <a:prstDash val="solid"/>
          </a:ln>
        </p:spPr>
      </p:sp>
      <p:sp>
        <p:nvSpPr>
          <p:cNvPr id="7" name="Text 4"/>
          <p:cNvSpPr txBox="1"/>
          <p:nvPr/>
        </p:nvSpPr>
        <p:spPr>
          <a:xfrm>
            <a:off x="7918704" y="1792224"/>
            <a:ext cx="3401568" cy="201168"/>
          </a:xfrm>
          <a:prstGeom prst="rect">
            <a:avLst/>
          </a:prstGeom>
          <a:noFill/>
          <a:ln/>
        </p:spPr>
        <p:txBody>
          <a:bodyPr wrap="square" lIns="0" tIns="0" rIns="0" bIns="0" rtlCol="0" anchor="ctr"/>
          <a:lstStyle/>
          <a:p>
            <a:pPr indent="0" marL="0">
              <a:buNone/>
            </a:pPr>
            <a:r>
              <a:rPr lang="en-US" sz="900" b="1" spc="260" kern="0" dirty="0">
                <a:solidFill>
                  <a:srgbClr val="4CC3EA"/>
                </a:solidFill>
                <a:latin typeface="Calibri" pitchFamily="34" charset="0"/>
                <a:ea typeface="Calibri" pitchFamily="34" charset="-122"/>
                <a:cs typeface="Calibri" pitchFamily="34" charset="-120"/>
              </a:rPr>
              <a:t>COVERAGE</a:t>
            </a:r>
            <a:endParaRPr lang="en-US" sz="900" dirty="0"/>
          </a:p>
        </p:txBody>
      </p:sp>
      <p:sp>
        <p:nvSpPr>
          <p:cNvPr id="8" name="Text 5"/>
          <p:cNvSpPr txBox="1"/>
          <p:nvPr/>
        </p:nvSpPr>
        <p:spPr>
          <a:xfrm>
            <a:off x="7918704" y="2084832"/>
            <a:ext cx="3401568" cy="310896"/>
          </a:xfrm>
          <a:prstGeom prst="rect">
            <a:avLst/>
          </a:prstGeom>
          <a:noFill/>
          <a:ln/>
        </p:spPr>
        <p:txBody>
          <a:bodyPr wrap="square" lIns="0" tIns="0" rIns="0" bIns="0" rtlCol="0" anchor="ctr"/>
          <a:lstStyle/>
          <a:p>
            <a:pPr indent="0" marL="0">
              <a:buNone/>
            </a:pPr>
            <a:r>
              <a:rPr lang="en-US" sz="1450" b="1" dirty="0">
                <a:solidFill>
                  <a:srgbClr val="E9F2F8"/>
                </a:solidFill>
                <a:latin typeface="Calibri" pitchFamily="34" charset="0"/>
                <a:ea typeface="Calibri" pitchFamily="34" charset="-122"/>
                <a:cs typeface="Calibri" pitchFamily="34" charset="-120"/>
              </a:rPr>
              <a:t>Kapsam durumları</a:t>
            </a:r>
            <a:endParaRPr lang="en-US" sz="1450" dirty="0"/>
          </a:p>
        </p:txBody>
      </p:sp>
      <p:sp>
        <p:nvSpPr>
          <p:cNvPr id="9" name="Text 6"/>
          <p:cNvSpPr txBox="1"/>
          <p:nvPr/>
        </p:nvSpPr>
        <p:spPr>
          <a:xfrm>
            <a:off x="7918704" y="2468880"/>
            <a:ext cx="3401568" cy="988466"/>
          </a:xfrm>
          <a:prstGeom prst="rect">
            <a:avLst/>
          </a:prstGeom>
          <a:noFill/>
          <a:ln/>
        </p:spPr>
        <p:txBody>
          <a:bodyPr wrap="square" lIns="0" tIns="0" rIns="0" bIns="0" rtlCol="0" anchor="t"/>
          <a:lstStyle/>
          <a:p>
            <a:pPr indent="0" marL="0">
              <a:lnSpc>
                <a:spcPts val="1800"/>
              </a:lnSpc>
              <a:buNone/>
            </a:pPr>
            <a:r>
              <a:rPr lang="en-US" sz="1100" dirty="0">
                <a:solidFill>
                  <a:srgbClr val="A9BCCB"/>
                </a:solidFill>
                <a:latin typeface="Calibri" pitchFamily="34" charset="0"/>
                <a:ea typeface="Calibri" pitchFamily="34" charset="-122"/>
                <a:cs typeface="Calibri" pitchFamily="34" charset="-120"/>
              </a:rPr>
              <a:t>Plan, kapsamdaki her konuyu sınıflar: çalışılmamış, çalışılmış ama ölçülmemiş, sınırlı ölçülmüş, gösterilmiş, tekrarı gelmiş, yanlış anlama. Sayfa açmak "çalışılmış" sayılır — asla "gösterilmiş" değil.</a:t>
            </a:r>
            <a:endParaRPr lang="en-US" sz="1100" dirty="0"/>
          </a:p>
        </p:txBody>
      </p:sp>
      <p:sp>
        <p:nvSpPr>
          <p:cNvPr id="10" name="Shape 7"/>
          <p:cNvSpPr/>
          <p:nvPr/>
        </p:nvSpPr>
        <p:spPr>
          <a:xfrm>
            <a:off x="7644384" y="3804818"/>
            <a:ext cx="3950208" cy="1838858"/>
          </a:xfrm>
          <a:prstGeom prst="roundRect">
            <a:avLst>
              <a:gd name="adj" fmla="val 2984"/>
            </a:avLst>
          </a:prstGeom>
          <a:solidFill>
            <a:srgbClr val="121C2E">
              <a:alpha val="74000"/>
            </a:srgbClr>
          </a:solidFill>
          <a:ln w="12700">
            <a:solidFill>
              <a:srgbClr val="7FE0B2"/>
            </a:solidFill>
            <a:prstDash val="solid"/>
          </a:ln>
        </p:spPr>
      </p:sp>
      <p:sp>
        <p:nvSpPr>
          <p:cNvPr id="11" name="Text 8"/>
          <p:cNvSpPr txBox="1"/>
          <p:nvPr/>
        </p:nvSpPr>
        <p:spPr>
          <a:xfrm>
            <a:off x="7918704" y="4079138"/>
            <a:ext cx="3401568" cy="201168"/>
          </a:xfrm>
          <a:prstGeom prst="rect">
            <a:avLst/>
          </a:prstGeom>
          <a:noFill/>
          <a:ln/>
        </p:spPr>
        <p:txBody>
          <a:bodyPr wrap="square" lIns="0" tIns="0" rIns="0" bIns="0" rtlCol="0" anchor="ctr"/>
          <a:lstStyle/>
          <a:p>
            <a:pPr indent="0" marL="0">
              <a:buNone/>
            </a:pPr>
            <a:r>
              <a:rPr lang="en-US" sz="900" b="1" spc="260" kern="0" dirty="0">
                <a:solidFill>
                  <a:srgbClr val="4CC3EA"/>
                </a:solidFill>
                <a:latin typeface="Calibri" pitchFamily="34" charset="0"/>
                <a:ea typeface="Calibri" pitchFamily="34" charset="-122"/>
                <a:cs typeface="Calibri" pitchFamily="34" charset="-120"/>
              </a:rPr>
              <a:t>DÜRÜSTLÜK</a:t>
            </a:r>
            <a:endParaRPr lang="en-US" sz="900" dirty="0"/>
          </a:p>
        </p:txBody>
      </p:sp>
      <p:sp>
        <p:nvSpPr>
          <p:cNvPr id="12" name="Text 9"/>
          <p:cNvSpPr txBox="1"/>
          <p:nvPr/>
        </p:nvSpPr>
        <p:spPr>
          <a:xfrm>
            <a:off x="7918704" y="4371746"/>
            <a:ext cx="3401568" cy="310896"/>
          </a:xfrm>
          <a:prstGeom prst="rect">
            <a:avLst/>
          </a:prstGeom>
          <a:noFill/>
          <a:ln/>
        </p:spPr>
        <p:txBody>
          <a:bodyPr wrap="square" lIns="0" tIns="0" rIns="0" bIns="0" rtlCol="0" anchor="ctr"/>
          <a:lstStyle/>
          <a:p>
            <a:pPr indent="0" marL="0">
              <a:buNone/>
            </a:pPr>
            <a:r>
              <a:rPr lang="en-US" sz="1450" b="1" dirty="0">
                <a:solidFill>
                  <a:srgbClr val="E9F2F8"/>
                </a:solidFill>
                <a:latin typeface="Calibri" pitchFamily="34" charset="0"/>
                <a:ea typeface="Calibri" pitchFamily="34" charset="-122"/>
                <a:cs typeface="Calibri" pitchFamily="34" charset="-120"/>
              </a:rPr>
              <a:t>Bütçenin üstüne çıkmaz</a:t>
            </a:r>
            <a:endParaRPr lang="en-US" sz="1450" dirty="0"/>
          </a:p>
        </p:txBody>
      </p:sp>
      <p:sp>
        <p:nvSpPr>
          <p:cNvPr id="13" name="Text 10"/>
          <p:cNvSpPr txBox="1"/>
          <p:nvPr/>
        </p:nvSpPr>
        <p:spPr>
          <a:xfrm>
            <a:off x="7918704" y="4755794"/>
            <a:ext cx="3401568" cy="759866"/>
          </a:xfrm>
          <a:prstGeom prst="rect">
            <a:avLst/>
          </a:prstGeom>
          <a:noFill/>
          <a:ln/>
        </p:spPr>
        <p:txBody>
          <a:bodyPr wrap="square" lIns="0" tIns="0" rIns="0" bIns="0" rtlCol="0" anchor="t"/>
          <a:lstStyle/>
          <a:p>
            <a:pPr indent="0" marL="0">
              <a:lnSpc>
                <a:spcPts val="1800"/>
              </a:lnSpc>
              <a:buNone/>
            </a:pPr>
            <a:r>
              <a:rPr lang="en-US" sz="1100" dirty="0">
                <a:solidFill>
                  <a:srgbClr val="A9BCCB"/>
                </a:solidFill>
                <a:latin typeface="Calibri" pitchFamily="34" charset="0"/>
                <a:ea typeface="Calibri" pitchFamily="34" charset="-122"/>
                <a:cs typeface="Calibri" pitchFamily="34" charset="-120"/>
              </a:rPr>
              <a:t>Günlük dakika bütçesi aşılmaz; kapsam sığmıyorsa plan bunu sayılarla söyler ve neyin kapsanmadan kaldığını listeler.</a:t>
            </a:r>
            <a:endParaRPr lang="en-US" sz="1100" dirty="0"/>
          </a:p>
        </p:txBody>
      </p:sp>
      <p:sp>
        <p:nvSpPr>
          <p:cNvPr id="14" name="Text 11"/>
          <p:cNvSpPr txBox="1"/>
          <p:nvPr/>
        </p:nvSpPr>
        <p:spPr>
          <a:xfrm>
            <a:off x="566928" y="4533576"/>
            <a:ext cx="6858000" cy="292608"/>
          </a:xfrm>
          <a:prstGeom prst="rect">
            <a:avLst/>
          </a:prstGeom>
          <a:noFill/>
          <a:ln/>
        </p:spPr>
        <p:txBody>
          <a:bodyPr wrap="square" lIns="0" tIns="0" rIns="0" bIns="0" rtlCol="0" anchor="ctr"/>
          <a:lstStyle/>
          <a:p>
            <a:pPr indent="0" marL="0">
              <a:buNone/>
            </a:pPr>
            <a:r>
              <a:rPr lang="en-US" sz="1100" dirty="0">
                <a:solidFill>
                  <a:srgbClr val="6F8597"/>
                </a:solidFill>
                <a:latin typeface="Calibri" pitchFamily="34" charset="0"/>
                <a:ea typeface="Calibri" pitchFamily="34" charset="-122"/>
                <a:cs typeface="Calibri" pitchFamily="34" charset="-120"/>
              </a:rPr>
              <a:t>Planlandı · başladı · atlandı · tamamlandı · kaçırıldı — beş ayrı durum. Hiçbir şey zamanlayıcıyla tamamlanmaz.</a:t>
            </a:r>
            <a:endParaRPr lang="en-US" sz="1100" dirty="0"/>
          </a:p>
        </p:txBody>
      </p:sp>
      <p:sp>
        <p:nvSpPr>
          <p:cNvPr id="15" name="Text 12"/>
          <p:cNvSpPr txBox="1"/>
          <p:nvPr/>
        </p:nvSpPr>
        <p:spPr>
          <a:xfrm>
            <a:off x="566928" y="6382512"/>
            <a:ext cx="2377440" cy="237744"/>
          </a:xfrm>
          <a:prstGeom prst="rect">
            <a:avLst/>
          </a:prstGeom>
          <a:noFill/>
          <a:ln/>
        </p:spPr>
        <p:txBody>
          <a:bodyPr wrap="square" lIns="0" tIns="0" rIns="0" bIns="0" rtlCol="0" anchor="ctr"/>
          <a:lstStyle/>
          <a:p>
            <a:pPr indent="0" marL="0">
              <a:buNone/>
            </a:pPr>
            <a:r>
              <a:rPr lang="en-US" sz="850" spc="220" kern="0" dirty="0">
                <a:solidFill>
                  <a:srgbClr val="43566A"/>
                </a:solidFill>
                <a:latin typeface="Calibri" pitchFamily="34" charset="0"/>
                <a:ea typeface="Calibri" pitchFamily="34" charset="-122"/>
                <a:cs typeface="Calibri" pitchFamily="34" charset="-120"/>
              </a:rPr>
              <a:t>TIP AKADEMİSİ</a:t>
            </a:r>
            <a:endParaRPr lang="en-US" sz="850" dirty="0"/>
          </a:p>
        </p:txBody>
      </p:sp>
      <p:sp>
        <p:nvSpPr>
          <p:cNvPr id="16" name="Text 13"/>
          <p:cNvSpPr txBox="1"/>
          <p:nvPr/>
        </p:nvSpPr>
        <p:spPr>
          <a:xfrm>
            <a:off x="8229600" y="6382512"/>
            <a:ext cx="3364992" cy="237744"/>
          </a:xfrm>
          <a:prstGeom prst="rect">
            <a:avLst/>
          </a:prstGeom>
          <a:noFill/>
          <a:ln/>
        </p:spPr>
        <p:txBody>
          <a:bodyPr wrap="square" lIns="0" tIns="0" rIns="0" bIns="0" rtlCol="0" anchor="ctr"/>
          <a:lstStyle/>
          <a:p>
            <a:pPr algn="r" indent="0" marL="0">
              <a:buNone/>
            </a:pPr>
            <a:r>
              <a:rPr lang="en-US" sz="850" spc="220" kern="0" dirty="0">
                <a:solidFill>
                  <a:srgbClr val="43566A"/>
                </a:solidFill>
                <a:latin typeface="Calibri" pitchFamily="34" charset="0"/>
                <a:ea typeface="Calibri" pitchFamily="34" charset="-122"/>
                <a:cs typeface="Calibri" pitchFamily="34" charset="-120"/>
              </a:rPr>
              <a:t>26  ·  Öğrenme</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66928" y="566928"/>
            <a:ext cx="7680960" cy="237744"/>
          </a:xfrm>
          <a:prstGeom prst="rect">
            <a:avLst/>
          </a:prstGeom>
          <a:noFill/>
          <a:ln/>
        </p:spPr>
        <p:txBody>
          <a:bodyPr wrap="square" lIns="0" tIns="0" rIns="0" bIns="0" rtlCol="0" anchor="ctr"/>
          <a:lstStyle/>
          <a:p>
            <a:pPr indent="0" marL="0">
              <a:buNone/>
            </a:pPr>
            <a:r>
              <a:rPr lang="en-US" sz="1000" b="1" spc="340" kern="0" dirty="0">
                <a:solidFill>
                  <a:srgbClr val="4CC3EA"/>
                </a:solidFill>
                <a:latin typeface="Calibri" pitchFamily="34" charset="0"/>
                <a:ea typeface="Calibri" pitchFamily="34" charset="-122"/>
                <a:cs typeface="Calibri" pitchFamily="34" charset="-120"/>
              </a:rPr>
              <a:t>ÖĞRENME</a:t>
            </a:r>
            <a:endParaRPr lang="en-US" sz="1000" dirty="0"/>
          </a:p>
        </p:txBody>
      </p:sp>
      <p:sp>
        <p:nvSpPr>
          <p:cNvPr id="3" name="Text 1"/>
          <p:cNvSpPr txBox="1"/>
          <p:nvPr/>
        </p:nvSpPr>
        <p:spPr>
          <a:xfrm>
            <a:off x="548640" y="841248"/>
            <a:ext cx="9509760" cy="786384"/>
          </a:xfrm>
          <a:prstGeom prst="rect">
            <a:avLst/>
          </a:prstGeom>
          <a:noFill/>
          <a:ln/>
        </p:spPr>
        <p:txBody>
          <a:bodyPr wrap="square" lIns="0" tIns="0" rIns="0" bIns="0" rtlCol="0" anchor="t"/>
          <a:lstStyle/>
          <a:p>
            <a:pPr indent="0" marL="0">
              <a:buNone/>
            </a:pPr>
            <a:r>
              <a:rPr lang="en-US" sz="3300" spc="40" kern="0" dirty="0">
                <a:solidFill>
                  <a:srgbClr val="E9F2F8"/>
                </a:solidFill>
                <a:latin typeface="Calibri" pitchFamily="34" charset="0"/>
                <a:ea typeface="Calibri" pitchFamily="34" charset="-122"/>
                <a:cs typeface="Calibri" pitchFamily="34" charset="-120"/>
              </a:rPr>
              <a:t>Histoloji pratikleri, kendi sayfalarından</a:t>
            </a:r>
            <a:endParaRPr lang="en-US" sz="3300" dirty="0"/>
          </a:p>
        </p:txBody>
      </p:sp>
      <p:sp>
        <p:nvSpPr>
          <p:cNvPr id="4" name="Text 2"/>
          <p:cNvSpPr txBox="1"/>
          <p:nvPr/>
        </p:nvSpPr>
        <p:spPr>
          <a:xfrm>
            <a:off x="566928" y="1645920"/>
            <a:ext cx="10881360" cy="822960"/>
          </a:xfrm>
          <a:prstGeom prst="rect">
            <a:avLst/>
          </a:prstGeom>
          <a:noFill/>
          <a:ln/>
        </p:spPr>
        <p:txBody>
          <a:bodyPr wrap="square" lIns="0" tIns="0" rIns="0" bIns="0" rtlCol="0" anchor="t"/>
          <a:lstStyle/>
          <a:p>
            <a:pPr indent="0" marL="0">
              <a:lnSpc>
                <a:spcPts val="2200"/>
              </a:lnSpc>
              <a:buNone/>
            </a:pPr>
            <a:r>
              <a:rPr lang="en-US" sz="1400" dirty="0">
                <a:solidFill>
                  <a:srgbClr val="A9BCCB"/>
                </a:solidFill>
                <a:latin typeface="Calibri" pitchFamily="34" charset="0"/>
                <a:ea typeface="Calibri" pitchFamily="34" charset="-122"/>
                <a:cs typeface="Calibri" pitchFamily="34" charset="-120"/>
              </a:rPr>
              <a:t>Bir örnek, içe aktarılmış bir belgenin sayfası üzerine çizilen dikdörtgendir. Kırpma PDF'ten 2× yeniden çizilir; sayfanın kendisine dokunulmaz ve hiçbir mikroskopi görüntüsü üretilmez.</a:t>
            </a:r>
            <a:endParaRPr lang="en-US" sz="1400" dirty="0"/>
          </a:p>
        </p:txBody>
      </p:sp>
      <p:sp>
        <p:nvSpPr>
          <p:cNvPr id="5" name="Shape 3"/>
          <p:cNvSpPr/>
          <p:nvPr/>
        </p:nvSpPr>
        <p:spPr>
          <a:xfrm>
            <a:off x="566928" y="2359152"/>
            <a:ext cx="3480206" cy="2067458"/>
          </a:xfrm>
          <a:prstGeom prst="roundRect">
            <a:avLst>
              <a:gd name="adj" fmla="val 2654"/>
            </a:avLst>
          </a:prstGeom>
          <a:solidFill>
            <a:srgbClr val="121C2E">
              <a:alpha val="74000"/>
            </a:srgbClr>
          </a:solidFill>
          <a:ln w="12700">
            <a:solidFill>
              <a:srgbClr val="24384B"/>
            </a:solidFill>
            <a:prstDash val="solid"/>
          </a:ln>
        </p:spPr>
      </p:sp>
      <p:sp>
        <p:nvSpPr>
          <p:cNvPr id="6" name="Text 4"/>
          <p:cNvSpPr txBox="1"/>
          <p:nvPr/>
        </p:nvSpPr>
        <p:spPr>
          <a:xfrm>
            <a:off x="841248" y="2633472"/>
            <a:ext cx="2931566" cy="201168"/>
          </a:xfrm>
          <a:prstGeom prst="rect">
            <a:avLst/>
          </a:prstGeom>
          <a:noFill/>
          <a:ln/>
        </p:spPr>
        <p:txBody>
          <a:bodyPr wrap="square" lIns="0" tIns="0" rIns="0" bIns="0" rtlCol="0" anchor="ctr"/>
          <a:lstStyle/>
          <a:p>
            <a:pPr indent="0" marL="0">
              <a:buNone/>
            </a:pPr>
            <a:r>
              <a:rPr lang="en-US" sz="900" b="1" spc="260" kern="0" dirty="0">
                <a:solidFill>
                  <a:srgbClr val="4CC3EA"/>
                </a:solidFill>
                <a:latin typeface="Calibri" pitchFamily="34" charset="0"/>
                <a:ea typeface="Calibri" pitchFamily="34" charset="-122"/>
                <a:cs typeface="Calibri" pitchFamily="34" charset="-120"/>
              </a:rPr>
              <a:t>KAYNAK</a:t>
            </a:r>
            <a:endParaRPr lang="en-US" sz="900" dirty="0"/>
          </a:p>
        </p:txBody>
      </p:sp>
      <p:sp>
        <p:nvSpPr>
          <p:cNvPr id="7" name="Text 5"/>
          <p:cNvSpPr txBox="1"/>
          <p:nvPr/>
        </p:nvSpPr>
        <p:spPr>
          <a:xfrm>
            <a:off x="841248" y="2926080"/>
            <a:ext cx="2931566" cy="310896"/>
          </a:xfrm>
          <a:prstGeom prst="rect">
            <a:avLst/>
          </a:prstGeom>
          <a:noFill/>
          <a:ln/>
        </p:spPr>
        <p:txBody>
          <a:bodyPr wrap="square" lIns="0" tIns="0" rIns="0" bIns="0" rtlCol="0" anchor="ctr"/>
          <a:lstStyle/>
          <a:p>
            <a:pPr indent="0" marL="0">
              <a:buNone/>
            </a:pPr>
            <a:r>
              <a:rPr lang="en-US" sz="1450" b="1" dirty="0">
                <a:solidFill>
                  <a:srgbClr val="E9F2F8"/>
                </a:solidFill>
                <a:latin typeface="Calibri" pitchFamily="34" charset="0"/>
                <a:ea typeface="Calibri" pitchFamily="34" charset="-122"/>
                <a:cs typeface="Calibri" pitchFamily="34" charset="-120"/>
              </a:rPr>
              <a:t>Dayanak kaydedilir</a:t>
            </a:r>
            <a:endParaRPr lang="en-US" sz="1450" dirty="0"/>
          </a:p>
        </p:txBody>
      </p:sp>
      <p:sp>
        <p:nvSpPr>
          <p:cNvPr id="8" name="Text 6"/>
          <p:cNvSpPr txBox="1"/>
          <p:nvPr/>
        </p:nvSpPr>
        <p:spPr>
          <a:xfrm>
            <a:off x="841248" y="3310128"/>
            <a:ext cx="2931566" cy="988466"/>
          </a:xfrm>
          <a:prstGeom prst="rect">
            <a:avLst/>
          </a:prstGeom>
          <a:noFill/>
          <a:ln/>
        </p:spPr>
        <p:txBody>
          <a:bodyPr wrap="square" lIns="0" tIns="0" rIns="0" bIns="0" rtlCol="0" anchor="t"/>
          <a:lstStyle/>
          <a:p>
            <a:pPr indent="0" marL="0">
              <a:lnSpc>
                <a:spcPts val="1800"/>
              </a:lnSpc>
              <a:buNone/>
            </a:pPr>
            <a:r>
              <a:rPr lang="en-US" sz="1100" dirty="0">
                <a:solidFill>
                  <a:srgbClr val="A9BCCB"/>
                </a:solidFill>
                <a:latin typeface="Calibri" pitchFamily="34" charset="0"/>
                <a:ea typeface="Calibri" pitchFamily="34" charset="-122"/>
                <a:cs typeface="Calibri" pitchFamily="34" charset="-120"/>
              </a:rPr>
              <a:t>Örneğin adı ve özellikleri dayanağıyla saklanır: öğrenci doğruladı mı, yoksa sayfadaki bir açıklamadan mı geldi. Görüş geçişinin betimi betim olarak kalır, asla cevap olmaz.</a:t>
            </a:r>
            <a:endParaRPr lang="en-US" sz="1100" dirty="0"/>
          </a:p>
        </p:txBody>
      </p:sp>
      <p:sp>
        <p:nvSpPr>
          <p:cNvPr id="9" name="Shape 7"/>
          <p:cNvSpPr/>
          <p:nvPr/>
        </p:nvSpPr>
        <p:spPr>
          <a:xfrm>
            <a:off x="4339742" y="2359152"/>
            <a:ext cx="3480206" cy="2067458"/>
          </a:xfrm>
          <a:prstGeom prst="roundRect">
            <a:avLst>
              <a:gd name="adj" fmla="val 2654"/>
            </a:avLst>
          </a:prstGeom>
          <a:solidFill>
            <a:srgbClr val="121C2E">
              <a:alpha val="74000"/>
            </a:srgbClr>
          </a:solidFill>
          <a:ln w="12700">
            <a:solidFill>
              <a:srgbClr val="F0C68A"/>
            </a:solidFill>
            <a:prstDash val="solid"/>
          </a:ln>
        </p:spPr>
      </p:sp>
      <p:sp>
        <p:nvSpPr>
          <p:cNvPr id="10" name="Text 8"/>
          <p:cNvSpPr txBox="1"/>
          <p:nvPr/>
        </p:nvSpPr>
        <p:spPr>
          <a:xfrm>
            <a:off x="4614062" y="2633472"/>
            <a:ext cx="2931566" cy="201168"/>
          </a:xfrm>
          <a:prstGeom prst="rect">
            <a:avLst/>
          </a:prstGeom>
          <a:noFill/>
          <a:ln/>
        </p:spPr>
        <p:txBody>
          <a:bodyPr wrap="square" lIns="0" tIns="0" rIns="0" bIns="0" rtlCol="0" anchor="ctr"/>
          <a:lstStyle/>
          <a:p>
            <a:pPr indent="0" marL="0">
              <a:buNone/>
            </a:pPr>
            <a:r>
              <a:rPr lang="en-US" sz="900" b="1" spc="260" kern="0" dirty="0">
                <a:solidFill>
                  <a:srgbClr val="4CC3EA"/>
                </a:solidFill>
                <a:latin typeface="Calibri" pitchFamily="34" charset="0"/>
                <a:ea typeface="Calibri" pitchFamily="34" charset="-122"/>
                <a:cs typeface="Calibri" pitchFamily="34" charset="-120"/>
              </a:rPr>
              <a:t>UYGUNLUK</a:t>
            </a:r>
            <a:endParaRPr lang="en-US" sz="900" dirty="0"/>
          </a:p>
        </p:txBody>
      </p:sp>
      <p:sp>
        <p:nvSpPr>
          <p:cNvPr id="11" name="Text 9"/>
          <p:cNvSpPr txBox="1"/>
          <p:nvPr/>
        </p:nvSpPr>
        <p:spPr>
          <a:xfrm>
            <a:off x="4614062" y="2926080"/>
            <a:ext cx="2931566" cy="310896"/>
          </a:xfrm>
          <a:prstGeom prst="rect">
            <a:avLst/>
          </a:prstGeom>
          <a:noFill/>
          <a:ln/>
        </p:spPr>
        <p:txBody>
          <a:bodyPr wrap="square" lIns="0" tIns="0" rIns="0" bIns="0" rtlCol="0" anchor="ctr"/>
          <a:lstStyle/>
          <a:p>
            <a:pPr indent="0" marL="0">
              <a:buNone/>
            </a:pPr>
            <a:r>
              <a:rPr lang="en-US" sz="1450" b="1" dirty="0">
                <a:solidFill>
                  <a:srgbClr val="E9F2F8"/>
                </a:solidFill>
                <a:latin typeface="Calibri" pitchFamily="34" charset="0"/>
                <a:ea typeface="Calibri" pitchFamily="34" charset="-122"/>
                <a:cs typeface="Calibri" pitchFamily="34" charset="-120"/>
              </a:rPr>
              <a:t>Bilinmiyor, bilinmiyordur</a:t>
            </a:r>
            <a:endParaRPr lang="en-US" sz="1450" dirty="0"/>
          </a:p>
        </p:txBody>
      </p:sp>
      <p:sp>
        <p:nvSpPr>
          <p:cNvPr id="12" name="Text 10"/>
          <p:cNvSpPr txBox="1"/>
          <p:nvPr/>
        </p:nvSpPr>
        <p:spPr>
          <a:xfrm>
            <a:off x="4614062" y="3310128"/>
            <a:ext cx="2931566" cy="988466"/>
          </a:xfrm>
          <a:prstGeom prst="rect">
            <a:avLst/>
          </a:prstGeom>
          <a:noFill/>
          <a:ln/>
        </p:spPr>
        <p:txBody>
          <a:bodyPr wrap="square" lIns="0" tIns="0" rIns="0" bIns="0" rtlCol="0" anchor="t"/>
          <a:lstStyle/>
          <a:p>
            <a:pPr indent="0" marL="0">
              <a:lnSpc>
                <a:spcPts val="1800"/>
              </a:lnSpc>
              <a:buNone/>
            </a:pPr>
            <a:r>
              <a:rPr lang="en-US" sz="1100" dirty="0">
                <a:solidFill>
                  <a:srgbClr val="A9BCCB"/>
                </a:solidFill>
                <a:latin typeface="Calibri" pitchFamily="34" charset="0"/>
                <a:ea typeface="Calibri" pitchFamily="34" charset="-122"/>
                <a:cs typeface="Calibri" pitchFamily="34" charset="-120"/>
              </a:rPr>
              <a:t>Boya ve büyütme kaydedilene kadar "bilinmiyor" kalır. Yalnızca yeterli dayanağı olan bir örnek puanlı pratiğe uygundur; gerisi çalışma amaçlıdır ve bunu söyler.</a:t>
            </a:r>
            <a:endParaRPr lang="en-US" sz="1100" dirty="0"/>
          </a:p>
        </p:txBody>
      </p:sp>
      <p:sp>
        <p:nvSpPr>
          <p:cNvPr id="13" name="Shape 11"/>
          <p:cNvSpPr/>
          <p:nvPr/>
        </p:nvSpPr>
        <p:spPr>
          <a:xfrm>
            <a:off x="8112557" y="2359152"/>
            <a:ext cx="3480206" cy="2067458"/>
          </a:xfrm>
          <a:prstGeom prst="roundRect">
            <a:avLst>
              <a:gd name="adj" fmla="val 2654"/>
            </a:avLst>
          </a:prstGeom>
          <a:solidFill>
            <a:srgbClr val="121C2E">
              <a:alpha val="74000"/>
            </a:srgbClr>
          </a:solidFill>
          <a:ln w="12700">
            <a:solidFill>
              <a:srgbClr val="B8A8FF"/>
            </a:solidFill>
            <a:prstDash val="solid"/>
          </a:ln>
        </p:spPr>
      </p:sp>
      <p:sp>
        <p:nvSpPr>
          <p:cNvPr id="14" name="Text 12"/>
          <p:cNvSpPr txBox="1"/>
          <p:nvPr/>
        </p:nvSpPr>
        <p:spPr>
          <a:xfrm>
            <a:off x="8386877" y="2633472"/>
            <a:ext cx="2931566" cy="201168"/>
          </a:xfrm>
          <a:prstGeom prst="rect">
            <a:avLst/>
          </a:prstGeom>
          <a:noFill/>
          <a:ln/>
        </p:spPr>
        <p:txBody>
          <a:bodyPr wrap="square" lIns="0" tIns="0" rIns="0" bIns="0" rtlCol="0" anchor="ctr"/>
          <a:lstStyle/>
          <a:p>
            <a:pPr indent="0" marL="0">
              <a:buNone/>
            </a:pPr>
            <a:r>
              <a:rPr lang="en-US" sz="900" b="1" spc="260" kern="0" dirty="0">
                <a:solidFill>
                  <a:srgbClr val="4CC3EA"/>
                </a:solidFill>
                <a:latin typeface="Calibri" pitchFamily="34" charset="0"/>
                <a:ea typeface="Calibri" pitchFamily="34" charset="-122"/>
                <a:cs typeface="Calibri" pitchFamily="34" charset="-120"/>
              </a:rPr>
              <a:t>BÜTÜNLÜK</a:t>
            </a:r>
            <a:endParaRPr lang="en-US" sz="900" dirty="0"/>
          </a:p>
        </p:txBody>
      </p:sp>
      <p:sp>
        <p:nvSpPr>
          <p:cNvPr id="15" name="Text 13"/>
          <p:cNvSpPr txBox="1"/>
          <p:nvPr/>
        </p:nvSpPr>
        <p:spPr>
          <a:xfrm>
            <a:off x="8386877" y="2926080"/>
            <a:ext cx="2931566" cy="310896"/>
          </a:xfrm>
          <a:prstGeom prst="rect">
            <a:avLst/>
          </a:prstGeom>
          <a:noFill/>
          <a:ln/>
        </p:spPr>
        <p:txBody>
          <a:bodyPr wrap="square" lIns="0" tIns="0" rIns="0" bIns="0" rtlCol="0" anchor="ctr"/>
          <a:lstStyle/>
          <a:p>
            <a:pPr indent="0" marL="0">
              <a:buNone/>
            </a:pPr>
            <a:r>
              <a:rPr lang="en-US" sz="1450" b="1" dirty="0">
                <a:solidFill>
                  <a:srgbClr val="E9F2F8"/>
                </a:solidFill>
                <a:latin typeface="Calibri" pitchFamily="34" charset="0"/>
                <a:ea typeface="Calibri" pitchFamily="34" charset="-122"/>
                <a:cs typeface="Calibri" pitchFamily="34" charset="-120"/>
              </a:rPr>
              <a:t>Belge değişirse</a:t>
            </a:r>
            <a:endParaRPr lang="en-US" sz="1450" dirty="0"/>
          </a:p>
        </p:txBody>
      </p:sp>
      <p:sp>
        <p:nvSpPr>
          <p:cNvPr id="16" name="Text 14"/>
          <p:cNvSpPr txBox="1"/>
          <p:nvPr/>
        </p:nvSpPr>
        <p:spPr>
          <a:xfrm>
            <a:off x="8386877" y="3310128"/>
            <a:ext cx="2931566" cy="988466"/>
          </a:xfrm>
          <a:prstGeom prst="rect">
            <a:avLst/>
          </a:prstGeom>
          <a:noFill/>
          <a:ln/>
        </p:spPr>
        <p:txBody>
          <a:bodyPr wrap="square" lIns="0" tIns="0" rIns="0" bIns="0" rtlCol="0" anchor="t"/>
          <a:lstStyle/>
          <a:p>
            <a:pPr indent="0" marL="0">
              <a:lnSpc>
                <a:spcPts val="1800"/>
              </a:lnSpc>
              <a:buNone/>
            </a:pPr>
            <a:r>
              <a:rPr lang="en-US" sz="1100" dirty="0">
                <a:solidFill>
                  <a:srgbClr val="A9BCCB"/>
                </a:solidFill>
                <a:latin typeface="Calibri" pitchFamily="34" charset="0"/>
                <a:ea typeface="Calibri" pitchFamily="34" charset="-122"/>
                <a:cs typeface="Calibri" pitchFamily="34" charset="-120"/>
              </a:rPr>
              <a:t>Kaynak belgenin karması saklanır; değişen ya da silinen bir belge örneğin üzerinde bildirilir.</a:t>
            </a:r>
            <a:endParaRPr lang="en-US" sz="1100" dirty="0"/>
          </a:p>
        </p:txBody>
      </p:sp>
      <p:sp>
        <p:nvSpPr>
          <p:cNvPr id="17" name="Shape 15"/>
          <p:cNvSpPr/>
          <p:nvPr/>
        </p:nvSpPr>
        <p:spPr>
          <a:xfrm>
            <a:off x="566928" y="4627778"/>
            <a:ext cx="5394960" cy="1609344"/>
          </a:xfrm>
          <a:prstGeom prst="roundRect">
            <a:avLst>
              <a:gd name="adj" fmla="val 3409"/>
            </a:avLst>
          </a:prstGeom>
          <a:solidFill>
            <a:srgbClr val="121C2E">
              <a:alpha val="74000"/>
            </a:srgbClr>
          </a:solidFill>
          <a:ln w="12700">
            <a:solidFill>
              <a:srgbClr val="24384B"/>
            </a:solidFill>
            <a:prstDash val="solid"/>
          </a:ln>
        </p:spPr>
      </p:sp>
      <p:sp>
        <p:nvSpPr>
          <p:cNvPr id="18" name="Text 16"/>
          <p:cNvSpPr txBox="1"/>
          <p:nvPr/>
        </p:nvSpPr>
        <p:spPr>
          <a:xfrm>
            <a:off x="841248" y="4902098"/>
            <a:ext cx="4846320" cy="201168"/>
          </a:xfrm>
          <a:prstGeom prst="rect">
            <a:avLst/>
          </a:prstGeom>
          <a:noFill/>
          <a:ln/>
        </p:spPr>
        <p:txBody>
          <a:bodyPr wrap="square" lIns="0" tIns="0" rIns="0" bIns="0" rtlCol="0" anchor="ctr"/>
          <a:lstStyle/>
          <a:p>
            <a:pPr indent="0" marL="0">
              <a:buNone/>
            </a:pPr>
            <a:r>
              <a:rPr lang="en-US" sz="900" b="1" spc="260" kern="0" dirty="0">
                <a:solidFill>
                  <a:srgbClr val="4CC3EA"/>
                </a:solidFill>
                <a:latin typeface="Calibri" pitchFamily="34" charset="0"/>
                <a:ea typeface="Calibri" pitchFamily="34" charset="-122"/>
                <a:cs typeface="Calibri" pitchFamily="34" charset="-120"/>
              </a:rPr>
              <a:t>PRATIK</a:t>
            </a:r>
            <a:endParaRPr lang="en-US" sz="900" dirty="0"/>
          </a:p>
        </p:txBody>
      </p:sp>
      <p:sp>
        <p:nvSpPr>
          <p:cNvPr id="19" name="Text 17"/>
          <p:cNvSpPr txBox="1"/>
          <p:nvPr/>
        </p:nvSpPr>
        <p:spPr>
          <a:xfrm>
            <a:off x="841248" y="5194706"/>
            <a:ext cx="4846320" cy="310896"/>
          </a:xfrm>
          <a:prstGeom prst="rect">
            <a:avLst/>
          </a:prstGeom>
          <a:noFill/>
          <a:ln/>
        </p:spPr>
        <p:txBody>
          <a:bodyPr wrap="square" lIns="0" tIns="0" rIns="0" bIns="0" rtlCol="0" anchor="ctr"/>
          <a:lstStyle/>
          <a:p>
            <a:pPr indent="0" marL="0">
              <a:buNone/>
            </a:pPr>
            <a:r>
              <a:rPr lang="en-US" sz="1500" b="1" dirty="0">
                <a:solidFill>
                  <a:srgbClr val="E9F2F8"/>
                </a:solidFill>
                <a:latin typeface="Calibri" pitchFamily="34" charset="0"/>
                <a:ea typeface="Calibri" pitchFamily="34" charset="-122"/>
                <a:cs typeface="Calibri" pitchFamily="34" charset="-120"/>
              </a:rPr>
              <a:t>Oturum</a:t>
            </a:r>
            <a:endParaRPr lang="en-US" sz="1500" dirty="0"/>
          </a:p>
        </p:txBody>
      </p:sp>
      <p:sp>
        <p:nvSpPr>
          <p:cNvPr id="20" name="Text 18"/>
          <p:cNvSpPr txBox="1"/>
          <p:nvPr/>
        </p:nvSpPr>
        <p:spPr>
          <a:xfrm>
            <a:off x="841248" y="5578754"/>
            <a:ext cx="4846320" cy="530352"/>
          </a:xfrm>
          <a:prstGeom prst="rect">
            <a:avLst/>
          </a:prstGeom>
          <a:noFill/>
          <a:ln/>
        </p:spPr>
        <p:txBody>
          <a:bodyPr wrap="square" lIns="0" tIns="0" rIns="0" bIns="0" rtlCol="0" anchor="t"/>
          <a:lstStyle/>
          <a:p>
            <a:pPr indent="0" marL="0">
              <a:lnSpc>
                <a:spcPts val="1800"/>
              </a:lnSpc>
              <a:buNone/>
            </a:pPr>
            <a:r>
              <a:rPr lang="en-US" sz="1100" dirty="0">
                <a:solidFill>
                  <a:srgbClr val="A9BCCB"/>
                </a:solidFill>
                <a:latin typeface="Calibri" pitchFamily="34" charset="0"/>
                <a:ea typeface="Calibri" pitchFamily="34" charset="-122"/>
                <a:cs typeface="Calibri" pitchFamily="34" charset="-120"/>
              </a:rPr>
              <a:t>Çalışma ya da 15–300 sn süreli. En çok on örnek, en az görülenden başlayarak; aynı görüntü iki kez gelmez, cevap verilene kadar gizli kalır.</a:t>
            </a:r>
            <a:endParaRPr lang="en-US" sz="1100" dirty="0"/>
          </a:p>
        </p:txBody>
      </p:sp>
      <p:sp>
        <p:nvSpPr>
          <p:cNvPr id="21" name="Shape 19"/>
          <p:cNvSpPr/>
          <p:nvPr/>
        </p:nvSpPr>
        <p:spPr>
          <a:xfrm>
            <a:off x="6199632" y="4627778"/>
            <a:ext cx="5394960" cy="1609344"/>
          </a:xfrm>
          <a:prstGeom prst="roundRect">
            <a:avLst>
              <a:gd name="adj" fmla="val 3409"/>
            </a:avLst>
          </a:prstGeom>
          <a:solidFill>
            <a:srgbClr val="121C2E">
              <a:alpha val="74000"/>
            </a:srgbClr>
          </a:solidFill>
          <a:ln w="12700">
            <a:solidFill>
              <a:srgbClr val="8EE0FF"/>
            </a:solidFill>
            <a:prstDash val="solid"/>
          </a:ln>
        </p:spPr>
      </p:sp>
      <p:sp>
        <p:nvSpPr>
          <p:cNvPr id="22" name="Text 20"/>
          <p:cNvSpPr txBox="1"/>
          <p:nvPr/>
        </p:nvSpPr>
        <p:spPr>
          <a:xfrm>
            <a:off x="6473952" y="4902098"/>
            <a:ext cx="4846320" cy="201168"/>
          </a:xfrm>
          <a:prstGeom prst="rect">
            <a:avLst/>
          </a:prstGeom>
          <a:noFill/>
          <a:ln/>
        </p:spPr>
        <p:txBody>
          <a:bodyPr wrap="square" lIns="0" tIns="0" rIns="0" bIns="0" rtlCol="0" anchor="ctr"/>
          <a:lstStyle/>
          <a:p>
            <a:pPr indent="0" marL="0">
              <a:buNone/>
            </a:pPr>
            <a:r>
              <a:rPr lang="en-US" sz="900" b="1" spc="260" kern="0" dirty="0">
                <a:solidFill>
                  <a:srgbClr val="4CC3EA"/>
                </a:solidFill>
                <a:latin typeface="Calibri" pitchFamily="34" charset="0"/>
                <a:ea typeface="Calibri" pitchFamily="34" charset="-122"/>
                <a:cs typeface="Calibri" pitchFamily="34" charset="-120"/>
              </a:rPr>
              <a:t>ÖLÇME</a:t>
            </a:r>
            <a:endParaRPr lang="en-US" sz="900" dirty="0"/>
          </a:p>
        </p:txBody>
      </p:sp>
      <p:sp>
        <p:nvSpPr>
          <p:cNvPr id="23" name="Text 21"/>
          <p:cNvSpPr txBox="1"/>
          <p:nvPr/>
        </p:nvSpPr>
        <p:spPr>
          <a:xfrm>
            <a:off x="6473952" y="5194706"/>
            <a:ext cx="4846320" cy="310896"/>
          </a:xfrm>
          <a:prstGeom prst="rect">
            <a:avLst/>
          </a:prstGeom>
          <a:noFill/>
          <a:ln/>
        </p:spPr>
        <p:txBody>
          <a:bodyPr wrap="square" lIns="0" tIns="0" rIns="0" bIns="0" rtlCol="0" anchor="ctr"/>
          <a:lstStyle/>
          <a:p>
            <a:pPr indent="0" marL="0">
              <a:buNone/>
            </a:pPr>
            <a:r>
              <a:rPr lang="en-US" sz="1500" b="1" dirty="0">
                <a:solidFill>
                  <a:srgbClr val="E9F2F8"/>
                </a:solidFill>
                <a:latin typeface="Calibri" pitchFamily="34" charset="0"/>
                <a:ea typeface="Calibri" pitchFamily="34" charset="-122"/>
                <a:cs typeface="Calibri" pitchFamily="34" charset="-120"/>
              </a:rPr>
              <a:t>İki sonuç kaydedilir</a:t>
            </a:r>
            <a:endParaRPr lang="en-US" sz="1500" dirty="0"/>
          </a:p>
        </p:txBody>
      </p:sp>
      <p:sp>
        <p:nvSpPr>
          <p:cNvPr id="24" name="Text 22"/>
          <p:cNvSpPr txBox="1"/>
          <p:nvPr/>
        </p:nvSpPr>
        <p:spPr>
          <a:xfrm>
            <a:off x="6473952" y="5578754"/>
            <a:ext cx="4846320" cy="530352"/>
          </a:xfrm>
          <a:prstGeom prst="rect">
            <a:avLst/>
          </a:prstGeom>
          <a:noFill/>
          <a:ln/>
        </p:spPr>
        <p:txBody>
          <a:bodyPr wrap="square" lIns="0" tIns="0" rIns="0" bIns="0" rtlCol="0" anchor="t"/>
          <a:lstStyle/>
          <a:p>
            <a:pPr indent="0" marL="0">
              <a:lnSpc>
                <a:spcPts val="1800"/>
              </a:lnSpc>
              <a:buNone/>
            </a:pPr>
            <a:r>
              <a:rPr lang="en-US" sz="1100" dirty="0">
                <a:solidFill>
                  <a:srgbClr val="A9BCCB"/>
                </a:solidFill>
                <a:latin typeface="Calibri" pitchFamily="34" charset="0"/>
                <a:ea typeface="Calibri" pitchFamily="34" charset="-122"/>
                <a:cs typeface="Calibri" pitchFamily="34" charset="-120"/>
              </a:rPr>
              <a:t>Tanıma (Türkçe/Latince katlamayla eşlenir) ve açıklama (puanlı maddelerde tek model çağrısıyla: özgül, kısmi, genel, yanlış). Süresi dolan cevap boş sayılır.</a:t>
            </a:r>
            <a:endParaRPr lang="en-US" sz="1100" dirty="0"/>
          </a:p>
        </p:txBody>
      </p:sp>
      <p:sp>
        <p:nvSpPr>
          <p:cNvPr id="25" name="Text 23"/>
          <p:cNvSpPr txBox="1"/>
          <p:nvPr/>
        </p:nvSpPr>
        <p:spPr>
          <a:xfrm>
            <a:off x="566928" y="6382512"/>
            <a:ext cx="2377440" cy="237744"/>
          </a:xfrm>
          <a:prstGeom prst="rect">
            <a:avLst/>
          </a:prstGeom>
          <a:noFill/>
          <a:ln/>
        </p:spPr>
        <p:txBody>
          <a:bodyPr wrap="square" lIns="0" tIns="0" rIns="0" bIns="0" rtlCol="0" anchor="ctr"/>
          <a:lstStyle/>
          <a:p>
            <a:pPr indent="0" marL="0">
              <a:buNone/>
            </a:pPr>
            <a:r>
              <a:rPr lang="en-US" sz="850" spc="220" kern="0" dirty="0">
                <a:solidFill>
                  <a:srgbClr val="43566A"/>
                </a:solidFill>
                <a:latin typeface="Calibri" pitchFamily="34" charset="0"/>
                <a:ea typeface="Calibri" pitchFamily="34" charset="-122"/>
                <a:cs typeface="Calibri" pitchFamily="34" charset="-120"/>
              </a:rPr>
              <a:t>TIP AKADEMİSİ</a:t>
            </a:r>
            <a:endParaRPr lang="en-US" sz="850" dirty="0"/>
          </a:p>
        </p:txBody>
      </p:sp>
      <p:sp>
        <p:nvSpPr>
          <p:cNvPr id="26" name="Text 24"/>
          <p:cNvSpPr txBox="1"/>
          <p:nvPr/>
        </p:nvSpPr>
        <p:spPr>
          <a:xfrm>
            <a:off x="8229600" y="6382512"/>
            <a:ext cx="3364992" cy="237744"/>
          </a:xfrm>
          <a:prstGeom prst="rect">
            <a:avLst/>
          </a:prstGeom>
          <a:noFill/>
          <a:ln/>
        </p:spPr>
        <p:txBody>
          <a:bodyPr wrap="square" lIns="0" tIns="0" rIns="0" bIns="0" rtlCol="0" anchor="ctr"/>
          <a:lstStyle/>
          <a:p>
            <a:pPr algn="r" indent="0" marL="0">
              <a:buNone/>
            </a:pPr>
            <a:r>
              <a:rPr lang="en-US" sz="850" spc="220" kern="0" dirty="0">
                <a:solidFill>
                  <a:srgbClr val="43566A"/>
                </a:solidFill>
                <a:latin typeface="Calibri" pitchFamily="34" charset="0"/>
                <a:ea typeface="Calibri" pitchFamily="34" charset="-122"/>
                <a:cs typeface="Calibri" pitchFamily="34" charset="-120"/>
              </a:rPr>
              <a:t>27  ·  Öğrenme</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66928" y="566928"/>
            <a:ext cx="7680960" cy="237744"/>
          </a:xfrm>
          <a:prstGeom prst="rect">
            <a:avLst/>
          </a:prstGeom>
          <a:noFill/>
          <a:ln/>
        </p:spPr>
        <p:txBody>
          <a:bodyPr wrap="square" lIns="0" tIns="0" rIns="0" bIns="0" rtlCol="0" anchor="ctr"/>
          <a:lstStyle/>
          <a:p>
            <a:pPr indent="0" marL="0">
              <a:buNone/>
            </a:pPr>
            <a:r>
              <a:rPr lang="en-US" sz="1000" b="1" spc="340" kern="0" dirty="0">
                <a:solidFill>
                  <a:srgbClr val="4CC3EA"/>
                </a:solidFill>
                <a:latin typeface="Calibri" pitchFamily="34" charset="0"/>
                <a:ea typeface="Calibri" pitchFamily="34" charset="-122"/>
                <a:cs typeface="Calibri" pitchFamily="34" charset="-120"/>
              </a:rPr>
              <a:t>ÖĞRENME</a:t>
            </a:r>
            <a:endParaRPr lang="en-US" sz="1000" dirty="0"/>
          </a:p>
        </p:txBody>
      </p:sp>
      <p:sp>
        <p:nvSpPr>
          <p:cNvPr id="3" name="Text 1"/>
          <p:cNvSpPr txBox="1"/>
          <p:nvPr/>
        </p:nvSpPr>
        <p:spPr>
          <a:xfrm>
            <a:off x="548640" y="841248"/>
            <a:ext cx="8229600" cy="786384"/>
          </a:xfrm>
          <a:prstGeom prst="rect">
            <a:avLst/>
          </a:prstGeom>
          <a:noFill/>
          <a:ln/>
        </p:spPr>
        <p:txBody>
          <a:bodyPr wrap="square" lIns="0" tIns="0" rIns="0" bIns="0" rtlCol="0" anchor="t"/>
          <a:lstStyle/>
          <a:p>
            <a:pPr indent="0" marL="0">
              <a:buNone/>
            </a:pPr>
            <a:r>
              <a:rPr lang="en-US" sz="3600" spc="40" kern="0" dirty="0">
                <a:solidFill>
                  <a:srgbClr val="E9F2F8"/>
                </a:solidFill>
                <a:latin typeface="Calibri" pitchFamily="34" charset="0"/>
                <a:ea typeface="Calibri" pitchFamily="34" charset="-122"/>
                <a:cs typeface="Calibri" pitchFamily="34" charset="-120"/>
              </a:rPr>
              <a:t>Sesli anlatım</a:t>
            </a:r>
            <a:endParaRPr lang="en-US" sz="3600" dirty="0"/>
          </a:p>
        </p:txBody>
      </p:sp>
      <p:sp>
        <p:nvSpPr>
          <p:cNvPr id="4" name="Text 2"/>
          <p:cNvSpPr txBox="1"/>
          <p:nvPr/>
        </p:nvSpPr>
        <p:spPr>
          <a:xfrm>
            <a:off x="566928" y="1719072"/>
            <a:ext cx="10881360" cy="822960"/>
          </a:xfrm>
          <a:prstGeom prst="rect">
            <a:avLst/>
          </a:prstGeom>
          <a:noFill/>
          <a:ln/>
        </p:spPr>
        <p:txBody>
          <a:bodyPr wrap="square" lIns="0" tIns="0" rIns="0" bIns="0" rtlCol="0" anchor="t"/>
          <a:lstStyle/>
          <a:p>
            <a:pPr indent="0" marL="0">
              <a:lnSpc>
                <a:spcPts val="2200"/>
              </a:lnSpc>
              <a:buNone/>
            </a:pPr>
            <a:r>
              <a:rPr lang="en-US" sz="1450" dirty="0">
                <a:solidFill>
                  <a:srgbClr val="A9BCCB"/>
                </a:solidFill>
                <a:latin typeface="Calibri" pitchFamily="34" charset="0"/>
                <a:ea typeface="Calibri" pitchFamily="34" charset="-122"/>
                <a:cs typeface="Calibri" pitchFamily="34" charset="-120"/>
              </a:rPr>
              <a:t>Bir ders sesli okunabilir ve öğrenci istediği yerde durdurup anlamadığını sorabilir.</a:t>
            </a:r>
            <a:endParaRPr lang="en-US" sz="1450" dirty="0"/>
          </a:p>
        </p:txBody>
      </p:sp>
      <p:sp>
        <p:nvSpPr>
          <p:cNvPr id="5" name="Shape 3"/>
          <p:cNvSpPr/>
          <p:nvPr/>
        </p:nvSpPr>
        <p:spPr>
          <a:xfrm>
            <a:off x="566928" y="2615184"/>
            <a:ext cx="3480206" cy="2981858"/>
          </a:xfrm>
          <a:prstGeom prst="roundRect">
            <a:avLst>
              <a:gd name="adj" fmla="val 1840"/>
            </a:avLst>
          </a:prstGeom>
          <a:solidFill>
            <a:srgbClr val="121C2E">
              <a:alpha val="74000"/>
            </a:srgbClr>
          </a:solidFill>
          <a:ln w="12700">
            <a:solidFill>
              <a:srgbClr val="24384B"/>
            </a:solidFill>
            <a:prstDash val="solid"/>
          </a:ln>
        </p:spPr>
      </p:sp>
      <p:sp>
        <p:nvSpPr>
          <p:cNvPr id="6" name="Text 4"/>
          <p:cNvSpPr txBox="1"/>
          <p:nvPr/>
        </p:nvSpPr>
        <p:spPr>
          <a:xfrm>
            <a:off x="841248" y="2889504"/>
            <a:ext cx="2931566" cy="201168"/>
          </a:xfrm>
          <a:prstGeom prst="rect">
            <a:avLst/>
          </a:prstGeom>
          <a:noFill/>
          <a:ln/>
        </p:spPr>
        <p:txBody>
          <a:bodyPr wrap="square" lIns="0" tIns="0" rIns="0" bIns="0" rtlCol="0" anchor="ctr"/>
          <a:lstStyle/>
          <a:p>
            <a:pPr indent="0" marL="0">
              <a:buNone/>
            </a:pPr>
            <a:r>
              <a:rPr lang="en-US" sz="900" b="1" spc="260" kern="0" dirty="0">
                <a:solidFill>
                  <a:srgbClr val="4CC3EA"/>
                </a:solidFill>
                <a:latin typeface="Calibri" pitchFamily="34" charset="0"/>
                <a:ea typeface="Calibri" pitchFamily="34" charset="-122"/>
                <a:cs typeface="Calibri" pitchFamily="34" charset="-120"/>
              </a:rPr>
              <a:t>NARRATIONBUILDER</a:t>
            </a:r>
            <a:endParaRPr lang="en-US" sz="900" dirty="0"/>
          </a:p>
        </p:txBody>
      </p:sp>
      <p:sp>
        <p:nvSpPr>
          <p:cNvPr id="7" name="Text 5"/>
          <p:cNvSpPr txBox="1"/>
          <p:nvPr/>
        </p:nvSpPr>
        <p:spPr>
          <a:xfrm>
            <a:off x="841248" y="3182112"/>
            <a:ext cx="2931566" cy="310896"/>
          </a:xfrm>
          <a:prstGeom prst="rect">
            <a:avLst/>
          </a:prstGeom>
          <a:noFill/>
          <a:ln/>
        </p:spPr>
        <p:txBody>
          <a:bodyPr wrap="square" lIns="0" tIns="0" rIns="0" bIns="0" rtlCol="0" anchor="ctr"/>
          <a:lstStyle/>
          <a:p>
            <a:pPr indent="0" marL="0">
              <a:buNone/>
            </a:pPr>
            <a:r>
              <a:rPr lang="en-US" sz="1500" b="1" dirty="0">
                <a:solidFill>
                  <a:srgbClr val="E9F2F8"/>
                </a:solidFill>
                <a:latin typeface="Calibri" pitchFamily="34" charset="0"/>
                <a:ea typeface="Calibri" pitchFamily="34" charset="-122"/>
                <a:cs typeface="Calibri" pitchFamily="34" charset="-120"/>
              </a:rPr>
              <a:t>Senaryo</a:t>
            </a:r>
            <a:endParaRPr lang="en-US" sz="1500" dirty="0"/>
          </a:p>
        </p:txBody>
      </p:sp>
      <p:sp>
        <p:nvSpPr>
          <p:cNvPr id="8" name="Text 6"/>
          <p:cNvSpPr txBox="1"/>
          <p:nvPr/>
        </p:nvSpPr>
        <p:spPr>
          <a:xfrm>
            <a:off x="841248" y="3566160"/>
            <a:ext cx="2931566" cy="1902866"/>
          </a:xfrm>
          <a:prstGeom prst="rect">
            <a:avLst/>
          </a:prstGeom>
          <a:noFill/>
          <a:ln/>
        </p:spPr>
        <p:txBody>
          <a:bodyPr wrap="square" lIns="0" tIns="0" rIns="0" bIns="0" rtlCol="0" anchor="t"/>
          <a:lstStyle/>
          <a:p>
            <a:pPr indent="0" marL="0">
              <a:lnSpc>
                <a:spcPts val="1800"/>
              </a:lnSpc>
              <a:buNone/>
            </a:pPr>
            <a:r>
              <a:rPr lang="en-US" sz="1100" dirty="0">
                <a:solidFill>
                  <a:srgbClr val="A9BCCB"/>
                </a:solidFill>
                <a:latin typeface="Calibri" pitchFamily="34" charset="0"/>
                <a:ea typeface="Calibri" pitchFamily="34" charset="-122"/>
                <a:cs typeface="Calibri" pitchFamily="34" charset="-120"/>
              </a:rPr>
              <a:t>Model altışar sayfa alır ve doğal konuşma Türkçesiyle 70–170 kelimelik bölümler yazar: Latince terimler tam söylenir, liste ve biçimlendirme yoktur. Her bölüm başlığını ve kapsadığı sayfaları taşır.</a:t>
            </a:r>
            <a:endParaRPr lang="en-US" sz="1100" dirty="0"/>
          </a:p>
          <a:p>
            <a:pPr indent="0" marL="0">
              <a:lnSpc>
                <a:spcPts val="1800"/>
              </a:lnSpc>
              <a:buNone/>
            </a:pPr>
            <a:endParaRPr lang="en-US" sz="1100" dirty="0"/>
          </a:p>
          <a:p>
            <a:pPr indent="0" marL="0">
              <a:lnSpc>
                <a:spcPts val="1800"/>
              </a:lnSpc>
              <a:buNone/>
            </a:pPr>
            <a:r>
              <a:rPr lang="en-US" sz="1100" dirty="0">
                <a:solidFill>
                  <a:srgbClr val="A9BCCB"/>
                </a:solidFill>
                <a:latin typeface="Calibri" pitchFamily="34" charset="0"/>
                <a:ea typeface="Calibri" pitchFamily="34" charset="-122"/>
                <a:cs typeface="Calibri" pitchFamily="34" charset="-120"/>
              </a:rPr>
              <a:t>Model yoksa sayfalar olduğu gibi okunur ve senaryonun notu bunu söyler.</a:t>
            </a:r>
            <a:endParaRPr lang="en-US" sz="1100" dirty="0"/>
          </a:p>
        </p:txBody>
      </p:sp>
      <p:sp>
        <p:nvSpPr>
          <p:cNvPr id="9" name="Shape 7"/>
          <p:cNvSpPr/>
          <p:nvPr/>
        </p:nvSpPr>
        <p:spPr>
          <a:xfrm>
            <a:off x="4339742" y="2615184"/>
            <a:ext cx="3480206" cy="2981858"/>
          </a:xfrm>
          <a:prstGeom prst="roundRect">
            <a:avLst>
              <a:gd name="adj" fmla="val 1840"/>
            </a:avLst>
          </a:prstGeom>
          <a:solidFill>
            <a:srgbClr val="121C2E">
              <a:alpha val="74000"/>
            </a:srgbClr>
          </a:solidFill>
          <a:ln w="12700">
            <a:solidFill>
              <a:srgbClr val="8EE0FF"/>
            </a:solidFill>
            <a:prstDash val="solid"/>
          </a:ln>
        </p:spPr>
      </p:sp>
      <p:sp>
        <p:nvSpPr>
          <p:cNvPr id="10" name="Text 8"/>
          <p:cNvSpPr txBox="1"/>
          <p:nvPr/>
        </p:nvSpPr>
        <p:spPr>
          <a:xfrm>
            <a:off x="4614062" y="2889504"/>
            <a:ext cx="2931566" cy="201168"/>
          </a:xfrm>
          <a:prstGeom prst="rect">
            <a:avLst/>
          </a:prstGeom>
          <a:noFill/>
          <a:ln/>
        </p:spPr>
        <p:txBody>
          <a:bodyPr wrap="square" lIns="0" tIns="0" rIns="0" bIns="0" rtlCol="0" anchor="ctr"/>
          <a:lstStyle/>
          <a:p>
            <a:pPr indent="0" marL="0">
              <a:buNone/>
            </a:pPr>
            <a:r>
              <a:rPr lang="en-US" sz="900" b="1" spc="260" kern="0" dirty="0">
                <a:solidFill>
                  <a:srgbClr val="4CC3EA"/>
                </a:solidFill>
                <a:latin typeface="Calibri" pitchFamily="34" charset="0"/>
                <a:ea typeface="Calibri" pitchFamily="34" charset="-122"/>
                <a:cs typeface="Calibri" pitchFamily="34" charset="-120"/>
              </a:rPr>
              <a:t>NARRATIONPLAYER</a:t>
            </a:r>
            <a:endParaRPr lang="en-US" sz="900" dirty="0"/>
          </a:p>
        </p:txBody>
      </p:sp>
      <p:sp>
        <p:nvSpPr>
          <p:cNvPr id="11" name="Text 9"/>
          <p:cNvSpPr txBox="1"/>
          <p:nvPr/>
        </p:nvSpPr>
        <p:spPr>
          <a:xfrm>
            <a:off x="4614062" y="3182112"/>
            <a:ext cx="2931566" cy="310896"/>
          </a:xfrm>
          <a:prstGeom prst="rect">
            <a:avLst/>
          </a:prstGeom>
          <a:noFill/>
          <a:ln/>
        </p:spPr>
        <p:txBody>
          <a:bodyPr wrap="square" lIns="0" tIns="0" rIns="0" bIns="0" rtlCol="0" anchor="ctr"/>
          <a:lstStyle/>
          <a:p>
            <a:pPr indent="0" marL="0">
              <a:buNone/>
            </a:pPr>
            <a:r>
              <a:rPr lang="en-US" sz="1500" b="1" dirty="0">
                <a:solidFill>
                  <a:srgbClr val="E9F2F8"/>
                </a:solidFill>
                <a:latin typeface="Calibri" pitchFamily="34" charset="0"/>
                <a:ea typeface="Calibri" pitchFamily="34" charset="-122"/>
                <a:cs typeface="Calibri" pitchFamily="34" charset="-120"/>
              </a:rPr>
              <a:t>Oynatıcı</a:t>
            </a:r>
            <a:endParaRPr lang="en-US" sz="1500" dirty="0"/>
          </a:p>
        </p:txBody>
      </p:sp>
      <p:sp>
        <p:nvSpPr>
          <p:cNvPr id="12" name="Text 10"/>
          <p:cNvSpPr txBox="1"/>
          <p:nvPr/>
        </p:nvSpPr>
        <p:spPr>
          <a:xfrm>
            <a:off x="4614062" y="3566160"/>
            <a:ext cx="2931566" cy="1902866"/>
          </a:xfrm>
          <a:prstGeom prst="rect">
            <a:avLst/>
          </a:prstGeom>
          <a:noFill/>
          <a:ln/>
        </p:spPr>
        <p:txBody>
          <a:bodyPr wrap="square" lIns="0" tIns="0" rIns="0" bIns="0" rtlCol="0" anchor="t"/>
          <a:lstStyle/>
          <a:p>
            <a:pPr indent="0" marL="0">
              <a:lnSpc>
                <a:spcPts val="1800"/>
              </a:lnSpc>
              <a:buNone/>
            </a:pPr>
            <a:r>
              <a:rPr lang="en-US" sz="1100" dirty="0">
                <a:solidFill>
                  <a:srgbClr val="A9BCCB"/>
                </a:solidFill>
                <a:latin typeface="Calibri" pitchFamily="34" charset="0"/>
                <a:ea typeface="Calibri" pitchFamily="34" charset="-122"/>
                <a:cs typeface="Calibri" pitchFamily="34" charset="-120"/>
              </a:rPr>
              <a:t>Bölüm yaklaşık iki yüz karakterlik cümle gruplarıyla okunur, böylece bir komut bir iki cümle içinde etki eder: duraklat, devam, sonraki, önceki, dur, yazılı soru, mikrofonla soru.</a:t>
            </a:r>
            <a:endParaRPr lang="en-US" sz="1100" dirty="0"/>
          </a:p>
          <a:p>
            <a:pPr indent="0" marL="0">
              <a:lnSpc>
                <a:spcPts val="1800"/>
              </a:lnSpc>
              <a:buNone/>
            </a:pPr>
            <a:endParaRPr lang="en-US" sz="1100" dirty="0"/>
          </a:p>
          <a:p>
            <a:pPr indent="0" marL="0">
              <a:lnSpc>
                <a:spcPts val="1800"/>
              </a:lnSpc>
              <a:buNone/>
            </a:pPr>
            <a:r>
              <a:rPr lang="en-US" sz="1100" dirty="0">
                <a:solidFill>
                  <a:srgbClr val="A9BCCB"/>
                </a:solidFill>
                <a:latin typeface="Calibri" pitchFamily="34" charset="0"/>
                <a:ea typeface="Calibri" pitchFamily="34" charset="-122"/>
                <a:cs typeface="Calibri" pitchFamily="34" charset="-120"/>
              </a:rPr>
              <a:t>Soru okumayı duraklatır, o bölümden ve çevresindeki sayfalardan en çok dört cümleyle yanıtlanır, sonra aynı yerden devam edilir.</a:t>
            </a:r>
            <a:endParaRPr lang="en-US" sz="1100" dirty="0"/>
          </a:p>
        </p:txBody>
      </p:sp>
      <p:sp>
        <p:nvSpPr>
          <p:cNvPr id="13" name="Shape 11"/>
          <p:cNvSpPr/>
          <p:nvPr/>
        </p:nvSpPr>
        <p:spPr>
          <a:xfrm>
            <a:off x="8112557" y="2615184"/>
            <a:ext cx="3480206" cy="2981858"/>
          </a:xfrm>
          <a:prstGeom prst="roundRect">
            <a:avLst>
              <a:gd name="adj" fmla="val 1840"/>
            </a:avLst>
          </a:prstGeom>
          <a:solidFill>
            <a:srgbClr val="121C2E">
              <a:alpha val="74000"/>
            </a:srgbClr>
          </a:solidFill>
          <a:ln w="12700">
            <a:solidFill>
              <a:srgbClr val="B8A8FF"/>
            </a:solidFill>
            <a:prstDash val="solid"/>
          </a:ln>
        </p:spPr>
      </p:sp>
      <p:sp>
        <p:nvSpPr>
          <p:cNvPr id="14" name="Text 12"/>
          <p:cNvSpPr txBox="1"/>
          <p:nvPr/>
        </p:nvSpPr>
        <p:spPr>
          <a:xfrm>
            <a:off x="8386877" y="2889504"/>
            <a:ext cx="2931566" cy="201168"/>
          </a:xfrm>
          <a:prstGeom prst="rect">
            <a:avLst/>
          </a:prstGeom>
          <a:noFill/>
          <a:ln/>
        </p:spPr>
        <p:txBody>
          <a:bodyPr wrap="square" lIns="0" tIns="0" rIns="0" bIns="0" rtlCol="0" anchor="ctr"/>
          <a:lstStyle/>
          <a:p>
            <a:pPr indent="0" marL="0">
              <a:buNone/>
            </a:pPr>
            <a:r>
              <a:rPr lang="en-US" sz="900" b="1" spc="260" kern="0" dirty="0">
                <a:solidFill>
                  <a:srgbClr val="4CC3EA"/>
                </a:solidFill>
                <a:latin typeface="Calibri" pitchFamily="34" charset="0"/>
                <a:ea typeface="Calibri" pitchFamily="34" charset="-122"/>
                <a:cs typeface="Calibri" pitchFamily="34" charset="-120"/>
              </a:rPr>
              <a:t>NARRATIONSPEAKER</a:t>
            </a:r>
            <a:endParaRPr lang="en-US" sz="900" dirty="0"/>
          </a:p>
        </p:txBody>
      </p:sp>
      <p:sp>
        <p:nvSpPr>
          <p:cNvPr id="15" name="Text 13"/>
          <p:cNvSpPr txBox="1"/>
          <p:nvPr/>
        </p:nvSpPr>
        <p:spPr>
          <a:xfrm>
            <a:off x="8386877" y="3182112"/>
            <a:ext cx="2931566" cy="310896"/>
          </a:xfrm>
          <a:prstGeom prst="rect">
            <a:avLst/>
          </a:prstGeom>
          <a:noFill/>
          <a:ln/>
        </p:spPr>
        <p:txBody>
          <a:bodyPr wrap="square" lIns="0" tIns="0" rIns="0" bIns="0" rtlCol="0" anchor="ctr"/>
          <a:lstStyle/>
          <a:p>
            <a:pPr indent="0" marL="0">
              <a:buNone/>
            </a:pPr>
            <a:r>
              <a:rPr lang="en-US" sz="1500" b="1" dirty="0">
                <a:solidFill>
                  <a:srgbClr val="E9F2F8"/>
                </a:solidFill>
                <a:latin typeface="Calibri" pitchFamily="34" charset="0"/>
                <a:ea typeface="Calibri" pitchFamily="34" charset="-122"/>
                <a:cs typeface="Calibri" pitchFamily="34" charset="-120"/>
              </a:rPr>
              <a:t>Ses</a:t>
            </a:r>
            <a:endParaRPr lang="en-US" sz="1500" dirty="0"/>
          </a:p>
        </p:txBody>
      </p:sp>
      <p:sp>
        <p:nvSpPr>
          <p:cNvPr id="16" name="Text 14"/>
          <p:cNvSpPr txBox="1"/>
          <p:nvPr/>
        </p:nvSpPr>
        <p:spPr>
          <a:xfrm>
            <a:off x="8386877" y="3566160"/>
            <a:ext cx="2931566" cy="1902866"/>
          </a:xfrm>
          <a:prstGeom prst="rect">
            <a:avLst/>
          </a:prstGeom>
          <a:noFill/>
          <a:ln/>
        </p:spPr>
        <p:txBody>
          <a:bodyPr wrap="square" lIns="0" tIns="0" rIns="0" bIns="0" rtlCol="0" anchor="t"/>
          <a:lstStyle/>
          <a:p>
            <a:pPr indent="0" marL="0">
              <a:lnSpc>
                <a:spcPts val="1800"/>
              </a:lnSpc>
              <a:buNone/>
            </a:pPr>
            <a:r>
              <a:rPr lang="en-US" sz="1100" dirty="0">
                <a:solidFill>
                  <a:srgbClr val="A9BCCB"/>
                </a:solidFill>
                <a:latin typeface="Calibri" pitchFamily="34" charset="0"/>
                <a:ea typeface="Calibri" pitchFamily="34" charset="-122"/>
                <a:cs typeface="Calibri" pitchFamily="34" charset="-120"/>
              </a:rPr>
              <a:t>Varsayılan yerel Windows sesidir: günlük kotası yoktur ve dersin ortasında ses değiştirmez.</a:t>
            </a:r>
            <a:endParaRPr lang="en-US" sz="1100" dirty="0"/>
          </a:p>
          <a:p>
            <a:pPr indent="0" marL="0">
              <a:lnSpc>
                <a:spcPts val="1800"/>
              </a:lnSpc>
              <a:buNone/>
            </a:pPr>
            <a:endParaRPr lang="en-US" sz="1100" dirty="0"/>
          </a:p>
          <a:p>
            <a:pPr indent="0" marL="0">
              <a:lnSpc>
                <a:spcPts val="1800"/>
              </a:lnSpc>
              <a:buNone/>
            </a:pPr>
            <a:r>
              <a:rPr lang="en-US" sz="1100" dirty="0">
                <a:solidFill>
                  <a:srgbClr val="A9BCCB"/>
                </a:solidFill>
                <a:latin typeface="Calibri" pitchFamily="34" charset="0"/>
                <a:ea typeface="Calibri" pitchFamily="34" charset="-122"/>
                <a:cs typeface="Calibri" pitchFamily="34" charset="-120"/>
              </a:rPr>
              <a:t>Bulut sesi seçilirse kotası bitene kadar okur, gerisi yerel sesle ve nedenini söyleyen bir notla sürer.</a:t>
            </a:r>
            <a:endParaRPr lang="en-US" sz="1100" dirty="0"/>
          </a:p>
          <a:p>
            <a:pPr indent="0" marL="0">
              <a:lnSpc>
                <a:spcPts val="1800"/>
              </a:lnSpc>
              <a:buNone/>
            </a:pPr>
            <a:endParaRPr lang="en-US" sz="1100" dirty="0"/>
          </a:p>
          <a:p>
            <a:pPr indent="0" marL="0">
              <a:lnSpc>
                <a:spcPts val="1800"/>
              </a:lnSpc>
              <a:buNone/>
            </a:pPr>
            <a:r>
              <a:rPr lang="en-US" sz="1100" dirty="0">
                <a:solidFill>
                  <a:srgbClr val="A9BCCB"/>
                </a:solidFill>
                <a:latin typeface="Calibri" pitchFamily="34" charset="0"/>
                <a:ea typeface="Calibri" pitchFamily="34" charset="-122"/>
                <a:cs typeface="Calibri" pitchFamily="34" charset="-120"/>
              </a:rPr>
              <a:t>Anlatım ve sesli oturum aynı mikrofonu paylaşır; biri çalışırken diğeri başlamaz.</a:t>
            </a:r>
            <a:endParaRPr lang="en-US" sz="1100" dirty="0"/>
          </a:p>
        </p:txBody>
      </p:sp>
      <p:sp>
        <p:nvSpPr>
          <p:cNvPr id="17" name="Text 15"/>
          <p:cNvSpPr txBox="1"/>
          <p:nvPr/>
        </p:nvSpPr>
        <p:spPr>
          <a:xfrm>
            <a:off x="566928" y="6382512"/>
            <a:ext cx="2377440" cy="237744"/>
          </a:xfrm>
          <a:prstGeom prst="rect">
            <a:avLst/>
          </a:prstGeom>
          <a:noFill/>
          <a:ln/>
        </p:spPr>
        <p:txBody>
          <a:bodyPr wrap="square" lIns="0" tIns="0" rIns="0" bIns="0" rtlCol="0" anchor="ctr"/>
          <a:lstStyle/>
          <a:p>
            <a:pPr indent="0" marL="0">
              <a:buNone/>
            </a:pPr>
            <a:r>
              <a:rPr lang="en-US" sz="850" spc="220" kern="0" dirty="0">
                <a:solidFill>
                  <a:srgbClr val="43566A"/>
                </a:solidFill>
                <a:latin typeface="Calibri" pitchFamily="34" charset="0"/>
                <a:ea typeface="Calibri" pitchFamily="34" charset="-122"/>
                <a:cs typeface="Calibri" pitchFamily="34" charset="-120"/>
              </a:rPr>
              <a:t>TIP AKADEMİSİ</a:t>
            </a:r>
            <a:endParaRPr lang="en-US" sz="850" dirty="0"/>
          </a:p>
        </p:txBody>
      </p:sp>
      <p:sp>
        <p:nvSpPr>
          <p:cNvPr id="18" name="Text 16"/>
          <p:cNvSpPr txBox="1"/>
          <p:nvPr/>
        </p:nvSpPr>
        <p:spPr>
          <a:xfrm>
            <a:off x="8229600" y="6382512"/>
            <a:ext cx="3364992" cy="237744"/>
          </a:xfrm>
          <a:prstGeom prst="rect">
            <a:avLst/>
          </a:prstGeom>
          <a:noFill/>
          <a:ln/>
        </p:spPr>
        <p:txBody>
          <a:bodyPr wrap="square" lIns="0" tIns="0" rIns="0" bIns="0" rtlCol="0" anchor="ctr"/>
          <a:lstStyle/>
          <a:p>
            <a:pPr algn="r" indent="0" marL="0">
              <a:buNone/>
            </a:pPr>
            <a:r>
              <a:rPr lang="en-US" sz="850" spc="220" kern="0" dirty="0">
                <a:solidFill>
                  <a:srgbClr val="43566A"/>
                </a:solidFill>
                <a:latin typeface="Calibri" pitchFamily="34" charset="0"/>
                <a:ea typeface="Calibri" pitchFamily="34" charset="-122"/>
                <a:cs typeface="Calibri" pitchFamily="34" charset="-120"/>
              </a:rPr>
              <a:t>28  ·  Öğrenme</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035040" y="2286000"/>
            <a:ext cx="1828800" cy="1097280"/>
          </a:xfrm>
          <a:prstGeom prst="rect">
            <a:avLst/>
          </a:prstGeom>
          <a:noFill/>
          <a:ln/>
        </p:spPr>
        <p:txBody>
          <a:bodyPr wrap="square" lIns="0" tIns="0" rIns="0" bIns="0" rtlCol="0" anchor="ctr"/>
          <a:lstStyle/>
          <a:p>
            <a:pPr indent="0" marL="0">
              <a:buNone/>
            </a:pPr>
            <a:r>
              <a:rPr lang="en-US" sz="7400" b="1" dirty="0">
                <a:solidFill>
                  <a:srgbClr val="1B7BA0"/>
                </a:solidFill>
                <a:latin typeface="Calibri" pitchFamily="34" charset="0"/>
                <a:ea typeface="Calibri" pitchFamily="34" charset="-122"/>
                <a:cs typeface="Calibri" pitchFamily="34" charset="-120"/>
              </a:rPr>
              <a:t>VI</a:t>
            </a:r>
            <a:endParaRPr lang="en-US" sz="7400" dirty="0"/>
          </a:p>
        </p:txBody>
      </p:sp>
      <p:sp>
        <p:nvSpPr>
          <p:cNvPr id="3" name="Text 1"/>
          <p:cNvSpPr txBox="1"/>
          <p:nvPr/>
        </p:nvSpPr>
        <p:spPr>
          <a:xfrm>
            <a:off x="6053328" y="3456432"/>
            <a:ext cx="7680960" cy="237744"/>
          </a:xfrm>
          <a:prstGeom prst="rect">
            <a:avLst/>
          </a:prstGeom>
          <a:noFill/>
          <a:ln/>
        </p:spPr>
        <p:txBody>
          <a:bodyPr wrap="square" lIns="0" tIns="0" rIns="0" bIns="0" rtlCol="0" anchor="ctr"/>
          <a:lstStyle/>
          <a:p>
            <a:pPr indent="0" marL="0">
              <a:buNone/>
            </a:pPr>
            <a:r>
              <a:rPr lang="en-US" sz="1000" b="1" spc="340" kern="0" dirty="0">
                <a:solidFill>
                  <a:srgbClr val="4CC3EA"/>
                </a:solidFill>
                <a:latin typeface="Calibri" pitchFamily="34" charset="0"/>
                <a:ea typeface="Calibri" pitchFamily="34" charset="-122"/>
                <a:cs typeface="Calibri" pitchFamily="34" charset="-120"/>
              </a:rPr>
              <a:t>BÖLÜM ALTI</a:t>
            </a:r>
            <a:endParaRPr lang="en-US" sz="1000" dirty="0"/>
          </a:p>
        </p:txBody>
      </p:sp>
      <p:sp>
        <p:nvSpPr>
          <p:cNvPr id="4" name="Text 2"/>
          <p:cNvSpPr txBox="1"/>
          <p:nvPr/>
        </p:nvSpPr>
        <p:spPr>
          <a:xfrm>
            <a:off x="6035040" y="3712464"/>
            <a:ext cx="5577840" cy="868680"/>
          </a:xfrm>
          <a:prstGeom prst="rect">
            <a:avLst/>
          </a:prstGeom>
          <a:noFill/>
          <a:ln/>
        </p:spPr>
        <p:txBody>
          <a:bodyPr wrap="square" lIns="0" tIns="0" rIns="0" bIns="0" rtlCol="0" anchor="ctr"/>
          <a:lstStyle/>
          <a:p>
            <a:pPr indent="0" marL="0">
              <a:buNone/>
            </a:pPr>
            <a:r>
              <a:rPr lang="en-US" sz="3800" spc="40" kern="0" dirty="0">
                <a:solidFill>
                  <a:srgbClr val="E9F2F8"/>
                </a:solidFill>
                <a:latin typeface="Calibri" pitchFamily="34" charset="0"/>
                <a:ea typeface="Calibri" pitchFamily="34" charset="-122"/>
                <a:cs typeface="Calibri" pitchFamily="34" charset="-120"/>
              </a:rPr>
              <a:t>Anatomi Lab</a:t>
            </a:r>
            <a:endParaRPr lang="en-US" sz="3800" dirty="0"/>
          </a:p>
        </p:txBody>
      </p:sp>
      <p:sp>
        <p:nvSpPr>
          <p:cNvPr id="5" name="Text 3"/>
          <p:cNvSpPr txBox="1"/>
          <p:nvPr/>
        </p:nvSpPr>
        <p:spPr>
          <a:xfrm>
            <a:off x="6053328" y="4590288"/>
            <a:ext cx="5394960" cy="822960"/>
          </a:xfrm>
          <a:prstGeom prst="rect">
            <a:avLst/>
          </a:prstGeom>
          <a:noFill/>
          <a:ln/>
        </p:spPr>
        <p:txBody>
          <a:bodyPr wrap="square" lIns="0" tIns="0" rIns="0" bIns="0" rtlCol="0" anchor="t"/>
          <a:lstStyle/>
          <a:p>
            <a:pPr indent="0" marL="0">
              <a:lnSpc>
                <a:spcPts val="2200"/>
              </a:lnSpc>
              <a:buNone/>
            </a:pPr>
            <a:r>
              <a:rPr lang="en-US" sz="1350" dirty="0">
                <a:solidFill>
                  <a:srgbClr val="A9BCCB"/>
                </a:solidFill>
                <a:latin typeface="Calibri" pitchFamily="34" charset="0"/>
                <a:ea typeface="Calibri" pitchFamily="34" charset="-122"/>
                <a:cs typeface="Calibri" pitchFamily="34" charset="-120"/>
              </a:rPr>
              <a:t>Gerçek meshler, gerçek lisanslar, türetilmiş her işaret noktası açıkça “yaklaşık” damgalı.</a:t>
            </a:r>
            <a:endParaRPr lang="en-US" sz="1350" dirty="0"/>
          </a:p>
        </p:txBody>
      </p:sp>
      <p:sp>
        <p:nvSpPr>
          <p:cNvPr id="6" name="Text 4"/>
          <p:cNvSpPr txBox="1"/>
          <p:nvPr/>
        </p:nvSpPr>
        <p:spPr>
          <a:xfrm>
            <a:off x="566928" y="6382512"/>
            <a:ext cx="2377440" cy="237744"/>
          </a:xfrm>
          <a:prstGeom prst="rect">
            <a:avLst/>
          </a:prstGeom>
          <a:noFill/>
          <a:ln/>
        </p:spPr>
        <p:txBody>
          <a:bodyPr wrap="square" lIns="0" tIns="0" rIns="0" bIns="0" rtlCol="0" anchor="ctr"/>
          <a:lstStyle/>
          <a:p>
            <a:pPr indent="0" marL="0">
              <a:buNone/>
            </a:pPr>
            <a:r>
              <a:rPr lang="en-US" sz="850" spc="220" kern="0" dirty="0">
                <a:solidFill>
                  <a:srgbClr val="43566A"/>
                </a:solidFill>
                <a:latin typeface="Calibri" pitchFamily="34" charset="0"/>
                <a:ea typeface="Calibri" pitchFamily="34" charset="-122"/>
                <a:cs typeface="Calibri" pitchFamily="34" charset="-120"/>
              </a:rPr>
              <a:t>TIP AKADEMİSİ</a:t>
            </a:r>
            <a:endParaRPr lang="en-US" sz="850" dirty="0"/>
          </a:p>
        </p:txBody>
      </p:sp>
      <p:sp>
        <p:nvSpPr>
          <p:cNvPr id="7" name="Text 5"/>
          <p:cNvSpPr txBox="1"/>
          <p:nvPr/>
        </p:nvSpPr>
        <p:spPr>
          <a:xfrm>
            <a:off x="8229600" y="6382512"/>
            <a:ext cx="3364992" cy="237744"/>
          </a:xfrm>
          <a:prstGeom prst="rect">
            <a:avLst/>
          </a:prstGeom>
          <a:noFill/>
          <a:ln/>
        </p:spPr>
        <p:txBody>
          <a:bodyPr wrap="square" lIns="0" tIns="0" rIns="0" bIns="0" rtlCol="0" anchor="ctr"/>
          <a:lstStyle/>
          <a:p>
            <a:pPr algn="r" indent="0" marL="0">
              <a:buNone/>
            </a:pPr>
            <a:r>
              <a:rPr lang="en-US" sz="850" spc="220" kern="0" dirty="0">
                <a:solidFill>
                  <a:srgbClr val="43566A"/>
                </a:solidFill>
                <a:latin typeface="Calibri" pitchFamily="34" charset="0"/>
                <a:ea typeface="Calibri" pitchFamily="34" charset="-122"/>
                <a:cs typeface="Calibri" pitchFamily="34" charset="-120"/>
              </a:rPr>
              <a:t>29</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66928" y="530352"/>
            <a:ext cx="7680960" cy="237744"/>
          </a:xfrm>
          <a:prstGeom prst="rect">
            <a:avLst/>
          </a:prstGeom>
          <a:noFill/>
          <a:ln/>
        </p:spPr>
        <p:txBody>
          <a:bodyPr wrap="square" lIns="0" tIns="0" rIns="0" bIns="0" rtlCol="0" anchor="ctr"/>
          <a:lstStyle/>
          <a:p>
            <a:pPr indent="0" marL="0">
              <a:buNone/>
            </a:pPr>
            <a:r>
              <a:rPr lang="en-US" sz="1000" b="1" spc="340" kern="0" dirty="0">
                <a:solidFill>
                  <a:srgbClr val="4CC3EA"/>
                </a:solidFill>
                <a:latin typeface="Calibri" pitchFamily="34" charset="0"/>
                <a:ea typeface="Calibri" pitchFamily="34" charset="-122"/>
                <a:cs typeface="Calibri" pitchFamily="34" charset="-120"/>
              </a:rPr>
              <a:t>ANATOMI LAB</a:t>
            </a:r>
            <a:endParaRPr lang="en-US" sz="1000" dirty="0"/>
          </a:p>
        </p:txBody>
      </p:sp>
      <p:sp>
        <p:nvSpPr>
          <p:cNvPr id="3" name="Text 1"/>
          <p:cNvSpPr txBox="1"/>
          <p:nvPr/>
        </p:nvSpPr>
        <p:spPr>
          <a:xfrm>
            <a:off x="548640" y="786384"/>
            <a:ext cx="8778240" cy="786384"/>
          </a:xfrm>
          <a:prstGeom prst="rect">
            <a:avLst/>
          </a:prstGeom>
          <a:noFill/>
          <a:ln/>
        </p:spPr>
        <p:txBody>
          <a:bodyPr wrap="square" lIns="0" tIns="0" rIns="0" bIns="0" rtlCol="0" anchor="t"/>
          <a:lstStyle/>
          <a:p>
            <a:pPr indent="0" marL="0">
              <a:buNone/>
            </a:pPr>
            <a:r>
              <a:rPr lang="en-US" sz="3100" spc="40" kern="0" dirty="0">
                <a:solidFill>
                  <a:srgbClr val="E9F2F8"/>
                </a:solidFill>
                <a:latin typeface="Calibri" pitchFamily="34" charset="0"/>
                <a:ea typeface="Calibri" pitchFamily="34" charset="-122"/>
                <a:cs typeface="Calibri" pitchFamily="34" charset="-120"/>
              </a:rPr>
              <a:t>Elde tutulan bir kemik gibi</a:t>
            </a:r>
            <a:endParaRPr lang="en-US" sz="3100" dirty="0"/>
          </a:p>
        </p:txBody>
      </p:sp>
      <p:sp>
        <p:nvSpPr>
          <p:cNvPr id="4" name="Shape 2"/>
          <p:cNvSpPr/>
          <p:nvPr/>
        </p:nvSpPr>
        <p:spPr>
          <a:xfrm>
            <a:off x="525780" y="1513332"/>
            <a:ext cx="6812280" cy="4288536"/>
          </a:xfrm>
          <a:prstGeom prst="roundRect">
            <a:avLst>
              <a:gd name="adj" fmla="val 853"/>
            </a:avLst>
          </a:prstGeom>
          <a:solidFill>
            <a:srgbClr val="1B7BA0">
              <a:alpha val="18000"/>
            </a:srgbClr>
          </a:solidFill>
          <a:ln w="12700">
            <a:solidFill>
              <a:srgbClr val="31506A"/>
            </a:solidFill>
            <a:prstDash val="solid"/>
          </a:ln>
        </p:spPr>
      </p:sp>
      <p:pic>
        <p:nvPicPr>
          <p:cNvPr id="5" name="Image 0" descr="img/shots/12_anatomi_lab.jpg">    </p:cNvPr>
          <p:cNvPicPr>
            <a:picLocks noChangeAspect="1"/>
          </p:cNvPicPr>
          <p:nvPr/>
        </p:nvPicPr>
        <p:blipFill>
          <a:blip r:embed="rId2"/>
          <a:stretch>
            <a:fillRect/>
          </a:stretch>
        </p:blipFill>
        <p:spPr>
          <a:xfrm>
            <a:off x="566928" y="1554480"/>
            <a:ext cx="6729984" cy="4206240"/>
          </a:xfrm>
          <a:prstGeom prst="rect">
            <a:avLst/>
          </a:prstGeom>
        </p:spPr>
      </p:pic>
      <p:sp>
        <p:nvSpPr>
          <p:cNvPr id="6" name="Shape 3"/>
          <p:cNvSpPr/>
          <p:nvPr/>
        </p:nvSpPr>
        <p:spPr>
          <a:xfrm>
            <a:off x="7516368" y="1554480"/>
            <a:ext cx="4078224" cy="1838858"/>
          </a:xfrm>
          <a:prstGeom prst="roundRect">
            <a:avLst>
              <a:gd name="adj" fmla="val 2984"/>
            </a:avLst>
          </a:prstGeom>
          <a:solidFill>
            <a:srgbClr val="121C2E">
              <a:alpha val="74000"/>
            </a:srgbClr>
          </a:solidFill>
          <a:ln w="12700">
            <a:solidFill>
              <a:srgbClr val="24384B"/>
            </a:solidFill>
            <a:prstDash val="solid"/>
          </a:ln>
        </p:spPr>
      </p:sp>
      <p:sp>
        <p:nvSpPr>
          <p:cNvPr id="7" name="Text 4"/>
          <p:cNvSpPr txBox="1"/>
          <p:nvPr/>
        </p:nvSpPr>
        <p:spPr>
          <a:xfrm>
            <a:off x="7790688" y="1828800"/>
            <a:ext cx="3529584" cy="201168"/>
          </a:xfrm>
          <a:prstGeom prst="rect">
            <a:avLst/>
          </a:prstGeom>
          <a:noFill/>
          <a:ln/>
        </p:spPr>
        <p:txBody>
          <a:bodyPr wrap="square" lIns="0" tIns="0" rIns="0" bIns="0" rtlCol="0" anchor="ctr"/>
          <a:lstStyle/>
          <a:p>
            <a:pPr indent="0" marL="0">
              <a:buNone/>
            </a:pPr>
            <a:r>
              <a:rPr lang="en-US" sz="900" b="1" spc="260" kern="0" dirty="0">
                <a:solidFill>
                  <a:srgbClr val="4CC3EA"/>
                </a:solidFill>
                <a:latin typeface="Calibri" pitchFamily="34" charset="0"/>
                <a:ea typeface="Calibri" pitchFamily="34" charset="-122"/>
                <a:cs typeface="Calibri" pitchFamily="34" charset="-120"/>
              </a:rPr>
              <a:t>GÖRÜNÜM</a:t>
            </a:r>
            <a:endParaRPr lang="en-US" sz="900" dirty="0"/>
          </a:p>
        </p:txBody>
      </p:sp>
      <p:sp>
        <p:nvSpPr>
          <p:cNvPr id="8" name="Text 5"/>
          <p:cNvSpPr txBox="1"/>
          <p:nvPr/>
        </p:nvSpPr>
        <p:spPr>
          <a:xfrm>
            <a:off x="7790688" y="2121408"/>
            <a:ext cx="3529584" cy="310896"/>
          </a:xfrm>
          <a:prstGeom prst="rect">
            <a:avLst/>
          </a:prstGeom>
          <a:noFill/>
          <a:ln/>
        </p:spPr>
        <p:txBody>
          <a:bodyPr wrap="square" lIns="0" tIns="0" rIns="0" bIns="0" rtlCol="0" anchor="ctr"/>
          <a:lstStyle/>
          <a:p>
            <a:pPr indent="0" marL="0">
              <a:buNone/>
            </a:pPr>
            <a:r>
              <a:rPr lang="en-US" sz="1450" b="1" dirty="0">
                <a:solidFill>
                  <a:srgbClr val="E9F2F8"/>
                </a:solidFill>
                <a:latin typeface="Calibri" pitchFamily="34" charset="0"/>
                <a:ea typeface="Calibri" pitchFamily="34" charset="-122"/>
                <a:cs typeface="Calibri" pitchFamily="34" charset="-120"/>
              </a:rPr>
              <a:t>Sahne, tek kemik değil</a:t>
            </a:r>
            <a:endParaRPr lang="en-US" sz="1450" dirty="0"/>
          </a:p>
        </p:txBody>
      </p:sp>
      <p:sp>
        <p:nvSpPr>
          <p:cNvPr id="9" name="Text 6"/>
          <p:cNvSpPr txBox="1"/>
          <p:nvPr/>
        </p:nvSpPr>
        <p:spPr>
          <a:xfrm>
            <a:off x="7790688" y="2505456"/>
            <a:ext cx="3529584" cy="759866"/>
          </a:xfrm>
          <a:prstGeom prst="rect">
            <a:avLst/>
          </a:prstGeom>
          <a:noFill/>
          <a:ln/>
        </p:spPr>
        <p:txBody>
          <a:bodyPr wrap="square" lIns="0" tIns="0" rIns="0" bIns="0" rtlCol="0" anchor="t"/>
          <a:lstStyle/>
          <a:p>
            <a:pPr indent="0" marL="0">
              <a:lnSpc>
                <a:spcPts val="1800"/>
              </a:lnSpc>
              <a:buNone/>
            </a:pPr>
            <a:r>
              <a:rPr lang="en-US" sz="1100" dirty="0">
                <a:solidFill>
                  <a:srgbClr val="A9BCCB"/>
                </a:solidFill>
                <a:latin typeface="Calibri" pitchFamily="34" charset="0"/>
                <a:ea typeface="Calibri" pitchFamily="34" charset="-122"/>
                <a:cs typeface="Calibri" pitchFamily="34" charset="-120"/>
              </a:rPr>
              <a:t>Lab, veri kümesinin kullandığı tek beden çerçevesinde sahnenin tüm meshlerini açar; türüne göre renklenir (kemik, kas, arter, ven) ve her tür kendi etiketiyle gizlenip gösterilir.</a:t>
            </a:r>
            <a:endParaRPr lang="en-US" sz="1100" dirty="0"/>
          </a:p>
        </p:txBody>
      </p:sp>
      <p:sp>
        <p:nvSpPr>
          <p:cNvPr id="10" name="Shape 7"/>
          <p:cNvSpPr/>
          <p:nvPr/>
        </p:nvSpPr>
        <p:spPr>
          <a:xfrm>
            <a:off x="7516368" y="3594506"/>
            <a:ext cx="4078224" cy="2067458"/>
          </a:xfrm>
          <a:prstGeom prst="roundRect">
            <a:avLst>
              <a:gd name="adj" fmla="val 2654"/>
            </a:avLst>
          </a:prstGeom>
          <a:solidFill>
            <a:srgbClr val="121C2E">
              <a:alpha val="74000"/>
            </a:srgbClr>
          </a:solidFill>
          <a:ln w="12700">
            <a:solidFill>
              <a:srgbClr val="8EE0FF"/>
            </a:solidFill>
            <a:prstDash val="solid"/>
          </a:ln>
        </p:spPr>
      </p:sp>
      <p:sp>
        <p:nvSpPr>
          <p:cNvPr id="11" name="Text 8"/>
          <p:cNvSpPr txBox="1"/>
          <p:nvPr/>
        </p:nvSpPr>
        <p:spPr>
          <a:xfrm>
            <a:off x="7790688" y="3868826"/>
            <a:ext cx="3529584" cy="201168"/>
          </a:xfrm>
          <a:prstGeom prst="rect">
            <a:avLst/>
          </a:prstGeom>
          <a:noFill/>
          <a:ln/>
        </p:spPr>
        <p:txBody>
          <a:bodyPr wrap="square" lIns="0" tIns="0" rIns="0" bIns="0" rtlCol="0" anchor="ctr"/>
          <a:lstStyle/>
          <a:p>
            <a:pPr indent="0" marL="0">
              <a:buNone/>
            </a:pPr>
            <a:r>
              <a:rPr lang="en-US" sz="900" b="1" spc="260" kern="0" dirty="0">
                <a:solidFill>
                  <a:srgbClr val="4CC3EA"/>
                </a:solidFill>
                <a:latin typeface="Calibri" pitchFamily="34" charset="0"/>
                <a:ea typeface="Calibri" pitchFamily="34" charset="-122"/>
                <a:cs typeface="Calibri" pitchFamily="34" charset="-120"/>
              </a:rPr>
              <a:t>ETKILEŞIM</a:t>
            </a:r>
            <a:endParaRPr lang="en-US" sz="900" dirty="0"/>
          </a:p>
        </p:txBody>
      </p:sp>
      <p:sp>
        <p:nvSpPr>
          <p:cNvPr id="12" name="Text 9"/>
          <p:cNvSpPr txBox="1"/>
          <p:nvPr/>
        </p:nvSpPr>
        <p:spPr>
          <a:xfrm>
            <a:off x="7790688" y="4161434"/>
            <a:ext cx="3529584" cy="310896"/>
          </a:xfrm>
          <a:prstGeom prst="rect">
            <a:avLst/>
          </a:prstGeom>
          <a:noFill/>
          <a:ln/>
        </p:spPr>
        <p:txBody>
          <a:bodyPr wrap="square" lIns="0" tIns="0" rIns="0" bIns="0" rtlCol="0" anchor="ctr"/>
          <a:lstStyle/>
          <a:p>
            <a:pPr indent="0" marL="0">
              <a:buNone/>
            </a:pPr>
            <a:r>
              <a:rPr lang="en-US" sz="1450" b="1" dirty="0">
                <a:solidFill>
                  <a:srgbClr val="E9F2F8"/>
                </a:solidFill>
                <a:latin typeface="Calibri" pitchFamily="34" charset="0"/>
                <a:ea typeface="Calibri" pitchFamily="34" charset="-122"/>
                <a:cs typeface="Calibri" pitchFamily="34" charset="-120"/>
              </a:rPr>
              <a:t>Sınırsız döndürme</a:t>
            </a:r>
            <a:endParaRPr lang="en-US" sz="1450" dirty="0"/>
          </a:p>
        </p:txBody>
      </p:sp>
      <p:sp>
        <p:nvSpPr>
          <p:cNvPr id="13" name="Text 10"/>
          <p:cNvSpPr txBox="1"/>
          <p:nvPr/>
        </p:nvSpPr>
        <p:spPr>
          <a:xfrm>
            <a:off x="7790688" y="4545482"/>
            <a:ext cx="3529584" cy="988466"/>
          </a:xfrm>
          <a:prstGeom prst="rect">
            <a:avLst/>
          </a:prstGeom>
          <a:noFill/>
          <a:ln/>
        </p:spPr>
        <p:txBody>
          <a:bodyPr wrap="square" lIns="0" tIns="0" rIns="0" bIns="0" rtlCol="0" anchor="t"/>
          <a:lstStyle/>
          <a:p>
            <a:pPr indent="0" marL="0">
              <a:lnSpc>
                <a:spcPts val="1800"/>
              </a:lnSpc>
              <a:buNone/>
            </a:pPr>
            <a:r>
              <a:rPr lang="en-US" sz="1100" dirty="0">
                <a:solidFill>
                  <a:srgbClr val="A9BCCB"/>
                </a:solidFill>
                <a:latin typeface="Calibri" pitchFamily="34" charset="0"/>
                <a:ea typeface="Calibri" pitchFamily="34" charset="-122"/>
                <a:cs typeface="Calibri" pitchFamily="34" charset="-120"/>
              </a:rPr>
              <a:t>Sürükleme modeli izleyicinin kendi eksenlerinde döndürür — sağa çekiş yakın yüzü sağa çevirir — kısıt yoktur, yani bir kemik alttan ya da ters de incelenebilir. Dönüş matris olarak biriktirilir ve her adımda yeniden dikleştirilir.</a:t>
            </a:r>
            <a:endParaRPr lang="en-US" sz="1100" dirty="0"/>
          </a:p>
        </p:txBody>
      </p:sp>
      <p:sp>
        <p:nvSpPr>
          <p:cNvPr id="14" name="Text 11"/>
          <p:cNvSpPr txBox="1"/>
          <p:nvPr/>
        </p:nvSpPr>
        <p:spPr>
          <a:xfrm>
            <a:off x="566928" y="5943600"/>
            <a:ext cx="6729984" cy="274320"/>
          </a:xfrm>
          <a:prstGeom prst="rect">
            <a:avLst/>
          </a:prstGeom>
          <a:noFill/>
          <a:ln/>
        </p:spPr>
        <p:txBody>
          <a:bodyPr wrap="square" lIns="0" tIns="0" rIns="0" bIns="0" rtlCol="0" anchor="ctr"/>
          <a:lstStyle/>
          <a:p>
            <a:pPr indent="0" marL="0">
              <a:buNone/>
            </a:pPr>
            <a:r>
              <a:rPr lang="en-US" sz="1050" dirty="0">
                <a:solidFill>
                  <a:srgbClr val="6F8597"/>
                </a:solidFill>
                <a:latin typeface="Calibri" pitchFamily="34" charset="0"/>
                <a:ea typeface="Calibri" pitchFamily="34" charset="-122"/>
                <a:cs typeface="Calibri" pitchFamily="34" charset="-120"/>
              </a:rPr>
              <a:t>Bir mesh'e tıklamak o yapıyı seçer: seçim geçişi her mesh'i düz bir kimlik renginde çizip imlecin altındaki pikseli okur.</a:t>
            </a:r>
            <a:endParaRPr lang="en-US" sz="1050" dirty="0"/>
          </a:p>
        </p:txBody>
      </p:sp>
      <p:sp>
        <p:nvSpPr>
          <p:cNvPr id="15" name="Text 12"/>
          <p:cNvSpPr txBox="1"/>
          <p:nvPr/>
        </p:nvSpPr>
        <p:spPr>
          <a:xfrm>
            <a:off x="566928" y="6382512"/>
            <a:ext cx="2377440" cy="237744"/>
          </a:xfrm>
          <a:prstGeom prst="rect">
            <a:avLst/>
          </a:prstGeom>
          <a:noFill/>
          <a:ln/>
        </p:spPr>
        <p:txBody>
          <a:bodyPr wrap="square" lIns="0" tIns="0" rIns="0" bIns="0" rtlCol="0" anchor="ctr"/>
          <a:lstStyle/>
          <a:p>
            <a:pPr indent="0" marL="0">
              <a:buNone/>
            </a:pPr>
            <a:r>
              <a:rPr lang="en-US" sz="850" spc="220" kern="0" dirty="0">
                <a:solidFill>
                  <a:srgbClr val="43566A"/>
                </a:solidFill>
                <a:latin typeface="Calibri" pitchFamily="34" charset="0"/>
                <a:ea typeface="Calibri" pitchFamily="34" charset="-122"/>
                <a:cs typeface="Calibri" pitchFamily="34" charset="-120"/>
              </a:rPr>
              <a:t>TIP AKADEMİSİ</a:t>
            </a:r>
            <a:endParaRPr lang="en-US" sz="850" dirty="0"/>
          </a:p>
        </p:txBody>
      </p:sp>
      <p:sp>
        <p:nvSpPr>
          <p:cNvPr id="16" name="Text 13"/>
          <p:cNvSpPr txBox="1"/>
          <p:nvPr/>
        </p:nvSpPr>
        <p:spPr>
          <a:xfrm>
            <a:off x="8229600" y="6382512"/>
            <a:ext cx="3364992" cy="237744"/>
          </a:xfrm>
          <a:prstGeom prst="rect">
            <a:avLst/>
          </a:prstGeom>
          <a:noFill/>
          <a:ln/>
        </p:spPr>
        <p:txBody>
          <a:bodyPr wrap="square" lIns="0" tIns="0" rIns="0" bIns="0" rtlCol="0" anchor="ctr"/>
          <a:lstStyle/>
          <a:p>
            <a:pPr algn="r" indent="0" marL="0">
              <a:buNone/>
            </a:pPr>
            <a:r>
              <a:rPr lang="en-US" sz="850" spc="220" kern="0" dirty="0">
                <a:solidFill>
                  <a:srgbClr val="43566A"/>
                </a:solidFill>
                <a:latin typeface="Calibri" pitchFamily="34" charset="0"/>
                <a:ea typeface="Calibri" pitchFamily="34" charset="-122"/>
                <a:cs typeface="Calibri" pitchFamily="34" charset="-120"/>
              </a:rPr>
              <a:t>30  ·  Anatomi Lab</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66928" y="566928"/>
            <a:ext cx="7680960" cy="237744"/>
          </a:xfrm>
          <a:prstGeom prst="rect">
            <a:avLst/>
          </a:prstGeom>
          <a:noFill/>
          <a:ln/>
        </p:spPr>
        <p:txBody>
          <a:bodyPr wrap="square" lIns="0" tIns="0" rIns="0" bIns="0" rtlCol="0" anchor="ctr"/>
          <a:lstStyle/>
          <a:p>
            <a:pPr indent="0" marL="0">
              <a:buNone/>
            </a:pPr>
            <a:r>
              <a:rPr lang="en-US" sz="1000" b="1" spc="340" kern="0" dirty="0">
                <a:solidFill>
                  <a:srgbClr val="4CC3EA"/>
                </a:solidFill>
                <a:latin typeface="Calibri" pitchFamily="34" charset="0"/>
                <a:ea typeface="Calibri" pitchFamily="34" charset="-122"/>
                <a:cs typeface="Calibri" pitchFamily="34" charset="-120"/>
              </a:rPr>
              <a:t>ANATOMI LAB</a:t>
            </a:r>
            <a:endParaRPr lang="en-US" sz="1000" dirty="0"/>
          </a:p>
        </p:txBody>
      </p:sp>
      <p:sp>
        <p:nvSpPr>
          <p:cNvPr id="3" name="Text 1"/>
          <p:cNvSpPr txBox="1"/>
          <p:nvPr/>
        </p:nvSpPr>
        <p:spPr>
          <a:xfrm>
            <a:off x="548640" y="841248"/>
            <a:ext cx="8229600" cy="786384"/>
          </a:xfrm>
          <a:prstGeom prst="rect">
            <a:avLst/>
          </a:prstGeom>
          <a:noFill/>
          <a:ln/>
        </p:spPr>
        <p:txBody>
          <a:bodyPr wrap="square" lIns="0" tIns="0" rIns="0" bIns="0" rtlCol="0" anchor="t"/>
          <a:lstStyle/>
          <a:p>
            <a:pPr indent="0" marL="0">
              <a:buNone/>
            </a:pPr>
            <a:r>
              <a:rPr lang="en-US" sz="3600" spc="40" kern="0" dirty="0">
                <a:solidFill>
                  <a:srgbClr val="E9F2F8"/>
                </a:solidFill>
                <a:latin typeface="Calibri" pitchFamily="34" charset="0"/>
                <a:ea typeface="Calibri" pitchFamily="34" charset="-122"/>
                <a:cs typeface="Calibri" pitchFamily="34" charset="-120"/>
              </a:rPr>
              <a:t>Geometri asla uydurulmaz</a:t>
            </a:r>
            <a:endParaRPr lang="en-US" sz="3600" dirty="0"/>
          </a:p>
        </p:txBody>
      </p:sp>
      <p:sp>
        <p:nvSpPr>
          <p:cNvPr id="4" name="Text 2"/>
          <p:cNvSpPr txBox="1"/>
          <p:nvPr/>
        </p:nvSpPr>
        <p:spPr>
          <a:xfrm>
            <a:off x="566928" y="1719072"/>
            <a:ext cx="10881360" cy="822960"/>
          </a:xfrm>
          <a:prstGeom prst="rect">
            <a:avLst/>
          </a:prstGeom>
          <a:noFill/>
          <a:ln/>
        </p:spPr>
        <p:txBody>
          <a:bodyPr wrap="square" lIns="0" tIns="0" rIns="0" bIns="0" rtlCol="0" anchor="t"/>
          <a:lstStyle/>
          <a:p>
            <a:pPr indent="0" marL="0">
              <a:lnSpc>
                <a:spcPts val="2200"/>
              </a:lnSpc>
              <a:buNone/>
            </a:pPr>
            <a:r>
              <a:rPr lang="en-US" sz="1400" dirty="0">
                <a:solidFill>
                  <a:srgbClr val="A9BCCB"/>
                </a:solidFill>
                <a:latin typeface="Calibri" pitchFamily="34" charset="0"/>
                <a:ea typeface="Calibri" pitchFamily="34" charset="-122"/>
                <a:cs typeface="Calibri" pitchFamily="34" charset="-120"/>
              </a:rPr>
              <a:t>Bir 3B mesh yalnızca lisanslı bir varlık manifestoda kayıtlıysa çizilir. Lisansı ve kaynağı olmayan bir kayıt reddedilir.</a:t>
            </a:r>
            <a:endParaRPr lang="en-US" sz="1400" dirty="0"/>
          </a:p>
        </p:txBody>
      </p:sp>
      <p:sp>
        <p:nvSpPr>
          <p:cNvPr id="5" name="Shape 3"/>
          <p:cNvSpPr/>
          <p:nvPr/>
        </p:nvSpPr>
        <p:spPr>
          <a:xfrm>
            <a:off x="566928" y="2359152"/>
            <a:ext cx="3480206" cy="2067458"/>
          </a:xfrm>
          <a:prstGeom prst="roundRect">
            <a:avLst>
              <a:gd name="adj" fmla="val 2654"/>
            </a:avLst>
          </a:prstGeom>
          <a:solidFill>
            <a:srgbClr val="121C2E">
              <a:alpha val="74000"/>
            </a:srgbClr>
          </a:solidFill>
          <a:ln w="12700">
            <a:solidFill>
              <a:srgbClr val="24384B"/>
            </a:solidFill>
            <a:prstDash val="solid"/>
          </a:ln>
        </p:spPr>
      </p:sp>
      <p:sp>
        <p:nvSpPr>
          <p:cNvPr id="6" name="Text 4"/>
          <p:cNvSpPr txBox="1"/>
          <p:nvPr/>
        </p:nvSpPr>
        <p:spPr>
          <a:xfrm>
            <a:off x="841248" y="2633472"/>
            <a:ext cx="2931566" cy="201168"/>
          </a:xfrm>
          <a:prstGeom prst="rect">
            <a:avLst/>
          </a:prstGeom>
          <a:noFill/>
          <a:ln/>
        </p:spPr>
        <p:txBody>
          <a:bodyPr wrap="square" lIns="0" tIns="0" rIns="0" bIns="0" rtlCol="0" anchor="ctr"/>
          <a:lstStyle/>
          <a:p>
            <a:pPr indent="0" marL="0">
              <a:buNone/>
            </a:pPr>
            <a:r>
              <a:rPr lang="en-US" sz="900" b="1" spc="260" kern="0" dirty="0">
                <a:solidFill>
                  <a:srgbClr val="4CC3EA"/>
                </a:solidFill>
                <a:latin typeface="Calibri" pitchFamily="34" charset="0"/>
                <a:ea typeface="Calibri" pitchFamily="34" charset="-122"/>
                <a:cs typeface="Calibri" pitchFamily="34" charset="-120"/>
              </a:rPr>
              <a:t>BIRINCI ATLAS</a:t>
            </a:r>
            <a:endParaRPr lang="en-US" sz="900" dirty="0"/>
          </a:p>
        </p:txBody>
      </p:sp>
      <p:sp>
        <p:nvSpPr>
          <p:cNvPr id="7" name="Text 5"/>
          <p:cNvSpPr txBox="1"/>
          <p:nvPr/>
        </p:nvSpPr>
        <p:spPr>
          <a:xfrm>
            <a:off x="841248" y="2926080"/>
            <a:ext cx="2931566" cy="310896"/>
          </a:xfrm>
          <a:prstGeom prst="rect">
            <a:avLst/>
          </a:prstGeom>
          <a:noFill/>
          <a:ln/>
        </p:spPr>
        <p:txBody>
          <a:bodyPr wrap="square" lIns="0" tIns="0" rIns="0" bIns="0" rtlCol="0" anchor="ctr"/>
          <a:lstStyle/>
          <a:p>
            <a:pPr indent="0" marL="0">
              <a:buNone/>
            </a:pPr>
            <a:r>
              <a:rPr lang="en-US" sz="1450" b="1" dirty="0">
                <a:solidFill>
                  <a:srgbClr val="E9F2F8"/>
                </a:solidFill>
                <a:latin typeface="Calibri" pitchFamily="34" charset="0"/>
                <a:ea typeface="Calibri" pitchFamily="34" charset="-122"/>
                <a:cs typeface="Calibri" pitchFamily="34" charset="-120"/>
              </a:rPr>
              <a:t>BodyParts3D</a:t>
            </a:r>
            <a:endParaRPr lang="en-US" sz="1450" dirty="0"/>
          </a:p>
        </p:txBody>
      </p:sp>
      <p:sp>
        <p:nvSpPr>
          <p:cNvPr id="8" name="Text 6"/>
          <p:cNvSpPr txBox="1"/>
          <p:nvPr/>
        </p:nvSpPr>
        <p:spPr>
          <a:xfrm>
            <a:off x="841248" y="3310128"/>
            <a:ext cx="2931566" cy="988466"/>
          </a:xfrm>
          <a:prstGeom prst="rect">
            <a:avLst/>
          </a:prstGeom>
          <a:noFill/>
          <a:ln/>
        </p:spPr>
        <p:txBody>
          <a:bodyPr wrap="square" lIns="0" tIns="0" rIns="0" bIns="0" rtlCol="0" anchor="t"/>
          <a:lstStyle/>
          <a:p>
            <a:pPr indent="0" marL="0">
              <a:lnSpc>
                <a:spcPts val="1800"/>
              </a:lnSpc>
              <a:buNone/>
            </a:pPr>
            <a:r>
              <a:rPr lang="en-US" sz="1100" dirty="0">
                <a:solidFill>
                  <a:srgbClr val="A9BCCB"/>
                </a:solidFill>
                <a:latin typeface="Calibri" pitchFamily="34" charset="0"/>
                <a:ea typeface="Calibri" pitchFamily="34" charset="-122"/>
                <a:cs typeface="Calibri" pitchFamily="34" charset="-120"/>
              </a:rPr>
              <a:t>Arşivi öğrenci indirir; JARVIS hiçbir şey çekmez ve depoya hiçbir mesh eklenmez. İçe aktarıcı sağ üst ekstremitenin 25 yapısını FMA kimliklerinden eşler.</a:t>
            </a:r>
            <a:endParaRPr lang="en-US" sz="1100" dirty="0"/>
          </a:p>
        </p:txBody>
      </p:sp>
      <p:sp>
        <p:nvSpPr>
          <p:cNvPr id="9" name="Shape 7"/>
          <p:cNvSpPr/>
          <p:nvPr/>
        </p:nvSpPr>
        <p:spPr>
          <a:xfrm>
            <a:off x="4339742" y="2359152"/>
            <a:ext cx="3480206" cy="2067458"/>
          </a:xfrm>
          <a:prstGeom prst="roundRect">
            <a:avLst>
              <a:gd name="adj" fmla="val 2654"/>
            </a:avLst>
          </a:prstGeom>
          <a:solidFill>
            <a:srgbClr val="121C2E">
              <a:alpha val="74000"/>
            </a:srgbClr>
          </a:solidFill>
          <a:ln w="12700">
            <a:solidFill>
              <a:srgbClr val="B8A8FF"/>
            </a:solidFill>
            <a:prstDash val="solid"/>
          </a:ln>
        </p:spPr>
      </p:sp>
      <p:sp>
        <p:nvSpPr>
          <p:cNvPr id="10" name="Text 8"/>
          <p:cNvSpPr txBox="1"/>
          <p:nvPr/>
        </p:nvSpPr>
        <p:spPr>
          <a:xfrm>
            <a:off x="4614062" y="2633472"/>
            <a:ext cx="2931566" cy="201168"/>
          </a:xfrm>
          <a:prstGeom prst="rect">
            <a:avLst/>
          </a:prstGeom>
          <a:noFill/>
          <a:ln/>
        </p:spPr>
        <p:txBody>
          <a:bodyPr wrap="square" lIns="0" tIns="0" rIns="0" bIns="0" rtlCol="0" anchor="ctr"/>
          <a:lstStyle/>
          <a:p>
            <a:pPr indent="0" marL="0">
              <a:buNone/>
            </a:pPr>
            <a:r>
              <a:rPr lang="en-US" sz="900" b="1" spc="260" kern="0" dirty="0">
                <a:solidFill>
                  <a:srgbClr val="4CC3EA"/>
                </a:solidFill>
                <a:latin typeface="Calibri" pitchFamily="34" charset="0"/>
                <a:ea typeface="Calibri" pitchFamily="34" charset="-122"/>
                <a:cs typeface="Calibri" pitchFamily="34" charset="-120"/>
              </a:rPr>
              <a:t>İKINCI ATLAS</a:t>
            </a:r>
            <a:endParaRPr lang="en-US" sz="900" dirty="0"/>
          </a:p>
        </p:txBody>
      </p:sp>
      <p:sp>
        <p:nvSpPr>
          <p:cNvPr id="11" name="Text 9"/>
          <p:cNvSpPr txBox="1"/>
          <p:nvPr/>
        </p:nvSpPr>
        <p:spPr>
          <a:xfrm>
            <a:off x="4614062" y="2926080"/>
            <a:ext cx="2931566" cy="310896"/>
          </a:xfrm>
          <a:prstGeom prst="rect">
            <a:avLst/>
          </a:prstGeom>
          <a:noFill/>
          <a:ln/>
        </p:spPr>
        <p:txBody>
          <a:bodyPr wrap="square" lIns="0" tIns="0" rIns="0" bIns="0" rtlCol="0" anchor="ctr"/>
          <a:lstStyle/>
          <a:p>
            <a:pPr indent="0" marL="0">
              <a:buNone/>
            </a:pPr>
            <a:r>
              <a:rPr lang="en-US" sz="1450" b="1" dirty="0">
                <a:solidFill>
                  <a:srgbClr val="E9F2F8"/>
                </a:solidFill>
                <a:latin typeface="Calibri" pitchFamily="34" charset="0"/>
                <a:ea typeface="Calibri" pitchFamily="34" charset="-122"/>
                <a:cs typeface="Calibri" pitchFamily="34" charset="-120"/>
              </a:rPr>
              <a:t>Z-Anatomy</a:t>
            </a:r>
            <a:endParaRPr lang="en-US" sz="1450" dirty="0"/>
          </a:p>
        </p:txBody>
      </p:sp>
      <p:sp>
        <p:nvSpPr>
          <p:cNvPr id="12" name="Text 10"/>
          <p:cNvSpPr txBox="1"/>
          <p:nvPr/>
        </p:nvSpPr>
        <p:spPr>
          <a:xfrm>
            <a:off x="4614062" y="3310128"/>
            <a:ext cx="2931566" cy="988466"/>
          </a:xfrm>
          <a:prstGeom prst="rect">
            <a:avLst/>
          </a:prstGeom>
          <a:noFill/>
          <a:ln/>
        </p:spPr>
        <p:txBody>
          <a:bodyPr wrap="square" lIns="0" tIns="0" rIns="0" bIns="0" rtlCol="0" anchor="t"/>
          <a:lstStyle/>
          <a:p>
            <a:pPr indent="0" marL="0">
              <a:lnSpc>
                <a:spcPts val="1800"/>
              </a:lnSpc>
              <a:buNone/>
            </a:pPr>
            <a:r>
              <a:rPr lang="en-US" sz="1100" dirty="0">
                <a:solidFill>
                  <a:srgbClr val="A9BCCB"/>
                </a:solidFill>
                <a:latin typeface="Calibri" pitchFamily="34" charset="0"/>
                <a:ea typeface="Calibri" pitchFamily="34" charset="-122"/>
                <a:cs typeface="Calibri" pitchFamily="34" charset="-120"/>
              </a:rPr>
              <a:t>BodyParts3D'de çevresel sinir yok. Z-Anatomy aynı bedende sinirleri de taşır. Dağıtımı bir Blender dosyasıdır — ve Blender yalnızca derleme zamanı aracıdır: JARVIS onu hiç çalıştırmaz.</a:t>
            </a:r>
            <a:endParaRPr lang="en-US" sz="1100" dirty="0"/>
          </a:p>
        </p:txBody>
      </p:sp>
      <p:sp>
        <p:nvSpPr>
          <p:cNvPr id="13" name="Shape 11"/>
          <p:cNvSpPr/>
          <p:nvPr/>
        </p:nvSpPr>
        <p:spPr>
          <a:xfrm>
            <a:off x="8112557" y="2359152"/>
            <a:ext cx="3480206" cy="2067458"/>
          </a:xfrm>
          <a:prstGeom prst="roundRect">
            <a:avLst>
              <a:gd name="adj" fmla="val 2654"/>
            </a:avLst>
          </a:prstGeom>
          <a:solidFill>
            <a:srgbClr val="121C2E">
              <a:alpha val="74000"/>
            </a:srgbClr>
          </a:solidFill>
          <a:ln w="12700">
            <a:solidFill>
              <a:srgbClr val="7FE0B2"/>
            </a:solidFill>
            <a:prstDash val="solid"/>
          </a:ln>
        </p:spPr>
      </p:sp>
      <p:sp>
        <p:nvSpPr>
          <p:cNvPr id="14" name="Text 12"/>
          <p:cNvSpPr txBox="1"/>
          <p:nvPr/>
        </p:nvSpPr>
        <p:spPr>
          <a:xfrm>
            <a:off x="8386877" y="2633472"/>
            <a:ext cx="2931566" cy="201168"/>
          </a:xfrm>
          <a:prstGeom prst="rect">
            <a:avLst/>
          </a:prstGeom>
          <a:noFill/>
          <a:ln/>
        </p:spPr>
        <p:txBody>
          <a:bodyPr wrap="square" lIns="0" tIns="0" rIns="0" bIns="0" rtlCol="0" anchor="ctr"/>
          <a:lstStyle/>
          <a:p>
            <a:pPr indent="0" marL="0">
              <a:buNone/>
            </a:pPr>
            <a:r>
              <a:rPr lang="en-US" sz="900" b="1" spc="260" kern="0" dirty="0">
                <a:solidFill>
                  <a:srgbClr val="4CC3EA"/>
                </a:solidFill>
                <a:latin typeface="Calibri" pitchFamily="34" charset="0"/>
                <a:ea typeface="Calibri" pitchFamily="34" charset="-122"/>
                <a:cs typeface="Calibri" pitchFamily="34" charset="-120"/>
              </a:rPr>
              <a:t>DOĞRULUK</a:t>
            </a:r>
            <a:endParaRPr lang="en-US" sz="900" dirty="0"/>
          </a:p>
        </p:txBody>
      </p:sp>
      <p:sp>
        <p:nvSpPr>
          <p:cNvPr id="15" name="Text 13"/>
          <p:cNvSpPr txBox="1"/>
          <p:nvPr/>
        </p:nvSpPr>
        <p:spPr>
          <a:xfrm>
            <a:off x="8386877" y="2926080"/>
            <a:ext cx="2931566" cy="310896"/>
          </a:xfrm>
          <a:prstGeom prst="rect">
            <a:avLst/>
          </a:prstGeom>
          <a:noFill/>
          <a:ln/>
        </p:spPr>
        <p:txBody>
          <a:bodyPr wrap="square" lIns="0" tIns="0" rIns="0" bIns="0" rtlCol="0" anchor="ctr"/>
          <a:lstStyle/>
          <a:p>
            <a:pPr indent="0" marL="0">
              <a:buNone/>
            </a:pPr>
            <a:r>
              <a:rPr lang="en-US" sz="1450" b="1" dirty="0">
                <a:solidFill>
                  <a:srgbClr val="E9F2F8"/>
                </a:solidFill>
                <a:latin typeface="Calibri" pitchFamily="34" charset="0"/>
                <a:ea typeface="Calibri" pitchFamily="34" charset="-122"/>
                <a:cs typeface="Calibri" pitchFamily="34" charset="-120"/>
              </a:rPr>
              <a:t>Etiketler kaymaz</a:t>
            </a:r>
            <a:endParaRPr lang="en-US" sz="1450" dirty="0"/>
          </a:p>
        </p:txBody>
      </p:sp>
      <p:sp>
        <p:nvSpPr>
          <p:cNvPr id="16" name="Text 14"/>
          <p:cNvSpPr txBox="1"/>
          <p:nvPr/>
        </p:nvSpPr>
        <p:spPr>
          <a:xfrm>
            <a:off x="8386877" y="3310128"/>
            <a:ext cx="2931566" cy="988466"/>
          </a:xfrm>
          <a:prstGeom prst="rect">
            <a:avLst/>
          </a:prstGeom>
          <a:noFill/>
          <a:ln/>
        </p:spPr>
        <p:txBody>
          <a:bodyPr wrap="square" lIns="0" tIns="0" rIns="0" bIns="0" rtlCol="0" anchor="t"/>
          <a:lstStyle/>
          <a:p>
            <a:pPr indent="0" marL="0">
              <a:lnSpc>
                <a:spcPts val="1800"/>
              </a:lnSpc>
              <a:buNone/>
            </a:pPr>
            <a:r>
              <a:rPr lang="en-US" sz="1100" dirty="0">
                <a:solidFill>
                  <a:srgbClr val="A9BCCB"/>
                </a:solidFill>
                <a:latin typeface="Calibri" pitchFamily="34" charset="0"/>
                <a:ea typeface="Calibri" pitchFamily="34" charset="-122"/>
                <a:cs typeface="Calibri" pitchFamily="34" charset="-120"/>
              </a:rPr>
              <a:t>İşaret etiketleri mesh'in kendisiyle aynı dönüşümden geçer. Modelin sınırları dışına düşen bir çapa yaklaştırılmaz — hiç çizilmez.</a:t>
            </a:r>
            <a:endParaRPr lang="en-US" sz="1100" dirty="0"/>
          </a:p>
        </p:txBody>
      </p:sp>
      <p:sp>
        <p:nvSpPr>
          <p:cNvPr id="17" name="Shape 15"/>
          <p:cNvSpPr/>
          <p:nvPr/>
        </p:nvSpPr>
        <p:spPr>
          <a:xfrm>
            <a:off x="566928" y="4627778"/>
            <a:ext cx="5394960" cy="1609344"/>
          </a:xfrm>
          <a:prstGeom prst="roundRect">
            <a:avLst>
              <a:gd name="adj" fmla="val 3409"/>
            </a:avLst>
          </a:prstGeom>
          <a:solidFill>
            <a:srgbClr val="121C2E">
              <a:alpha val="74000"/>
            </a:srgbClr>
          </a:solidFill>
          <a:ln w="12700">
            <a:solidFill>
              <a:srgbClr val="F0C68A"/>
            </a:solidFill>
            <a:prstDash val="solid"/>
          </a:ln>
        </p:spPr>
      </p:sp>
      <p:sp>
        <p:nvSpPr>
          <p:cNvPr id="18" name="Text 16"/>
          <p:cNvSpPr txBox="1"/>
          <p:nvPr/>
        </p:nvSpPr>
        <p:spPr>
          <a:xfrm>
            <a:off x="841248" y="4902098"/>
            <a:ext cx="4846320" cy="201168"/>
          </a:xfrm>
          <a:prstGeom prst="rect">
            <a:avLst/>
          </a:prstGeom>
          <a:noFill/>
          <a:ln/>
        </p:spPr>
        <p:txBody>
          <a:bodyPr wrap="square" lIns="0" tIns="0" rIns="0" bIns="0" rtlCol="0" anchor="ctr"/>
          <a:lstStyle/>
          <a:p>
            <a:pPr indent="0" marL="0">
              <a:buNone/>
            </a:pPr>
            <a:r>
              <a:rPr lang="en-US" sz="900" b="1" spc="260" kern="0" dirty="0">
                <a:solidFill>
                  <a:srgbClr val="4CC3EA"/>
                </a:solidFill>
                <a:latin typeface="Calibri" pitchFamily="34" charset="0"/>
                <a:ea typeface="Calibri" pitchFamily="34" charset="-122"/>
                <a:cs typeface="Calibri" pitchFamily="34" charset="-120"/>
              </a:rPr>
              <a:t>DÜRÜST SINIR</a:t>
            </a:r>
            <a:endParaRPr lang="en-US" sz="900" dirty="0"/>
          </a:p>
        </p:txBody>
      </p:sp>
      <p:sp>
        <p:nvSpPr>
          <p:cNvPr id="19" name="Text 17"/>
          <p:cNvSpPr txBox="1"/>
          <p:nvPr/>
        </p:nvSpPr>
        <p:spPr>
          <a:xfrm>
            <a:off x="841248" y="5194706"/>
            <a:ext cx="4846320" cy="310896"/>
          </a:xfrm>
          <a:prstGeom prst="rect">
            <a:avLst/>
          </a:prstGeom>
          <a:noFill/>
          <a:ln/>
        </p:spPr>
        <p:txBody>
          <a:bodyPr wrap="square" lIns="0" tIns="0" rIns="0" bIns="0" rtlCol="0" anchor="ctr"/>
          <a:lstStyle/>
          <a:p>
            <a:pPr indent="0" marL="0">
              <a:buNone/>
            </a:pPr>
            <a:r>
              <a:rPr lang="en-US" sz="1500" b="1" dirty="0">
                <a:solidFill>
                  <a:srgbClr val="E9F2F8"/>
                </a:solidFill>
                <a:latin typeface="Calibri" pitchFamily="34" charset="0"/>
                <a:ea typeface="Calibri" pitchFamily="34" charset="-122"/>
                <a:cs typeface="Calibri" pitchFamily="34" charset="-120"/>
              </a:rPr>
              <a:t>Türetilmiş pinler işaretlenir</a:t>
            </a:r>
            <a:endParaRPr lang="en-US" sz="1500" dirty="0"/>
          </a:p>
        </p:txBody>
      </p:sp>
      <p:sp>
        <p:nvSpPr>
          <p:cNvPr id="20" name="Text 18"/>
          <p:cNvSpPr txBox="1"/>
          <p:nvPr/>
        </p:nvSpPr>
        <p:spPr>
          <a:xfrm>
            <a:off x="841248" y="5578754"/>
            <a:ext cx="4846320" cy="530352"/>
          </a:xfrm>
          <a:prstGeom prst="rect">
            <a:avLst/>
          </a:prstGeom>
          <a:noFill/>
          <a:ln/>
        </p:spPr>
        <p:txBody>
          <a:bodyPr wrap="square" lIns="0" tIns="0" rIns="0" bIns="0" rtlCol="0" anchor="t"/>
          <a:lstStyle/>
          <a:p>
            <a:pPr indent="0" marL="0">
              <a:lnSpc>
                <a:spcPts val="1800"/>
              </a:lnSpc>
              <a:buNone/>
            </a:pPr>
            <a:r>
              <a:rPr lang="en-US" sz="1100" dirty="0">
                <a:solidFill>
                  <a:srgbClr val="A9BCCB"/>
                </a:solidFill>
                <a:latin typeface="Calibri" pitchFamily="34" charset="0"/>
                <a:ea typeface="Calibri" pitchFamily="34" charset="-122"/>
                <a:cs typeface="Calibri" pitchFamily="34" charset="-120"/>
              </a:rPr>
              <a:t>Şekilden türetilen her pin "confidence: approximate" ve yöntemini taşır; lab onu "≈" ile çizer. Hiçbir kuralın yerleştiremediği bir işaret noktası pin almaz.</a:t>
            </a:r>
            <a:endParaRPr lang="en-US" sz="1100" dirty="0"/>
          </a:p>
        </p:txBody>
      </p:sp>
      <p:sp>
        <p:nvSpPr>
          <p:cNvPr id="21" name="Shape 19"/>
          <p:cNvSpPr/>
          <p:nvPr/>
        </p:nvSpPr>
        <p:spPr>
          <a:xfrm>
            <a:off x="6199632" y="4627778"/>
            <a:ext cx="5394960" cy="1609344"/>
          </a:xfrm>
          <a:prstGeom prst="roundRect">
            <a:avLst>
              <a:gd name="adj" fmla="val 3409"/>
            </a:avLst>
          </a:prstGeom>
          <a:solidFill>
            <a:srgbClr val="121C2E">
              <a:alpha val="74000"/>
            </a:srgbClr>
          </a:solidFill>
          <a:ln w="12700">
            <a:solidFill>
              <a:srgbClr val="F0C68A"/>
            </a:solidFill>
            <a:prstDash val="solid"/>
          </a:ln>
        </p:spPr>
      </p:sp>
      <p:sp>
        <p:nvSpPr>
          <p:cNvPr id="22" name="Text 20"/>
          <p:cNvSpPr txBox="1"/>
          <p:nvPr/>
        </p:nvSpPr>
        <p:spPr>
          <a:xfrm>
            <a:off x="6473952" y="4902098"/>
            <a:ext cx="4846320" cy="201168"/>
          </a:xfrm>
          <a:prstGeom prst="rect">
            <a:avLst/>
          </a:prstGeom>
          <a:noFill/>
          <a:ln/>
        </p:spPr>
        <p:txBody>
          <a:bodyPr wrap="square" lIns="0" tIns="0" rIns="0" bIns="0" rtlCol="0" anchor="ctr"/>
          <a:lstStyle/>
          <a:p>
            <a:pPr indent="0" marL="0">
              <a:buNone/>
            </a:pPr>
            <a:r>
              <a:rPr lang="en-US" sz="900" b="1" spc="260" kern="0" dirty="0">
                <a:solidFill>
                  <a:srgbClr val="4CC3EA"/>
                </a:solidFill>
                <a:latin typeface="Calibri" pitchFamily="34" charset="0"/>
                <a:ea typeface="Calibri" pitchFamily="34" charset="-122"/>
                <a:cs typeface="Calibri" pitchFamily="34" charset="-120"/>
              </a:rPr>
              <a:t>DÜRÜST SINIR</a:t>
            </a:r>
            <a:endParaRPr lang="en-US" sz="900" dirty="0"/>
          </a:p>
        </p:txBody>
      </p:sp>
      <p:sp>
        <p:nvSpPr>
          <p:cNvPr id="23" name="Text 21"/>
          <p:cNvSpPr txBox="1"/>
          <p:nvPr/>
        </p:nvSpPr>
        <p:spPr>
          <a:xfrm>
            <a:off x="6473952" y="5194706"/>
            <a:ext cx="4846320" cy="310896"/>
          </a:xfrm>
          <a:prstGeom prst="rect">
            <a:avLst/>
          </a:prstGeom>
          <a:noFill/>
          <a:ln/>
        </p:spPr>
        <p:txBody>
          <a:bodyPr wrap="square" lIns="0" tIns="0" rIns="0" bIns="0" rtlCol="0" anchor="ctr"/>
          <a:lstStyle/>
          <a:p>
            <a:pPr indent="0" marL="0">
              <a:buNone/>
            </a:pPr>
            <a:r>
              <a:rPr lang="en-US" sz="1500" b="1" dirty="0">
                <a:solidFill>
                  <a:srgbClr val="E9F2F8"/>
                </a:solidFill>
                <a:latin typeface="Calibri" pitchFamily="34" charset="0"/>
                <a:ea typeface="Calibri" pitchFamily="34" charset="-122"/>
                <a:cs typeface="Calibri" pitchFamily="34" charset="-120"/>
              </a:rPr>
              <a:t>Hareket animasyonu kasten yok</a:t>
            </a:r>
            <a:endParaRPr lang="en-US" sz="1500" dirty="0"/>
          </a:p>
        </p:txBody>
      </p:sp>
      <p:sp>
        <p:nvSpPr>
          <p:cNvPr id="24" name="Text 22"/>
          <p:cNvSpPr txBox="1"/>
          <p:nvPr/>
        </p:nvSpPr>
        <p:spPr>
          <a:xfrm>
            <a:off x="6473952" y="5578754"/>
            <a:ext cx="4846320" cy="530352"/>
          </a:xfrm>
          <a:prstGeom prst="rect">
            <a:avLst/>
          </a:prstGeom>
          <a:noFill/>
          <a:ln/>
        </p:spPr>
        <p:txBody>
          <a:bodyPr wrap="square" lIns="0" tIns="0" rIns="0" bIns="0" rtlCol="0" anchor="t"/>
          <a:lstStyle/>
          <a:p>
            <a:pPr indent="0" marL="0">
              <a:lnSpc>
                <a:spcPts val="1800"/>
              </a:lnSpc>
              <a:buNone/>
            </a:pPr>
            <a:r>
              <a:rPr lang="en-US" sz="1100" dirty="0">
                <a:solidFill>
                  <a:srgbClr val="A9BCCB"/>
                </a:solidFill>
                <a:latin typeface="Calibri" pitchFamily="34" charset="0"/>
                <a:ea typeface="Calibri" pitchFamily="34" charset="-122"/>
                <a:cs typeface="Calibri" pitchFamily="34" charset="-120"/>
              </a:rPr>
              <a:t>Doğru anatomik rigging olmadan animasyon makul görünen bir yalan olurdu. Lab bunun yerine düzlemi, ekseni ve kasları gösterir.</a:t>
            </a:r>
            <a:endParaRPr lang="en-US" sz="1100" dirty="0"/>
          </a:p>
        </p:txBody>
      </p:sp>
      <p:sp>
        <p:nvSpPr>
          <p:cNvPr id="25" name="Text 23"/>
          <p:cNvSpPr txBox="1"/>
          <p:nvPr/>
        </p:nvSpPr>
        <p:spPr>
          <a:xfrm>
            <a:off x="566928" y="6382512"/>
            <a:ext cx="2377440" cy="237744"/>
          </a:xfrm>
          <a:prstGeom prst="rect">
            <a:avLst/>
          </a:prstGeom>
          <a:noFill/>
          <a:ln/>
        </p:spPr>
        <p:txBody>
          <a:bodyPr wrap="square" lIns="0" tIns="0" rIns="0" bIns="0" rtlCol="0" anchor="ctr"/>
          <a:lstStyle/>
          <a:p>
            <a:pPr indent="0" marL="0">
              <a:buNone/>
            </a:pPr>
            <a:r>
              <a:rPr lang="en-US" sz="850" spc="220" kern="0" dirty="0">
                <a:solidFill>
                  <a:srgbClr val="43566A"/>
                </a:solidFill>
                <a:latin typeface="Calibri" pitchFamily="34" charset="0"/>
                <a:ea typeface="Calibri" pitchFamily="34" charset="-122"/>
                <a:cs typeface="Calibri" pitchFamily="34" charset="-120"/>
              </a:rPr>
              <a:t>TIP AKADEMİSİ</a:t>
            </a:r>
            <a:endParaRPr lang="en-US" sz="850" dirty="0"/>
          </a:p>
        </p:txBody>
      </p:sp>
      <p:sp>
        <p:nvSpPr>
          <p:cNvPr id="26" name="Text 24"/>
          <p:cNvSpPr txBox="1"/>
          <p:nvPr/>
        </p:nvSpPr>
        <p:spPr>
          <a:xfrm>
            <a:off x="8229600" y="6382512"/>
            <a:ext cx="3364992" cy="237744"/>
          </a:xfrm>
          <a:prstGeom prst="rect">
            <a:avLst/>
          </a:prstGeom>
          <a:noFill/>
          <a:ln/>
        </p:spPr>
        <p:txBody>
          <a:bodyPr wrap="square" lIns="0" tIns="0" rIns="0" bIns="0" rtlCol="0" anchor="ctr"/>
          <a:lstStyle/>
          <a:p>
            <a:pPr algn="r" indent="0" marL="0">
              <a:buNone/>
            </a:pPr>
            <a:r>
              <a:rPr lang="en-US" sz="850" spc="220" kern="0" dirty="0">
                <a:solidFill>
                  <a:srgbClr val="43566A"/>
                </a:solidFill>
                <a:latin typeface="Calibri" pitchFamily="34" charset="0"/>
                <a:ea typeface="Calibri" pitchFamily="34" charset="-122"/>
                <a:cs typeface="Calibri" pitchFamily="34" charset="-120"/>
              </a:rPr>
              <a:t>31  ·  Anatomi Lab</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66928" y="566928"/>
            <a:ext cx="7680960" cy="237744"/>
          </a:xfrm>
          <a:prstGeom prst="rect">
            <a:avLst/>
          </a:prstGeom>
          <a:noFill/>
          <a:ln/>
        </p:spPr>
        <p:txBody>
          <a:bodyPr wrap="square" lIns="0" tIns="0" rIns="0" bIns="0" rtlCol="0" anchor="ctr"/>
          <a:lstStyle/>
          <a:p>
            <a:pPr indent="0" marL="0">
              <a:buNone/>
            </a:pPr>
            <a:r>
              <a:rPr lang="en-US" sz="1000" b="1" spc="340" kern="0" dirty="0">
                <a:solidFill>
                  <a:srgbClr val="4CC3EA"/>
                </a:solidFill>
                <a:latin typeface="Calibri" pitchFamily="34" charset="0"/>
                <a:ea typeface="Calibri" pitchFamily="34" charset="-122"/>
                <a:cs typeface="Calibri" pitchFamily="34" charset="-120"/>
              </a:rPr>
              <a:t>ANATOMI LAB</a:t>
            </a:r>
            <a:endParaRPr lang="en-US" sz="1000" dirty="0"/>
          </a:p>
        </p:txBody>
      </p:sp>
      <p:sp>
        <p:nvSpPr>
          <p:cNvPr id="3" name="Text 1"/>
          <p:cNvSpPr txBox="1"/>
          <p:nvPr/>
        </p:nvSpPr>
        <p:spPr>
          <a:xfrm>
            <a:off x="548640" y="841248"/>
            <a:ext cx="8229600" cy="786384"/>
          </a:xfrm>
          <a:prstGeom prst="rect">
            <a:avLst/>
          </a:prstGeom>
          <a:noFill/>
          <a:ln/>
        </p:spPr>
        <p:txBody>
          <a:bodyPr wrap="square" lIns="0" tIns="0" rIns="0" bIns="0" rtlCol="0" anchor="t"/>
          <a:lstStyle/>
          <a:p>
            <a:pPr indent="0" marL="0">
              <a:buNone/>
            </a:pPr>
            <a:r>
              <a:rPr lang="en-US" sz="3600" spc="40" kern="0" dirty="0">
                <a:solidFill>
                  <a:srgbClr val="E9F2F8"/>
                </a:solidFill>
                <a:latin typeface="Calibri" pitchFamily="34" charset="0"/>
                <a:ea typeface="Calibri" pitchFamily="34" charset="-122"/>
                <a:cs typeface="Calibri" pitchFamily="34" charset="-120"/>
              </a:rPr>
              <a:t>Zilli sınav</a:t>
            </a:r>
            <a:endParaRPr lang="en-US" sz="3600" dirty="0"/>
          </a:p>
        </p:txBody>
      </p:sp>
      <p:sp>
        <p:nvSpPr>
          <p:cNvPr id="4" name="Text 2"/>
          <p:cNvSpPr txBox="1"/>
          <p:nvPr/>
        </p:nvSpPr>
        <p:spPr>
          <a:xfrm>
            <a:off x="566928" y="1719072"/>
            <a:ext cx="6035040" cy="822960"/>
          </a:xfrm>
          <a:prstGeom prst="rect">
            <a:avLst/>
          </a:prstGeom>
          <a:noFill/>
          <a:ln/>
        </p:spPr>
        <p:txBody>
          <a:bodyPr wrap="square" lIns="0" tIns="0" rIns="0" bIns="0" rtlCol="0" anchor="t"/>
          <a:lstStyle/>
          <a:p>
            <a:pPr indent="0" marL="0">
              <a:lnSpc>
                <a:spcPts val="2200"/>
              </a:lnSpc>
              <a:buNone/>
            </a:pPr>
            <a:r>
              <a:rPr lang="en-US" sz="1400" dirty="0">
                <a:solidFill>
                  <a:srgbClr val="A9BCCB"/>
                </a:solidFill>
                <a:latin typeface="Calibri" pitchFamily="34" charset="0"/>
                <a:ea typeface="Calibri" pitchFamily="34" charset="-122"/>
                <a:cs typeface="Calibri" pitchFamily="34" charset="-120"/>
              </a:rPr>
              <a:t>Pratik anatomi sınavının kuralları birebir korunur: numaralı pinler, istasyon başına sabit süre, çalan zil, geri dönüş yok.</a:t>
            </a:r>
            <a:endParaRPr lang="en-US" sz="1400" dirty="0"/>
          </a:p>
        </p:txBody>
      </p:sp>
      <p:sp>
        <p:nvSpPr>
          <p:cNvPr id="5" name="Shape 3"/>
          <p:cNvSpPr/>
          <p:nvPr/>
        </p:nvSpPr>
        <p:spPr>
          <a:xfrm>
            <a:off x="566928" y="2651760"/>
            <a:ext cx="6035040" cy="457200"/>
          </a:xfrm>
          <a:prstGeom prst="roundRect">
            <a:avLst>
              <a:gd name="adj" fmla="val 12000"/>
            </a:avLst>
          </a:prstGeom>
          <a:solidFill>
            <a:srgbClr val="121C2E">
              <a:alpha val="74000"/>
            </a:srgbClr>
          </a:solidFill>
          <a:ln w="12700">
            <a:solidFill>
              <a:srgbClr val="24384B"/>
            </a:solidFill>
            <a:prstDash val="solid"/>
          </a:ln>
        </p:spPr>
      </p:sp>
      <p:sp>
        <p:nvSpPr>
          <p:cNvPr id="6" name="Text 4"/>
          <p:cNvSpPr txBox="1"/>
          <p:nvPr/>
        </p:nvSpPr>
        <p:spPr>
          <a:xfrm>
            <a:off x="768096" y="2651760"/>
            <a:ext cx="384048" cy="457200"/>
          </a:xfrm>
          <a:prstGeom prst="rect">
            <a:avLst/>
          </a:prstGeom>
          <a:noFill/>
          <a:ln/>
        </p:spPr>
        <p:txBody>
          <a:bodyPr wrap="square" lIns="0" tIns="0" rIns="0" bIns="0" rtlCol="0" anchor="ctr"/>
          <a:lstStyle/>
          <a:p>
            <a:pPr indent="0" marL="0">
              <a:buNone/>
            </a:pPr>
            <a:r>
              <a:rPr lang="en-US" sz="1050" dirty="0">
                <a:solidFill>
                  <a:srgbClr val="43566A"/>
                </a:solidFill>
                <a:latin typeface="Consolas" pitchFamily="34" charset="0"/>
                <a:ea typeface="Consolas" pitchFamily="34" charset="-122"/>
                <a:cs typeface="Consolas" pitchFamily="34" charset="-120"/>
              </a:rPr>
              <a:t>01</a:t>
            </a:r>
            <a:endParaRPr lang="en-US" sz="1050" dirty="0"/>
          </a:p>
        </p:txBody>
      </p:sp>
      <p:sp>
        <p:nvSpPr>
          <p:cNvPr id="7" name="Text 5"/>
          <p:cNvSpPr txBox="1"/>
          <p:nvPr/>
        </p:nvSpPr>
        <p:spPr>
          <a:xfrm>
            <a:off x="1225296" y="2651760"/>
            <a:ext cx="5166360" cy="457200"/>
          </a:xfrm>
          <a:prstGeom prst="rect">
            <a:avLst/>
          </a:prstGeom>
          <a:noFill/>
          <a:ln/>
        </p:spPr>
        <p:txBody>
          <a:bodyPr wrap="square" lIns="0" tIns="0" rIns="0" bIns="0" rtlCol="0" anchor="ctr"/>
          <a:lstStyle/>
          <a:p>
            <a:pPr indent="0" marL="0">
              <a:buNone/>
            </a:pPr>
            <a:r>
              <a:rPr lang="en-US" sz="1150" dirty="0">
                <a:solidFill>
                  <a:srgbClr val="A9BCCB"/>
                </a:solidFill>
                <a:latin typeface="Calibri" pitchFamily="34" charset="0"/>
                <a:ea typeface="Calibri" pitchFamily="34" charset="-122"/>
                <a:cs typeface="Calibri" pitchFamily="34" charset="-120"/>
              </a:rPr>
              <a:t>Sahnenin pinli işaret noktalarından rastgele on istasyon</a:t>
            </a:r>
            <a:endParaRPr lang="en-US" sz="1150" dirty="0"/>
          </a:p>
        </p:txBody>
      </p:sp>
      <p:sp>
        <p:nvSpPr>
          <p:cNvPr id="8" name="Shape 6"/>
          <p:cNvSpPr/>
          <p:nvPr/>
        </p:nvSpPr>
        <p:spPr>
          <a:xfrm>
            <a:off x="960120" y="3108960"/>
            <a:ext cx="0" cy="128016"/>
          </a:xfrm>
          <a:prstGeom prst="line">
            <a:avLst/>
          </a:prstGeom>
          <a:noFill/>
          <a:ln w="15875">
            <a:solidFill>
              <a:srgbClr val="31506A"/>
            </a:solidFill>
            <a:prstDash val="solid"/>
            <a:tailEnd type="triangle"/>
          </a:ln>
        </p:spPr>
      </p:sp>
      <p:sp>
        <p:nvSpPr>
          <p:cNvPr id="9" name="Shape 7"/>
          <p:cNvSpPr/>
          <p:nvPr/>
        </p:nvSpPr>
        <p:spPr>
          <a:xfrm>
            <a:off x="566928" y="3236976"/>
            <a:ext cx="6035040" cy="457200"/>
          </a:xfrm>
          <a:prstGeom prst="roundRect">
            <a:avLst>
              <a:gd name="adj" fmla="val 12000"/>
            </a:avLst>
          </a:prstGeom>
          <a:solidFill>
            <a:srgbClr val="121C2E">
              <a:alpha val="74000"/>
            </a:srgbClr>
          </a:solidFill>
          <a:ln w="12700">
            <a:solidFill>
              <a:srgbClr val="24384B"/>
            </a:solidFill>
            <a:prstDash val="solid"/>
          </a:ln>
        </p:spPr>
      </p:sp>
      <p:sp>
        <p:nvSpPr>
          <p:cNvPr id="10" name="Text 8"/>
          <p:cNvSpPr txBox="1"/>
          <p:nvPr/>
        </p:nvSpPr>
        <p:spPr>
          <a:xfrm>
            <a:off x="768096" y="3236976"/>
            <a:ext cx="384048" cy="457200"/>
          </a:xfrm>
          <a:prstGeom prst="rect">
            <a:avLst/>
          </a:prstGeom>
          <a:noFill/>
          <a:ln/>
        </p:spPr>
        <p:txBody>
          <a:bodyPr wrap="square" lIns="0" tIns="0" rIns="0" bIns="0" rtlCol="0" anchor="ctr"/>
          <a:lstStyle/>
          <a:p>
            <a:pPr indent="0" marL="0">
              <a:buNone/>
            </a:pPr>
            <a:r>
              <a:rPr lang="en-US" sz="1050" dirty="0">
                <a:solidFill>
                  <a:srgbClr val="43566A"/>
                </a:solidFill>
                <a:latin typeface="Consolas" pitchFamily="34" charset="0"/>
                <a:ea typeface="Consolas" pitchFamily="34" charset="-122"/>
                <a:cs typeface="Consolas" pitchFamily="34" charset="-120"/>
              </a:rPr>
              <a:t>02</a:t>
            </a:r>
            <a:endParaRPr lang="en-US" sz="1050" dirty="0"/>
          </a:p>
        </p:txBody>
      </p:sp>
      <p:sp>
        <p:nvSpPr>
          <p:cNvPr id="11" name="Text 9"/>
          <p:cNvSpPr txBox="1"/>
          <p:nvPr/>
        </p:nvSpPr>
        <p:spPr>
          <a:xfrm>
            <a:off x="1225296" y="3236976"/>
            <a:ext cx="5166360" cy="457200"/>
          </a:xfrm>
          <a:prstGeom prst="rect">
            <a:avLst/>
          </a:prstGeom>
          <a:noFill/>
          <a:ln/>
        </p:spPr>
        <p:txBody>
          <a:bodyPr wrap="square" lIns="0" tIns="0" rIns="0" bIns="0" rtlCol="0" anchor="ctr"/>
          <a:lstStyle/>
          <a:p>
            <a:pPr indent="0" marL="0">
              <a:buNone/>
            </a:pPr>
            <a:r>
              <a:rPr lang="en-US" sz="1150" dirty="0">
                <a:solidFill>
                  <a:srgbClr val="A9BCCB"/>
                </a:solidFill>
                <a:latin typeface="Calibri" pitchFamily="34" charset="0"/>
                <a:ea typeface="Calibri" pitchFamily="34" charset="-122"/>
                <a:cs typeface="Calibri" pitchFamily="34" charset="-120"/>
              </a:rPr>
              <a:t>İstasyon yalnızca numaralı pini gösterir  ·  kart listesi gizlenir</a:t>
            </a:r>
            <a:endParaRPr lang="en-US" sz="1150" dirty="0"/>
          </a:p>
        </p:txBody>
      </p:sp>
      <p:sp>
        <p:nvSpPr>
          <p:cNvPr id="12" name="Shape 10"/>
          <p:cNvSpPr/>
          <p:nvPr/>
        </p:nvSpPr>
        <p:spPr>
          <a:xfrm>
            <a:off x="960120" y="3694176"/>
            <a:ext cx="0" cy="128016"/>
          </a:xfrm>
          <a:prstGeom prst="line">
            <a:avLst/>
          </a:prstGeom>
          <a:noFill/>
          <a:ln w="15875">
            <a:solidFill>
              <a:srgbClr val="31506A"/>
            </a:solidFill>
            <a:prstDash val="solid"/>
            <a:tailEnd type="triangle"/>
          </a:ln>
        </p:spPr>
      </p:sp>
      <p:sp>
        <p:nvSpPr>
          <p:cNvPr id="13" name="Shape 11"/>
          <p:cNvSpPr/>
          <p:nvPr/>
        </p:nvSpPr>
        <p:spPr>
          <a:xfrm>
            <a:off x="566928" y="3822192"/>
            <a:ext cx="6035040" cy="457200"/>
          </a:xfrm>
          <a:prstGeom prst="roundRect">
            <a:avLst>
              <a:gd name="adj" fmla="val 12000"/>
            </a:avLst>
          </a:prstGeom>
          <a:solidFill>
            <a:srgbClr val="121C2E">
              <a:alpha val="74000"/>
            </a:srgbClr>
          </a:solidFill>
          <a:ln w="12700">
            <a:solidFill>
              <a:srgbClr val="24384B"/>
            </a:solidFill>
            <a:prstDash val="solid"/>
          </a:ln>
        </p:spPr>
      </p:sp>
      <p:sp>
        <p:nvSpPr>
          <p:cNvPr id="14" name="Text 12"/>
          <p:cNvSpPr txBox="1"/>
          <p:nvPr/>
        </p:nvSpPr>
        <p:spPr>
          <a:xfrm>
            <a:off x="768096" y="3822192"/>
            <a:ext cx="384048" cy="457200"/>
          </a:xfrm>
          <a:prstGeom prst="rect">
            <a:avLst/>
          </a:prstGeom>
          <a:noFill/>
          <a:ln/>
        </p:spPr>
        <p:txBody>
          <a:bodyPr wrap="square" lIns="0" tIns="0" rIns="0" bIns="0" rtlCol="0" anchor="ctr"/>
          <a:lstStyle/>
          <a:p>
            <a:pPr indent="0" marL="0">
              <a:buNone/>
            </a:pPr>
            <a:r>
              <a:rPr lang="en-US" sz="1050" dirty="0">
                <a:solidFill>
                  <a:srgbClr val="43566A"/>
                </a:solidFill>
                <a:latin typeface="Consolas" pitchFamily="34" charset="0"/>
                <a:ea typeface="Consolas" pitchFamily="34" charset="-122"/>
                <a:cs typeface="Consolas" pitchFamily="34" charset="-120"/>
              </a:rPr>
              <a:t>03</a:t>
            </a:r>
            <a:endParaRPr lang="en-US" sz="1050" dirty="0"/>
          </a:p>
        </p:txBody>
      </p:sp>
      <p:sp>
        <p:nvSpPr>
          <p:cNvPr id="15" name="Text 13"/>
          <p:cNvSpPr txBox="1"/>
          <p:nvPr/>
        </p:nvSpPr>
        <p:spPr>
          <a:xfrm>
            <a:off x="1225296" y="3822192"/>
            <a:ext cx="5166360" cy="457200"/>
          </a:xfrm>
          <a:prstGeom prst="rect">
            <a:avLst/>
          </a:prstGeom>
          <a:noFill/>
          <a:ln/>
        </p:spPr>
        <p:txBody>
          <a:bodyPr wrap="square" lIns="0" tIns="0" rIns="0" bIns="0" rtlCol="0" anchor="ctr"/>
          <a:lstStyle/>
          <a:p>
            <a:pPr indent="0" marL="0">
              <a:buNone/>
            </a:pPr>
            <a:r>
              <a:rPr lang="en-US" sz="1150" dirty="0">
                <a:solidFill>
                  <a:srgbClr val="A9BCCB"/>
                </a:solidFill>
                <a:latin typeface="Calibri" pitchFamily="34" charset="0"/>
                <a:ea typeface="Calibri" pitchFamily="34" charset="-122"/>
                <a:cs typeface="Calibri" pitchFamily="34" charset="-120"/>
              </a:rPr>
              <a:t>Öğrenci Latince adı yazar</a:t>
            </a:r>
            <a:endParaRPr lang="en-US" sz="1150" dirty="0"/>
          </a:p>
        </p:txBody>
      </p:sp>
      <p:sp>
        <p:nvSpPr>
          <p:cNvPr id="16" name="Shape 14"/>
          <p:cNvSpPr/>
          <p:nvPr/>
        </p:nvSpPr>
        <p:spPr>
          <a:xfrm>
            <a:off x="960120" y="4279392"/>
            <a:ext cx="0" cy="128016"/>
          </a:xfrm>
          <a:prstGeom prst="line">
            <a:avLst/>
          </a:prstGeom>
          <a:noFill/>
          <a:ln w="15875">
            <a:solidFill>
              <a:srgbClr val="31506A"/>
            </a:solidFill>
            <a:prstDash val="solid"/>
            <a:tailEnd type="triangle"/>
          </a:ln>
        </p:spPr>
      </p:sp>
      <p:sp>
        <p:nvSpPr>
          <p:cNvPr id="17" name="Shape 15"/>
          <p:cNvSpPr/>
          <p:nvPr/>
        </p:nvSpPr>
        <p:spPr>
          <a:xfrm>
            <a:off x="566928" y="4407408"/>
            <a:ext cx="6035040" cy="457200"/>
          </a:xfrm>
          <a:prstGeom prst="roundRect">
            <a:avLst>
              <a:gd name="adj" fmla="val 12000"/>
            </a:avLst>
          </a:prstGeom>
          <a:solidFill>
            <a:srgbClr val="121C2E">
              <a:alpha val="74000"/>
            </a:srgbClr>
          </a:solidFill>
          <a:ln w="12700">
            <a:solidFill>
              <a:srgbClr val="24384B"/>
            </a:solidFill>
            <a:prstDash val="solid"/>
          </a:ln>
        </p:spPr>
      </p:sp>
      <p:sp>
        <p:nvSpPr>
          <p:cNvPr id="18" name="Text 16"/>
          <p:cNvSpPr txBox="1"/>
          <p:nvPr/>
        </p:nvSpPr>
        <p:spPr>
          <a:xfrm>
            <a:off x="768096" y="4407408"/>
            <a:ext cx="384048" cy="457200"/>
          </a:xfrm>
          <a:prstGeom prst="rect">
            <a:avLst/>
          </a:prstGeom>
          <a:noFill/>
          <a:ln/>
        </p:spPr>
        <p:txBody>
          <a:bodyPr wrap="square" lIns="0" tIns="0" rIns="0" bIns="0" rtlCol="0" anchor="ctr"/>
          <a:lstStyle/>
          <a:p>
            <a:pPr indent="0" marL="0">
              <a:buNone/>
            </a:pPr>
            <a:r>
              <a:rPr lang="en-US" sz="1050" dirty="0">
                <a:solidFill>
                  <a:srgbClr val="43566A"/>
                </a:solidFill>
                <a:latin typeface="Consolas" pitchFamily="34" charset="0"/>
                <a:ea typeface="Consolas" pitchFamily="34" charset="-122"/>
                <a:cs typeface="Consolas" pitchFamily="34" charset="-120"/>
              </a:rPr>
              <a:t>04</a:t>
            </a:r>
            <a:endParaRPr lang="en-US" sz="1050" dirty="0"/>
          </a:p>
        </p:txBody>
      </p:sp>
      <p:sp>
        <p:nvSpPr>
          <p:cNvPr id="19" name="Text 17"/>
          <p:cNvSpPr txBox="1"/>
          <p:nvPr/>
        </p:nvSpPr>
        <p:spPr>
          <a:xfrm>
            <a:off x="1225296" y="4407408"/>
            <a:ext cx="5166360" cy="457200"/>
          </a:xfrm>
          <a:prstGeom prst="rect">
            <a:avLst/>
          </a:prstGeom>
          <a:noFill/>
          <a:ln/>
        </p:spPr>
        <p:txBody>
          <a:bodyPr wrap="square" lIns="0" tIns="0" rIns="0" bIns="0" rtlCol="0" anchor="ctr"/>
          <a:lstStyle/>
          <a:p>
            <a:pPr indent="0" marL="0">
              <a:buNone/>
            </a:pPr>
            <a:r>
              <a:rPr lang="en-US" sz="1150" dirty="0">
                <a:solidFill>
                  <a:srgbClr val="A9BCCB"/>
                </a:solidFill>
                <a:latin typeface="Calibri" pitchFamily="34" charset="0"/>
                <a:ea typeface="Calibri" pitchFamily="34" charset="-122"/>
                <a:cs typeface="Calibri" pitchFamily="34" charset="-120"/>
              </a:rPr>
              <a:t>30 / 45 / 60 / 90 sn  ·  zil çalar ve sıradakine geçilir</a:t>
            </a:r>
            <a:endParaRPr lang="en-US" sz="1150" dirty="0"/>
          </a:p>
        </p:txBody>
      </p:sp>
      <p:sp>
        <p:nvSpPr>
          <p:cNvPr id="20" name="Shape 18"/>
          <p:cNvSpPr/>
          <p:nvPr/>
        </p:nvSpPr>
        <p:spPr>
          <a:xfrm>
            <a:off x="960120" y="4864608"/>
            <a:ext cx="0" cy="128016"/>
          </a:xfrm>
          <a:prstGeom prst="line">
            <a:avLst/>
          </a:prstGeom>
          <a:noFill/>
          <a:ln w="15875">
            <a:solidFill>
              <a:srgbClr val="31506A"/>
            </a:solidFill>
            <a:prstDash val="solid"/>
            <a:tailEnd type="triangle"/>
          </a:ln>
        </p:spPr>
      </p:sp>
      <p:sp>
        <p:nvSpPr>
          <p:cNvPr id="21" name="Shape 19"/>
          <p:cNvSpPr/>
          <p:nvPr/>
        </p:nvSpPr>
        <p:spPr>
          <a:xfrm>
            <a:off x="566928" y="4992624"/>
            <a:ext cx="6035040" cy="457200"/>
          </a:xfrm>
          <a:prstGeom prst="roundRect">
            <a:avLst>
              <a:gd name="adj" fmla="val 12000"/>
            </a:avLst>
          </a:prstGeom>
          <a:solidFill>
            <a:srgbClr val="1B7BA0">
              <a:alpha val="38000"/>
            </a:srgbClr>
          </a:solidFill>
          <a:ln w="12700">
            <a:solidFill>
              <a:srgbClr val="1B7BA0"/>
            </a:solidFill>
            <a:prstDash val="solid"/>
          </a:ln>
        </p:spPr>
      </p:sp>
      <p:sp>
        <p:nvSpPr>
          <p:cNvPr id="22" name="Text 20"/>
          <p:cNvSpPr txBox="1"/>
          <p:nvPr/>
        </p:nvSpPr>
        <p:spPr>
          <a:xfrm>
            <a:off x="768096" y="4992624"/>
            <a:ext cx="384048" cy="457200"/>
          </a:xfrm>
          <a:prstGeom prst="rect">
            <a:avLst/>
          </a:prstGeom>
          <a:noFill/>
          <a:ln/>
        </p:spPr>
        <p:txBody>
          <a:bodyPr wrap="square" lIns="0" tIns="0" rIns="0" bIns="0" rtlCol="0" anchor="ctr"/>
          <a:lstStyle/>
          <a:p>
            <a:pPr indent="0" marL="0">
              <a:buNone/>
            </a:pPr>
            <a:r>
              <a:rPr lang="en-US" sz="1050" dirty="0">
                <a:solidFill>
                  <a:srgbClr val="8EE0FF"/>
                </a:solidFill>
                <a:latin typeface="Consolas" pitchFamily="34" charset="0"/>
                <a:ea typeface="Consolas" pitchFamily="34" charset="-122"/>
                <a:cs typeface="Consolas" pitchFamily="34" charset="-120"/>
              </a:rPr>
              <a:t>05</a:t>
            </a:r>
            <a:endParaRPr lang="en-US" sz="1050" dirty="0"/>
          </a:p>
        </p:txBody>
      </p:sp>
      <p:sp>
        <p:nvSpPr>
          <p:cNvPr id="23" name="Text 21"/>
          <p:cNvSpPr txBox="1"/>
          <p:nvPr/>
        </p:nvSpPr>
        <p:spPr>
          <a:xfrm>
            <a:off x="1225296" y="4992624"/>
            <a:ext cx="5166360" cy="457200"/>
          </a:xfrm>
          <a:prstGeom prst="rect">
            <a:avLst/>
          </a:prstGeom>
          <a:noFill/>
          <a:ln/>
        </p:spPr>
        <p:txBody>
          <a:bodyPr wrap="square" lIns="0" tIns="0" rIns="0" bIns="0" rtlCol="0" anchor="ctr"/>
          <a:lstStyle/>
          <a:p>
            <a:pPr indent="0" marL="0">
              <a:buNone/>
            </a:pPr>
            <a:r>
              <a:rPr lang="en-US" sz="1150" dirty="0">
                <a:solidFill>
                  <a:srgbClr val="E9F2F8"/>
                </a:solidFill>
                <a:latin typeface="Calibri" pitchFamily="34" charset="0"/>
                <a:ea typeface="Calibri" pitchFamily="34" charset="-122"/>
                <a:cs typeface="Calibri" pitchFamily="34" charset="-120"/>
              </a:rPr>
              <a:t>Sonunda her istasyon: cevap, doğru ad ve açıklaması</a:t>
            </a:r>
            <a:endParaRPr lang="en-US" sz="1150" dirty="0"/>
          </a:p>
        </p:txBody>
      </p:sp>
      <p:sp>
        <p:nvSpPr>
          <p:cNvPr id="24" name="Shape 22"/>
          <p:cNvSpPr/>
          <p:nvPr/>
        </p:nvSpPr>
        <p:spPr>
          <a:xfrm>
            <a:off x="6876288" y="1719072"/>
            <a:ext cx="4718304" cy="1838858"/>
          </a:xfrm>
          <a:prstGeom prst="roundRect">
            <a:avLst>
              <a:gd name="adj" fmla="val 2984"/>
            </a:avLst>
          </a:prstGeom>
          <a:solidFill>
            <a:srgbClr val="121C2E">
              <a:alpha val="74000"/>
            </a:srgbClr>
          </a:solidFill>
          <a:ln w="12700">
            <a:solidFill>
              <a:srgbClr val="24384B"/>
            </a:solidFill>
            <a:prstDash val="solid"/>
          </a:ln>
        </p:spPr>
      </p:sp>
      <p:sp>
        <p:nvSpPr>
          <p:cNvPr id="25" name="Text 23"/>
          <p:cNvSpPr txBox="1"/>
          <p:nvPr/>
        </p:nvSpPr>
        <p:spPr>
          <a:xfrm>
            <a:off x="7150608" y="1993392"/>
            <a:ext cx="4169664" cy="201168"/>
          </a:xfrm>
          <a:prstGeom prst="rect">
            <a:avLst/>
          </a:prstGeom>
          <a:noFill/>
          <a:ln/>
        </p:spPr>
        <p:txBody>
          <a:bodyPr wrap="square" lIns="0" tIns="0" rIns="0" bIns="0" rtlCol="0" anchor="ctr"/>
          <a:lstStyle/>
          <a:p>
            <a:pPr indent="0" marL="0">
              <a:buNone/>
            </a:pPr>
            <a:r>
              <a:rPr lang="en-US" sz="900" b="1" spc="260" kern="0" dirty="0">
                <a:solidFill>
                  <a:srgbClr val="4CC3EA"/>
                </a:solidFill>
                <a:latin typeface="Calibri" pitchFamily="34" charset="0"/>
                <a:ea typeface="Calibri" pitchFamily="34" charset="-122"/>
                <a:cs typeface="Calibri" pitchFamily="34" charset="-120"/>
              </a:rPr>
              <a:t>DEĞERLENDIRME</a:t>
            </a:r>
            <a:endParaRPr lang="en-US" sz="900" dirty="0"/>
          </a:p>
        </p:txBody>
      </p:sp>
      <p:sp>
        <p:nvSpPr>
          <p:cNvPr id="26" name="Text 24"/>
          <p:cNvSpPr txBox="1"/>
          <p:nvPr/>
        </p:nvSpPr>
        <p:spPr>
          <a:xfrm>
            <a:off x="7150608" y="2286000"/>
            <a:ext cx="4169664" cy="310896"/>
          </a:xfrm>
          <a:prstGeom prst="rect">
            <a:avLst/>
          </a:prstGeom>
          <a:noFill/>
          <a:ln/>
        </p:spPr>
        <p:txBody>
          <a:bodyPr wrap="square" lIns="0" tIns="0" rIns="0" bIns="0" rtlCol="0" anchor="ctr"/>
          <a:lstStyle/>
          <a:p>
            <a:pPr indent="0" marL="0">
              <a:buNone/>
            </a:pPr>
            <a:r>
              <a:rPr lang="en-US" sz="1450" b="1" dirty="0">
                <a:solidFill>
                  <a:srgbClr val="E9F2F8"/>
                </a:solidFill>
                <a:latin typeface="Calibri" pitchFamily="34" charset="0"/>
                <a:ea typeface="Calibri" pitchFamily="34" charset="-122"/>
                <a:cs typeface="Calibri" pitchFamily="34" charset="-120"/>
              </a:rPr>
              <a:t>Eşleşme, bir hoca kadar hoşgörülü</a:t>
            </a:r>
            <a:endParaRPr lang="en-US" sz="1450" dirty="0"/>
          </a:p>
        </p:txBody>
      </p:sp>
      <p:sp>
        <p:nvSpPr>
          <p:cNvPr id="27" name="Text 25"/>
          <p:cNvSpPr txBox="1"/>
          <p:nvPr/>
        </p:nvSpPr>
        <p:spPr>
          <a:xfrm>
            <a:off x="7150608" y="2670048"/>
            <a:ext cx="4169664" cy="759866"/>
          </a:xfrm>
          <a:prstGeom prst="rect">
            <a:avLst/>
          </a:prstGeom>
          <a:noFill/>
          <a:ln/>
        </p:spPr>
        <p:txBody>
          <a:bodyPr wrap="square" lIns="0" tIns="0" rIns="0" bIns="0" rtlCol="0" anchor="t"/>
          <a:lstStyle/>
          <a:p>
            <a:pPr indent="0" marL="0">
              <a:lnSpc>
                <a:spcPts val="1800"/>
              </a:lnSpc>
              <a:buNone/>
            </a:pPr>
            <a:r>
              <a:rPr lang="en-US" sz="1100" dirty="0">
                <a:solidFill>
                  <a:srgbClr val="A9BCCB"/>
                </a:solidFill>
                <a:latin typeface="Calibri" pitchFamily="34" charset="0"/>
                <a:ea typeface="Calibri" pitchFamily="34" charset="-122"/>
                <a:cs typeface="Calibri" pitchFamily="34" charset="-120"/>
              </a:rPr>
              <a:t>Büyük-küçük harf, Türkçe harfler, aksanlar, noktalama ve m. / n. / a. / v. önekleri yok sayılır; beş harf ve üzeri bir belirteç, kısalttığı sözcüğün başlangıcı olarak kabul edilir.</a:t>
            </a:r>
            <a:endParaRPr lang="en-US" sz="1100" dirty="0"/>
          </a:p>
        </p:txBody>
      </p:sp>
      <p:sp>
        <p:nvSpPr>
          <p:cNvPr id="28" name="Shape 26"/>
          <p:cNvSpPr/>
          <p:nvPr/>
        </p:nvSpPr>
        <p:spPr>
          <a:xfrm>
            <a:off x="6876288" y="3777386"/>
            <a:ext cx="4718304" cy="2296058"/>
          </a:xfrm>
          <a:prstGeom prst="roundRect">
            <a:avLst>
              <a:gd name="adj" fmla="val 2389"/>
            </a:avLst>
          </a:prstGeom>
          <a:solidFill>
            <a:srgbClr val="121C2E">
              <a:alpha val="74000"/>
            </a:srgbClr>
          </a:solidFill>
          <a:ln w="12700">
            <a:solidFill>
              <a:srgbClr val="7FE0B2"/>
            </a:solidFill>
            <a:prstDash val="solid"/>
          </a:ln>
        </p:spPr>
      </p:sp>
      <p:sp>
        <p:nvSpPr>
          <p:cNvPr id="29" name="Text 27"/>
          <p:cNvSpPr txBox="1"/>
          <p:nvPr/>
        </p:nvSpPr>
        <p:spPr>
          <a:xfrm>
            <a:off x="7150608" y="4051706"/>
            <a:ext cx="4169664" cy="201168"/>
          </a:xfrm>
          <a:prstGeom prst="rect">
            <a:avLst/>
          </a:prstGeom>
          <a:noFill/>
          <a:ln/>
        </p:spPr>
        <p:txBody>
          <a:bodyPr wrap="square" lIns="0" tIns="0" rIns="0" bIns="0" rtlCol="0" anchor="ctr"/>
          <a:lstStyle/>
          <a:p>
            <a:pPr indent="0" marL="0">
              <a:buNone/>
            </a:pPr>
            <a:r>
              <a:rPr lang="en-US" sz="900" b="1" spc="260" kern="0" dirty="0">
                <a:solidFill>
                  <a:srgbClr val="4CC3EA"/>
                </a:solidFill>
                <a:latin typeface="Calibri" pitchFamily="34" charset="0"/>
                <a:ea typeface="Calibri" pitchFamily="34" charset="-122"/>
                <a:cs typeface="Calibri" pitchFamily="34" charset="-120"/>
              </a:rPr>
              <a:t>SAĞLAMLIK</a:t>
            </a:r>
            <a:endParaRPr lang="en-US" sz="900" dirty="0"/>
          </a:p>
        </p:txBody>
      </p:sp>
      <p:sp>
        <p:nvSpPr>
          <p:cNvPr id="30" name="Text 28"/>
          <p:cNvSpPr txBox="1"/>
          <p:nvPr/>
        </p:nvSpPr>
        <p:spPr>
          <a:xfrm>
            <a:off x="7150608" y="4344314"/>
            <a:ext cx="4169664" cy="310896"/>
          </a:xfrm>
          <a:prstGeom prst="rect">
            <a:avLst/>
          </a:prstGeom>
          <a:noFill/>
          <a:ln/>
        </p:spPr>
        <p:txBody>
          <a:bodyPr wrap="square" lIns="0" tIns="0" rIns="0" bIns="0" rtlCol="0" anchor="ctr"/>
          <a:lstStyle/>
          <a:p>
            <a:pPr indent="0" marL="0">
              <a:buNone/>
            </a:pPr>
            <a:r>
              <a:rPr lang="en-US" sz="1450" b="1" dirty="0">
                <a:solidFill>
                  <a:srgbClr val="E9F2F8"/>
                </a:solidFill>
                <a:latin typeface="Calibri" pitchFamily="34" charset="0"/>
                <a:ea typeface="Calibri" pitchFamily="34" charset="-122"/>
                <a:cs typeface="Calibri" pitchFamily="34" charset="-120"/>
              </a:rPr>
              <a:t>İstasyon başına tek cevap</a:t>
            </a:r>
            <a:endParaRPr lang="en-US" sz="1450" dirty="0"/>
          </a:p>
        </p:txBody>
      </p:sp>
      <p:sp>
        <p:nvSpPr>
          <p:cNvPr id="31" name="Text 29"/>
          <p:cNvSpPr txBox="1"/>
          <p:nvPr/>
        </p:nvSpPr>
        <p:spPr>
          <a:xfrm>
            <a:off x="7150608" y="4728362"/>
            <a:ext cx="4169664" cy="1217066"/>
          </a:xfrm>
          <a:prstGeom prst="rect">
            <a:avLst/>
          </a:prstGeom>
          <a:noFill/>
          <a:ln/>
        </p:spPr>
        <p:txBody>
          <a:bodyPr wrap="square" lIns="0" tIns="0" rIns="0" bIns="0" rtlCol="0" anchor="t"/>
          <a:lstStyle/>
          <a:p>
            <a:pPr indent="0" marL="0">
              <a:lnSpc>
                <a:spcPts val="1800"/>
              </a:lnSpc>
              <a:buNone/>
            </a:pPr>
            <a:r>
              <a:rPr lang="en-US" sz="1100" dirty="0">
                <a:solidFill>
                  <a:srgbClr val="A9BCCB"/>
                </a:solidFill>
                <a:latin typeface="Calibri" pitchFamily="34" charset="0"/>
                <a:ea typeface="Calibri" pitchFamily="34" charset="-122"/>
                <a:cs typeface="Calibri" pitchFamily="34" charset="-120"/>
              </a:rPr>
              <a:t>İstasyon, cevap verildiği anda — kayıt beklenmeden — talep edilir; ikinci tıklama, ikinci Enter ya da manuel cevaba düşen zil hiçbir şey yapmaz. Kaydedilemeyen bir cevap bunu söyler: "Tekrar dene" aynı gönderim kimliğini yollar, böylece kayıp bir yanıt istasyonu iki kez saymaz.</a:t>
            </a:r>
            <a:endParaRPr lang="en-US" sz="1100" dirty="0"/>
          </a:p>
        </p:txBody>
      </p:sp>
      <p:sp>
        <p:nvSpPr>
          <p:cNvPr id="32" name="Text 30"/>
          <p:cNvSpPr txBox="1"/>
          <p:nvPr/>
        </p:nvSpPr>
        <p:spPr>
          <a:xfrm>
            <a:off x="566928" y="6382512"/>
            <a:ext cx="2377440" cy="237744"/>
          </a:xfrm>
          <a:prstGeom prst="rect">
            <a:avLst/>
          </a:prstGeom>
          <a:noFill/>
          <a:ln/>
        </p:spPr>
        <p:txBody>
          <a:bodyPr wrap="square" lIns="0" tIns="0" rIns="0" bIns="0" rtlCol="0" anchor="ctr"/>
          <a:lstStyle/>
          <a:p>
            <a:pPr indent="0" marL="0">
              <a:buNone/>
            </a:pPr>
            <a:r>
              <a:rPr lang="en-US" sz="850" spc="220" kern="0" dirty="0">
                <a:solidFill>
                  <a:srgbClr val="43566A"/>
                </a:solidFill>
                <a:latin typeface="Calibri" pitchFamily="34" charset="0"/>
                <a:ea typeface="Calibri" pitchFamily="34" charset="-122"/>
                <a:cs typeface="Calibri" pitchFamily="34" charset="-120"/>
              </a:rPr>
              <a:t>TIP AKADEMİSİ</a:t>
            </a:r>
            <a:endParaRPr lang="en-US" sz="850" dirty="0"/>
          </a:p>
        </p:txBody>
      </p:sp>
      <p:sp>
        <p:nvSpPr>
          <p:cNvPr id="33" name="Text 31"/>
          <p:cNvSpPr txBox="1"/>
          <p:nvPr/>
        </p:nvSpPr>
        <p:spPr>
          <a:xfrm>
            <a:off x="8229600" y="6382512"/>
            <a:ext cx="3364992" cy="237744"/>
          </a:xfrm>
          <a:prstGeom prst="rect">
            <a:avLst/>
          </a:prstGeom>
          <a:noFill/>
          <a:ln/>
        </p:spPr>
        <p:txBody>
          <a:bodyPr wrap="square" lIns="0" tIns="0" rIns="0" bIns="0" rtlCol="0" anchor="ctr"/>
          <a:lstStyle/>
          <a:p>
            <a:pPr algn="r" indent="0" marL="0">
              <a:buNone/>
            </a:pPr>
            <a:r>
              <a:rPr lang="en-US" sz="850" spc="220" kern="0" dirty="0">
                <a:solidFill>
                  <a:srgbClr val="43566A"/>
                </a:solidFill>
                <a:latin typeface="Calibri" pitchFamily="34" charset="0"/>
                <a:ea typeface="Calibri" pitchFamily="34" charset="-122"/>
                <a:cs typeface="Calibri" pitchFamily="34" charset="-120"/>
              </a:rPr>
              <a:t>32  ·  Anatomi Lab</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66928" y="566928"/>
            <a:ext cx="7680960" cy="237744"/>
          </a:xfrm>
          <a:prstGeom prst="rect">
            <a:avLst/>
          </a:prstGeom>
          <a:noFill/>
          <a:ln/>
        </p:spPr>
        <p:txBody>
          <a:bodyPr wrap="square" lIns="0" tIns="0" rIns="0" bIns="0" rtlCol="0" anchor="ctr"/>
          <a:lstStyle/>
          <a:p>
            <a:pPr indent="0" marL="0">
              <a:buNone/>
            </a:pPr>
            <a:r>
              <a:rPr lang="en-US" sz="1000" b="1" spc="340" kern="0" dirty="0">
                <a:solidFill>
                  <a:srgbClr val="4CC3EA"/>
                </a:solidFill>
                <a:latin typeface="Calibri" pitchFamily="34" charset="0"/>
                <a:ea typeface="Calibri" pitchFamily="34" charset="-122"/>
                <a:cs typeface="Calibri" pitchFamily="34" charset="-120"/>
              </a:rPr>
              <a:t>GÜVENLIK</a:t>
            </a:r>
            <a:endParaRPr lang="en-US" sz="1000" dirty="0"/>
          </a:p>
        </p:txBody>
      </p:sp>
      <p:sp>
        <p:nvSpPr>
          <p:cNvPr id="3" name="Text 1"/>
          <p:cNvSpPr txBox="1"/>
          <p:nvPr/>
        </p:nvSpPr>
        <p:spPr>
          <a:xfrm>
            <a:off x="548640" y="841248"/>
            <a:ext cx="8229600" cy="786384"/>
          </a:xfrm>
          <a:prstGeom prst="rect">
            <a:avLst/>
          </a:prstGeom>
          <a:noFill/>
          <a:ln/>
        </p:spPr>
        <p:txBody>
          <a:bodyPr wrap="square" lIns="0" tIns="0" rIns="0" bIns="0" rtlCol="0" anchor="t"/>
          <a:lstStyle/>
          <a:p>
            <a:pPr indent="0" marL="0">
              <a:buNone/>
            </a:pPr>
            <a:r>
              <a:rPr lang="en-US" sz="3600" spc="40" kern="0" dirty="0">
                <a:solidFill>
                  <a:srgbClr val="E9F2F8"/>
                </a:solidFill>
                <a:latin typeface="Calibri" pitchFamily="34" charset="0"/>
                <a:ea typeface="Calibri" pitchFamily="34" charset="-122"/>
                <a:cs typeface="Calibri" pitchFamily="34" charset="-120"/>
              </a:rPr>
              <a:t>Gizlilik ve güvenlik</a:t>
            </a:r>
            <a:endParaRPr lang="en-US" sz="3600" dirty="0"/>
          </a:p>
        </p:txBody>
      </p:sp>
      <p:sp>
        <p:nvSpPr>
          <p:cNvPr id="4" name="Text 2"/>
          <p:cNvSpPr txBox="1"/>
          <p:nvPr/>
        </p:nvSpPr>
        <p:spPr>
          <a:xfrm>
            <a:off x="566928" y="1719072"/>
            <a:ext cx="10881360" cy="822960"/>
          </a:xfrm>
          <a:prstGeom prst="rect">
            <a:avLst/>
          </a:prstGeom>
          <a:noFill/>
          <a:ln/>
        </p:spPr>
        <p:txBody>
          <a:bodyPr wrap="square" lIns="0" tIns="0" rIns="0" bIns="0" rtlCol="0" anchor="t"/>
          <a:lstStyle/>
          <a:p>
            <a:pPr indent="0" marL="0">
              <a:lnSpc>
                <a:spcPts val="2200"/>
              </a:lnSpc>
              <a:buNone/>
            </a:pPr>
            <a:r>
              <a:rPr lang="en-US" sz="1400" dirty="0">
                <a:solidFill>
                  <a:srgbClr val="A9BCCB"/>
                </a:solidFill>
                <a:latin typeface="Calibri" pitchFamily="34" charset="0"/>
                <a:ea typeface="Calibri" pitchFamily="34" charset="-122"/>
                <a:cs typeface="Calibri" pitchFamily="34" charset="-120"/>
              </a:rPr>
              <a:t>Bir çalışma katmanı, öğrencinin en kişisel verilerinden bazılarını görür: neyi bilmediğini, nerede zorlandığını, hangi hocadan ders aldığını.</a:t>
            </a:r>
            <a:endParaRPr lang="en-US" sz="1400" dirty="0"/>
          </a:p>
        </p:txBody>
      </p:sp>
      <p:sp>
        <p:nvSpPr>
          <p:cNvPr id="5" name="Shape 3"/>
          <p:cNvSpPr/>
          <p:nvPr/>
        </p:nvSpPr>
        <p:spPr>
          <a:xfrm>
            <a:off x="566928" y="2633472"/>
            <a:ext cx="5394960" cy="1280160"/>
          </a:xfrm>
          <a:prstGeom prst="roundRect">
            <a:avLst>
              <a:gd name="adj" fmla="val 4286"/>
            </a:avLst>
          </a:prstGeom>
          <a:solidFill>
            <a:srgbClr val="121C2E">
              <a:alpha val="74000"/>
            </a:srgbClr>
          </a:solidFill>
          <a:ln w="12700">
            <a:solidFill>
              <a:srgbClr val="7FE0B2"/>
            </a:solidFill>
            <a:prstDash val="solid"/>
          </a:ln>
        </p:spPr>
      </p:sp>
      <p:sp>
        <p:nvSpPr>
          <p:cNvPr id="6" name="Text 4"/>
          <p:cNvSpPr txBox="1"/>
          <p:nvPr/>
        </p:nvSpPr>
        <p:spPr>
          <a:xfrm>
            <a:off x="841248" y="2907792"/>
            <a:ext cx="4846320" cy="310896"/>
          </a:xfrm>
          <a:prstGeom prst="rect">
            <a:avLst/>
          </a:prstGeom>
          <a:noFill/>
          <a:ln/>
        </p:spPr>
        <p:txBody>
          <a:bodyPr wrap="square" lIns="0" tIns="0" rIns="0" bIns="0" rtlCol="0" anchor="ctr"/>
          <a:lstStyle/>
          <a:p>
            <a:pPr indent="0" marL="0">
              <a:buNone/>
            </a:pPr>
            <a:r>
              <a:rPr lang="en-US" sz="1500" b="1" dirty="0">
                <a:solidFill>
                  <a:srgbClr val="E9F2F8"/>
                </a:solidFill>
                <a:latin typeface="Calibri" pitchFamily="34" charset="0"/>
                <a:ea typeface="Calibri" pitchFamily="34" charset="-122"/>
                <a:cs typeface="Calibri" pitchFamily="34" charset="-120"/>
              </a:rPr>
              <a:t>Kişisel hafızaya yazılmaz</a:t>
            </a:r>
            <a:endParaRPr lang="en-US" sz="1500" dirty="0"/>
          </a:p>
        </p:txBody>
      </p:sp>
      <p:sp>
        <p:nvSpPr>
          <p:cNvPr id="7" name="Text 5"/>
          <p:cNvSpPr txBox="1"/>
          <p:nvPr/>
        </p:nvSpPr>
        <p:spPr>
          <a:xfrm>
            <a:off x="841248" y="3255264"/>
            <a:ext cx="4846320" cy="530352"/>
          </a:xfrm>
          <a:prstGeom prst="rect">
            <a:avLst/>
          </a:prstGeom>
          <a:noFill/>
          <a:ln/>
        </p:spPr>
        <p:txBody>
          <a:bodyPr wrap="square" lIns="0" tIns="0" rIns="0" bIns="0" rtlCol="0" anchor="t"/>
          <a:lstStyle/>
          <a:p>
            <a:pPr indent="0" marL="0">
              <a:lnSpc>
                <a:spcPts val="1800"/>
              </a:lnSpc>
              <a:buNone/>
            </a:pPr>
            <a:r>
              <a:rPr lang="en-US" sz="1100" dirty="0">
                <a:solidFill>
                  <a:srgbClr val="A9BCCB"/>
                </a:solidFill>
                <a:latin typeface="Calibri" pitchFamily="34" charset="0"/>
                <a:ea typeface="Calibri" pitchFamily="34" charset="-122"/>
                <a:cs typeface="Calibri" pitchFamily="34" charset="-120"/>
              </a:rPr>
              <a:t>Her akademi turu suppress_memory ayarlar; yanıtın üst verisi bunu neden yaptığını söyler. Çalışma materyali kişisel hafızaya girmez.</a:t>
            </a:r>
            <a:endParaRPr lang="en-US" sz="1100" dirty="0"/>
          </a:p>
        </p:txBody>
      </p:sp>
      <p:sp>
        <p:nvSpPr>
          <p:cNvPr id="8" name="Shape 6"/>
          <p:cNvSpPr/>
          <p:nvPr/>
        </p:nvSpPr>
        <p:spPr>
          <a:xfrm>
            <a:off x="6199632" y="2633472"/>
            <a:ext cx="5394960" cy="1280160"/>
          </a:xfrm>
          <a:prstGeom prst="roundRect">
            <a:avLst>
              <a:gd name="adj" fmla="val 4286"/>
            </a:avLst>
          </a:prstGeom>
          <a:solidFill>
            <a:srgbClr val="121C2E">
              <a:alpha val="74000"/>
            </a:srgbClr>
          </a:solidFill>
          <a:ln w="12700">
            <a:solidFill>
              <a:srgbClr val="8EE0FF"/>
            </a:solidFill>
            <a:prstDash val="solid"/>
          </a:ln>
        </p:spPr>
      </p:sp>
      <p:sp>
        <p:nvSpPr>
          <p:cNvPr id="9" name="Text 7"/>
          <p:cNvSpPr txBox="1"/>
          <p:nvPr/>
        </p:nvSpPr>
        <p:spPr>
          <a:xfrm>
            <a:off x="6473952" y="2907792"/>
            <a:ext cx="4846320" cy="310896"/>
          </a:xfrm>
          <a:prstGeom prst="rect">
            <a:avLst/>
          </a:prstGeom>
          <a:noFill/>
          <a:ln/>
        </p:spPr>
        <p:txBody>
          <a:bodyPr wrap="square" lIns="0" tIns="0" rIns="0" bIns="0" rtlCol="0" anchor="ctr"/>
          <a:lstStyle/>
          <a:p>
            <a:pPr indent="0" marL="0">
              <a:buNone/>
            </a:pPr>
            <a:r>
              <a:rPr lang="en-US" sz="1500" b="1" dirty="0">
                <a:solidFill>
                  <a:srgbClr val="E9F2F8"/>
                </a:solidFill>
                <a:latin typeface="Calibri" pitchFamily="34" charset="0"/>
                <a:ea typeface="Calibri" pitchFamily="34" charset="-122"/>
                <a:cs typeface="Calibri" pitchFamily="34" charset="-120"/>
              </a:rPr>
              <a:t>Her şey bu makinede</a:t>
            </a:r>
            <a:endParaRPr lang="en-US" sz="1500" dirty="0"/>
          </a:p>
        </p:txBody>
      </p:sp>
      <p:sp>
        <p:nvSpPr>
          <p:cNvPr id="10" name="Text 8"/>
          <p:cNvSpPr txBox="1"/>
          <p:nvPr/>
        </p:nvSpPr>
        <p:spPr>
          <a:xfrm>
            <a:off x="6473952" y="3255264"/>
            <a:ext cx="4846320" cy="530352"/>
          </a:xfrm>
          <a:prstGeom prst="rect">
            <a:avLst/>
          </a:prstGeom>
          <a:noFill/>
          <a:ln/>
        </p:spPr>
        <p:txBody>
          <a:bodyPr wrap="square" lIns="0" tIns="0" rIns="0" bIns="0" rtlCol="0" anchor="t"/>
          <a:lstStyle/>
          <a:p>
            <a:pPr indent="0" marL="0">
              <a:lnSpc>
                <a:spcPts val="1800"/>
              </a:lnSpc>
              <a:buNone/>
            </a:pPr>
            <a:r>
              <a:rPr lang="en-US" sz="1100" dirty="0">
                <a:solidFill>
                  <a:srgbClr val="A9BCCB"/>
                </a:solidFill>
                <a:latin typeface="Calibri" pitchFamily="34" charset="0"/>
                <a:ea typeface="Calibri" pitchFamily="34" charset="-122"/>
                <a:cs typeface="Calibri" pitchFamily="34" charset="-120"/>
              </a:rPr>
              <a:t>Akademi deposu, içe aktarılan belge kopyaları ve çizilen sayfalar JARVIS_MEDICAL_DIRECTORY altında kalır.</a:t>
            </a:r>
            <a:endParaRPr lang="en-US" sz="1100" dirty="0"/>
          </a:p>
        </p:txBody>
      </p:sp>
      <p:sp>
        <p:nvSpPr>
          <p:cNvPr id="11" name="Shape 9"/>
          <p:cNvSpPr/>
          <p:nvPr/>
        </p:nvSpPr>
        <p:spPr>
          <a:xfrm>
            <a:off x="566928" y="4151376"/>
            <a:ext cx="5394960" cy="1508760"/>
          </a:xfrm>
          <a:prstGeom prst="roundRect">
            <a:avLst>
              <a:gd name="adj" fmla="val 3636"/>
            </a:avLst>
          </a:prstGeom>
          <a:solidFill>
            <a:srgbClr val="121C2E">
              <a:alpha val="74000"/>
            </a:srgbClr>
          </a:solidFill>
          <a:ln w="12700">
            <a:solidFill>
              <a:srgbClr val="B8A8FF"/>
            </a:solidFill>
            <a:prstDash val="solid"/>
          </a:ln>
        </p:spPr>
      </p:sp>
      <p:sp>
        <p:nvSpPr>
          <p:cNvPr id="12" name="Text 10"/>
          <p:cNvSpPr txBox="1"/>
          <p:nvPr/>
        </p:nvSpPr>
        <p:spPr>
          <a:xfrm>
            <a:off x="841248" y="4425696"/>
            <a:ext cx="4846320" cy="310896"/>
          </a:xfrm>
          <a:prstGeom prst="rect">
            <a:avLst/>
          </a:prstGeom>
          <a:noFill/>
          <a:ln/>
        </p:spPr>
        <p:txBody>
          <a:bodyPr wrap="square" lIns="0" tIns="0" rIns="0" bIns="0" rtlCol="0" anchor="ctr"/>
          <a:lstStyle/>
          <a:p>
            <a:pPr indent="0" marL="0">
              <a:buNone/>
            </a:pPr>
            <a:r>
              <a:rPr lang="en-US" sz="1500" b="1" dirty="0">
                <a:solidFill>
                  <a:srgbClr val="E9F2F8"/>
                </a:solidFill>
                <a:latin typeface="Calibri" pitchFamily="34" charset="0"/>
                <a:ea typeface="Calibri" pitchFamily="34" charset="-122"/>
                <a:cs typeface="Calibri" pitchFamily="34" charset="-120"/>
              </a:rPr>
              <a:t>Aynı izin motoru</a:t>
            </a:r>
            <a:endParaRPr lang="en-US" sz="1500" dirty="0"/>
          </a:p>
        </p:txBody>
      </p:sp>
      <p:sp>
        <p:nvSpPr>
          <p:cNvPr id="13" name="Text 11"/>
          <p:cNvSpPr txBox="1"/>
          <p:nvPr/>
        </p:nvSpPr>
        <p:spPr>
          <a:xfrm>
            <a:off x="841248" y="4773168"/>
            <a:ext cx="4846320" cy="758952"/>
          </a:xfrm>
          <a:prstGeom prst="rect">
            <a:avLst/>
          </a:prstGeom>
          <a:noFill/>
          <a:ln/>
        </p:spPr>
        <p:txBody>
          <a:bodyPr wrap="square" lIns="0" tIns="0" rIns="0" bIns="0" rtlCol="0" anchor="t"/>
          <a:lstStyle/>
          <a:p>
            <a:pPr indent="0" marL="0">
              <a:lnSpc>
                <a:spcPts val="1800"/>
              </a:lnSpc>
              <a:buNone/>
            </a:pPr>
            <a:r>
              <a:rPr lang="en-US" sz="1100" dirty="0">
                <a:solidFill>
                  <a:srgbClr val="A9BCCB"/>
                </a:solidFill>
                <a:latin typeface="Calibri" pitchFamily="34" charset="0"/>
                <a:ea typeface="Calibri" pitchFamily="34" charset="-122"/>
                <a:cs typeface="Calibri" pitchFamily="34" charset="-120"/>
              </a:rPr>
              <a:t>Dört tıp aracından üçü salt okunur; medical_open_anatomy düşük risklidir. Hepsi diğer araçlarla aynı izin motorundan geçer.</a:t>
            </a:r>
            <a:endParaRPr lang="en-US" sz="1100" dirty="0"/>
          </a:p>
        </p:txBody>
      </p:sp>
      <p:sp>
        <p:nvSpPr>
          <p:cNvPr id="14" name="Shape 12"/>
          <p:cNvSpPr/>
          <p:nvPr/>
        </p:nvSpPr>
        <p:spPr>
          <a:xfrm>
            <a:off x="6199632" y="4151376"/>
            <a:ext cx="5394960" cy="1508760"/>
          </a:xfrm>
          <a:prstGeom prst="roundRect">
            <a:avLst>
              <a:gd name="adj" fmla="val 3636"/>
            </a:avLst>
          </a:prstGeom>
          <a:solidFill>
            <a:srgbClr val="121C2E">
              <a:alpha val="74000"/>
            </a:srgbClr>
          </a:solidFill>
          <a:ln w="12700">
            <a:solidFill>
              <a:srgbClr val="F0C68A"/>
            </a:solidFill>
            <a:prstDash val="solid"/>
          </a:ln>
        </p:spPr>
      </p:sp>
      <p:sp>
        <p:nvSpPr>
          <p:cNvPr id="15" name="Text 13"/>
          <p:cNvSpPr txBox="1"/>
          <p:nvPr/>
        </p:nvSpPr>
        <p:spPr>
          <a:xfrm>
            <a:off x="6473952" y="4425696"/>
            <a:ext cx="4846320" cy="310896"/>
          </a:xfrm>
          <a:prstGeom prst="rect">
            <a:avLst/>
          </a:prstGeom>
          <a:noFill/>
          <a:ln/>
        </p:spPr>
        <p:txBody>
          <a:bodyPr wrap="square" lIns="0" tIns="0" rIns="0" bIns="0" rtlCol="0" anchor="ctr"/>
          <a:lstStyle/>
          <a:p>
            <a:pPr indent="0" marL="0">
              <a:buNone/>
            </a:pPr>
            <a:r>
              <a:rPr lang="en-US" sz="1500" b="1" dirty="0">
                <a:solidFill>
                  <a:srgbClr val="E9F2F8"/>
                </a:solidFill>
                <a:latin typeface="Calibri" pitchFamily="34" charset="0"/>
                <a:ea typeface="Calibri" pitchFamily="34" charset="-122"/>
                <a:cs typeface="Calibri" pitchFamily="34" charset="-120"/>
              </a:rPr>
              <a:t>Eğitim amaçlı, varsayılan olarak</a:t>
            </a:r>
            <a:endParaRPr lang="en-US" sz="1500" dirty="0"/>
          </a:p>
        </p:txBody>
      </p:sp>
      <p:sp>
        <p:nvSpPr>
          <p:cNvPr id="16" name="Text 14"/>
          <p:cNvSpPr txBox="1"/>
          <p:nvPr/>
        </p:nvSpPr>
        <p:spPr>
          <a:xfrm>
            <a:off x="6473952" y="4773168"/>
            <a:ext cx="4846320" cy="758952"/>
          </a:xfrm>
          <a:prstGeom prst="rect">
            <a:avLst/>
          </a:prstGeom>
          <a:noFill/>
          <a:ln/>
        </p:spPr>
        <p:txBody>
          <a:bodyPr wrap="square" lIns="0" tIns="0" rIns="0" bIns="0" rtlCol="0" anchor="t"/>
          <a:lstStyle/>
          <a:p>
            <a:pPr indent="0" marL="0">
              <a:lnSpc>
                <a:spcPts val="1800"/>
              </a:lnSpc>
              <a:buNone/>
            </a:pPr>
            <a:r>
              <a:rPr lang="en-US" sz="1100" dirty="0">
                <a:solidFill>
                  <a:srgbClr val="A9BCCB"/>
                </a:solidFill>
                <a:latin typeface="Calibri" pitchFamily="34" charset="0"/>
                <a:ea typeface="Calibri" pitchFamily="34" charset="-122"/>
                <a:cs typeface="Calibri" pitchFamily="34" charset="-120"/>
              </a:rPr>
              <a:t>Sıradan anatomi, histoloji ya da sınav soruları uyarı almaz. Yalnızca öğrencinin kendi belirtisi ya da ilacı hakkındaki bir istek, klinik bakıma işaret eden tek satırlık bir not getirir.</a:t>
            </a:r>
            <a:endParaRPr lang="en-US" sz="1100" dirty="0"/>
          </a:p>
        </p:txBody>
      </p:sp>
      <p:sp>
        <p:nvSpPr>
          <p:cNvPr id="17" name="Text 15"/>
          <p:cNvSpPr txBox="1"/>
          <p:nvPr/>
        </p:nvSpPr>
        <p:spPr>
          <a:xfrm>
            <a:off x="566928" y="6382512"/>
            <a:ext cx="2377440" cy="237744"/>
          </a:xfrm>
          <a:prstGeom prst="rect">
            <a:avLst/>
          </a:prstGeom>
          <a:noFill/>
          <a:ln/>
        </p:spPr>
        <p:txBody>
          <a:bodyPr wrap="square" lIns="0" tIns="0" rIns="0" bIns="0" rtlCol="0" anchor="ctr"/>
          <a:lstStyle/>
          <a:p>
            <a:pPr indent="0" marL="0">
              <a:buNone/>
            </a:pPr>
            <a:r>
              <a:rPr lang="en-US" sz="850" spc="220" kern="0" dirty="0">
                <a:solidFill>
                  <a:srgbClr val="43566A"/>
                </a:solidFill>
                <a:latin typeface="Calibri" pitchFamily="34" charset="0"/>
                <a:ea typeface="Calibri" pitchFamily="34" charset="-122"/>
                <a:cs typeface="Calibri" pitchFamily="34" charset="-120"/>
              </a:rPr>
              <a:t>TIP AKADEMİSİ</a:t>
            </a:r>
            <a:endParaRPr lang="en-US" sz="850" dirty="0"/>
          </a:p>
        </p:txBody>
      </p:sp>
      <p:sp>
        <p:nvSpPr>
          <p:cNvPr id="18" name="Text 16"/>
          <p:cNvSpPr txBox="1"/>
          <p:nvPr/>
        </p:nvSpPr>
        <p:spPr>
          <a:xfrm>
            <a:off x="8229600" y="6382512"/>
            <a:ext cx="3364992" cy="237744"/>
          </a:xfrm>
          <a:prstGeom prst="rect">
            <a:avLst/>
          </a:prstGeom>
          <a:noFill/>
          <a:ln/>
        </p:spPr>
        <p:txBody>
          <a:bodyPr wrap="square" lIns="0" tIns="0" rIns="0" bIns="0" rtlCol="0" anchor="ctr"/>
          <a:lstStyle/>
          <a:p>
            <a:pPr algn="r" indent="0" marL="0">
              <a:buNone/>
            </a:pPr>
            <a:r>
              <a:rPr lang="en-US" sz="850" spc="220" kern="0" dirty="0">
                <a:solidFill>
                  <a:srgbClr val="43566A"/>
                </a:solidFill>
                <a:latin typeface="Calibri" pitchFamily="34" charset="0"/>
                <a:ea typeface="Calibri" pitchFamily="34" charset="-122"/>
                <a:cs typeface="Calibri" pitchFamily="34" charset="-120"/>
              </a:rPr>
              <a:t>33  ·  Güvenlik</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66928" y="566928"/>
            <a:ext cx="7680960" cy="237744"/>
          </a:xfrm>
          <a:prstGeom prst="rect">
            <a:avLst/>
          </a:prstGeom>
          <a:noFill/>
          <a:ln/>
        </p:spPr>
        <p:txBody>
          <a:bodyPr wrap="square" lIns="0" tIns="0" rIns="0" bIns="0" rtlCol="0" anchor="ctr"/>
          <a:lstStyle/>
          <a:p>
            <a:pPr indent="0" marL="0">
              <a:buNone/>
            </a:pPr>
            <a:r>
              <a:rPr lang="en-US" sz="1000" b="1" spc="340" kern="0" dirty="0">
                <a:solidFill>
                  <a:srgbClr val="4CC3EA"/>
                </a:solidFill>
                <a:latin typeface="Calibri" pitchFamily="34" charset="0"/>
                <a:ea typeface="Calibri" pitchFamily="34" charset="-122"/>
                <a:cs typeface="Calibri" pitchFamily="34" charset="-120"/>
              </a:rPr>
              <a:t>YOL HARITASI</a:t>
            </a:r>
            <a:endParaRPr lang="en-US" sz="1000" dirty="0"/>
          </a:p>
        </p:txBody>
      </p:sp>
      <p:sp>
        <p:nvSpPr>
          <p:cNvPr id="3" name="Text 1"/>
          <p:cNvSpPr txBox="1"/>
          <p:nvPr/>
        </p:nvSpPr>
        <p:spPr>
          <a:xfrm>
            <a:off x="548640" y="841248"/>
            <a:ext cx="8229600" cy="786384"/>
          </a:xfrm>
          <a:prstGeom prst="rect">
            <a:avLst/>
          </a:prstGeom>
          <a:noFill/>
          <a:ln/>
        </p:spPr>
        <p:txBody>
          <a:bodyPr wrap="square" lIns="0" tIns="0" rIns="0" bIns="0" rtlCol="0" anchor="t"/>
          <a:lstStyle/>
          <a:p>
            <a:pPr indent="0" marL="0">
              <a:buNone/>
            </a:pPr>
            <a:r>
              <a:rPr lang="en-US" sz="3600" spc="40" kern="0" dirty="0">
                <a:solidFill>
                  <a:srgbClr val="E9F2F8"/>
                </a:solidFill>
                <a:latin typeface="Calibri" pitchFamily="34" charset="0"/>
                <a:ea typeface="Calibri" pitchFamily="34" charset="-122"/>
                <a:cs typeface="Calibri" pitchFamily="34" charset="-120"/>
              </a:rPr>
              <a:t>Henüz yapılmayanlar</a:t>
            </a:r>
            <a:endParaRPr lang="en-US" sz="3600" dirty="0"/>
          </a:p>
        </p:txBody>
      </p:sp>
      <p:sp>
        <p:nvSpPr>
          <p:cNvPr id="4" name="Text 2"/>
          <p:cNvSpPr txBox="1"/>
          <p:nvPr/>
        </p:nvSpPr>
        <p:spPr>
          <a:xfrm>
            <a:off x="566928" y="1719072"/>
            <a:ext cx="10881360" cy="822960"/>
          </a:xfrm>
          <a:prstGeom prst="rect">
            <a:avLst/>
          </a:prstGeom>
          <a:noFill/>
          <a:ln/>
        </p:spPr>
        <p:txBody>
          <a:bodyPr wrap="square" lIns="0" tIns="0" rIns="0" bIns="0" rtlCol="0" anchor="t"/>
          <a:lstStyle/>
          <a:p>
            <a:pPr indent="0" marL="0">
              <a:lnSpc>
                <a:spcPts val="2200"/>
              </a:lnSpc>
              <a:buNone/>
            </a:pPr>
            <a:r>
              <a:rPr lang="en-US" sz="1400" dirty="0">
                <a:solidFill>
                  <a:srgbClr val="A9BCCB"/>
                </a:solidFill>
                <a:latin typeface="Calibri" pitchFamily="34" charset="0"/>
                <a:ea typeface="Calibri" pitchFamily="34" charset="-122"/>
                <a:cs typeface="Calibri" pitchFamily="34" charset="-120"/>
              </a:rPr>
              <a:t>Kapsanan bölgeler: baş ve boyun, gövde, iki ekstremite. Kapsanmayanlar ve eksikler burada — dürüstçe.</a:t>
            </a:r>
            <a:endParaRPr lang="en-US" sz="1400" dirty="0"/>
          </a:p>
        </p:txBody>
      </p:sp>
      <p:sp>
        <p:nvSpPr>
          <p:cNvPr id="5" name="Shape 3"/>
          <p:cNvSpPr/>
          <p:nvPr/>
        </p:nvSpPr>
        <p:spPr>
          <a:xfrm>
            <a:off x="566928" y="2578608"/>
            <a:ext cx="3480206" cy="1490472"/>
          </a:xfrm>
          <a:prstGeom prst="roundRect">
            <a:avLst>
              <a:gd name="adj" fmla="val 3681"/>
            </a:avLst>
          </a:prstGeom>
          <a:solidFill>
            <a:srgbClr val="121C2E">
              <a:alpha val="74000"/>
            </a:srgbClr>
          </a:solidFill>
          <a:ln w="12700">
            <a:solidFill>
              <a:srgbClr val="24384B"/>
            </a:solidFill>
            <a:prstDash val="solid"/>
          </a:ln>
        </p:spPr>
      </p:sp>
      <p:sp>
        <p:nvSpPr>
          <p:cNvPr id="6" name="Text 4"/>
          <p:cNvSpPr txBox="1"/>
          <p:nvPr/>
        </p:nvSpPr>
        <p:spPr>
          <a:xfrm>
            <a:off x="841248" y="2852928"/>
            <a:ext cx="2931566" cy="310896"/>
          </a:xfrm>
          <a:prstGeom prst="rect">
            <a:avLst/>
          </a:prstGeom>
          <a:noFill/>
          <a:ln/>
        </p:spPr>
        <p:txBody>
          <a:bodyPr wrap="square" lIns="0" tIns="0" rIns="0" bIns="0" rtlCol="0" anchor="ctr"/>
          <a:lstStyle/>
          <a:p>
            <a:pPr indent="0" marL="0">
              <a:buNone/>
            </a:pPr>
            <a:r>
              <a:rPr lang="en-US" sz="1400" b="1" dirty="0">
                <a:solidFill>
                  <a:srgbClr val="E9F2F8"/>
                </a:solidFill>
                <a:latin typeface="Calibri" pitchFamily="34" charset="0"/>
                <a:ea typeface="Calibri" pitchFamily="34" charset="-122"/>
                <a:cs typeface="Calibri" pitchFamily="34" charset="-120"/>
              </a:rPr>
              <a:t>Kapsanmayan bölgeler</a:t>
            </a:r>
            <a:endParaRPr lang="en-US" sz="1400" dirty="0"/>
          </a:p>
        </p:txBody>
      </p:sp>
      <p:sp>
        <p:nvSpPr>
          <p:cNvPr id="7" name="Text 5"/>
          <p:cNvSpPr txBox="1"/>
          <p:nvPr/>
        </p:nvSpPr>
        <p:spPr>
          <a:xfrm>
            <a:off x="841248" y="3182112"/>
            <a:ext cx="2931566" cy="758952"/>
          </a:xfrm>
          <a:prstGeom prst="rect">
            <a:avLst/>
          </a:prstGeom>
          <a:noFill/>
          <a:ln/>
        </p:spPr>
        <p:txBody>
          <a:bodyPr wrap="square" lIns="0" tIns="0" rIns="0" bIns="0" rtlCol="0" anchor="t"/>
          <a:lstStyle/>
          <a:p>
            <a:pPr indent="0" marL="0">
              <a:lnSpc>
                <a:spcPts val="1800"/>
              </a:lnSpc>
              <a:buNone/>
            </a:pPr>
            <a:r>
              <a:rPr lang="en-US" sz="1100" dirty="0">
                <a:solidFill>
                  <a:srgbClr val="A9BCCB"/>
                </a:solidFill>
                <a:latin typeface="Calibri" pitchFamily="34" charset="0"/>
                <a:ea typeface="Calibri" pitchFamily="34" charset="-122"/>
                <a:cs typeface="Calibri" pitchFamily="34" charset="-120"/>
              </a:rPr>
              <a:t>Pelvis ve perine ayrıntıda, iç organlar, yüz kasları, el ve ayağın intrinsik kasları.</a:t>
            </a:r>
            <a:endParaRPr lang="en-US" sz="1100" dirty="0"/>
          </a:p>
        </p:txBody>
      </p:sp>
      <p:sp>
        <p:nvSpPr>
          <p:cNvPr id="8" name="Shape 6"/>
          <p:cNvSpPr/>
          <p:nvPr/>
        </p:nvSpPr>
        <p:spPr>
          <a:xfrm>
            <a:off x="4339742" y="2578608"/>
            <a:ext cx="3480206" cy="1490472"/>
          </a:xfrm>
          <a:prstGeom prst="roundRect">
            <a:avLst>
              <a:gd name="adj" fmla="val 3681"/>
            </a:avLst>
          </a:prstGeom>
          <a:solidFill>
            <a:srgbClr val="121C2E">
              <a:alpha val="74000"/>
            </a:srgbClr>
          </a:solidFill>
          <a:ln w="12700">
            <a:solidFill>
              <a:srgbClr val="24384B"/>
            </a:solidFill>
            <a:prstDash val="solid"/>
          </a:ln>
        </p:spPr>
      </p:sp>
      <p:sp>
        <p:nvSpPr>
          <p:cNvPr id="9" name="Text 7"/>
          <p:cNvSpPr txBox="1"/>
          <p:nvPr/>
        </p:nvSpPr>
        <p:spPr>
          <a:xfrm>
            <a:off x="4614062" y="2852928"/>
            <a:ext cx="2931566" cy="310896"/>
          </a:xfrm>
          <a:prstGeom prst="rect">
            <a:avLst/>
          </a:prstGeom>
          <a:noFill/>
          <a:ln/>
        </p:spPr>
        <p:txBody>
          <a:bodyPr wrap="square" lIns="0" tIns="0" rIns="0" bIns="0" rtlCol="0" anchor="ctr"/>
          <a:lstStyle/>
          <a:p>
            <a:pPr indent="0" marL="0">
              <a:buNone/>
            </a:pPr>
            <a:r>
              <a:rPr lang="en-US" sz="1400" b="1" dirty="0">
                <a:solidFill>
                  <a:srgbClr val="E9F2F8"/>
                </a:solidFill>
                <a:latin typeface="Calibri" pitchFamily="34" charset="0"/>
                <a:ea typeface="Calibri" pitchFamily="34" charset="-122"/>
                <a:cs typeface="Calibri" pitchFamily="34" charset="-120"/>
              </a:rPr>
              <a:t>Çevresel sinir mesh'i</a:t>
            </a:r>
            <a:endParaRPr lang="en-US" sz="1400" dirty="0"/>
          </a:p>
        </p:txBody>
      </p:sp>
      <p:sp>
        <p:nvSpPr>
          <p:cNvPr id="10" name="Text 8"/>
          <p:cNvSpPr txBox="1"/>
          <p:nvPr/>
        </p:nvSpPr>
        <p:spPr>
          <a:xfrm>
            <a:off x="4614062" y="3182112"/>
            <a:ext cx="2931566" cy="758952"/>
          </a:xfrm>
          <a:prstGeom prst="rect">
            <a:avLst/>
          </a:prstGeom>
          <a:noFill/>
          <a:ln/>
        </p:spPr>
        <p:txBody>
          <a:bodyPr wrap="square" lIns="0" tIns="0" rIns="0" bIns="0" rtlCol="0" anchor="t"/>
          <a:lstStyle/>
          <a:p>
            <a:pPr indent="0" marL="0">
              <a:lnSpc>
                <a:spcPts val="1800"/>
              </a:lnSpc>
              <a:buNone/>
            </a:pPr>
            <a:r>
              <a:rPr lang="en-US" sz="1100" dirty="0">
                <a:solidFill>
                  <a:srgbClr val="A9BCCB"/>
                </a:solidFill>
                <a:latin typeface="Calibri" pitchFamily="34" charset="0"/>
                <a:ea typeface="Calibri" pitchFamily="34" charset="-122"/>
                <a:cs typeface="Calibri" pitchFamily="34" charset="-120"/>
              </a:rPr>
              <a:t>BodyParts3D 4.0'da yok; sinir kartları şematik haritada kalır.</a:t>
            </a:r>
            <a:endParaRPr lang="en-US" sz="1100" dirty="0"/>
          </a:p>
        </p:txBody>
      </p:sp>
      <p:sp>
        <p:nvSpPr>
          <p:cNvPr id="11" name="Shape 9"/>
          <p:cNvSpPr/>
          <p:nvPr/>
        </p:nvSpPr>
        <p:spPr>
          <a:xfrm>
            <a:off x="8112557" y="2578608"/>
            <a:ext cx="3480206" cy="1490472"/>
          </a:xfrm>
          <a:prstGeom prst="roundRect">
            <a:avLst>
              <a:gd name="adj" fmla="val 3681"/>
            </a:avLst>
          </a:prstGeom>
          <a:solidFill>
            <a:srgbClr val="121C2E">
              <a:alpha val="74000"/>
            </a:srgbClr>
          </a:solidFill>
          <a:ln w="12700">
            <a:solidFill>
              <a:srgbClr val="24384B"/>
            </a:solidFill>
            <a:prstDash val="solid"/>
          </a:ln>
        </p:spPr>
      </p:sp>
      <p:sp>
        <p:nvSpPr>
          <p:cNvPr id="12" name="Text 10"/>
          <p:cNvSpPr txBox="1"/>
          <p:nvPr/>
        </p:nvSpPr>
        <p:spPr>
          <a:xfrm>
            <a:off x="8386877" y="2852928"/>
            <a:ext cx="2931566" cy="310896"/>
          </a:xfrm>
          <a:prstGeom prst="rect">
            <a:avLst/>
          </a:prstGeom>
          <a:noFill/>
          <a:ln/>
        </p:spPr>
        <p:txBody>
          <a:bodyPr wrap="square" lIns="0" tIns="0" rIns="0" bIns="0" rtlCol="0" anchor="ctr"/>
          <a:lstStyle/>
          <a:p>
            <a:pPr indent="0" marL="0">
              <a:buNone/>
            </a:pPr>
            <a:r>
              <a:rPr lang="en-US" sz="1400" b="1" dirty="0">
                <a:solidFill>
                  <a:srgbClr val="E9F2F8"/>
                </a:solidFill>
                <a:latin typeface="Calibri" pitchFamily="34" charset="0"/>
                <a:ea typeface="Calibri" pitchFamily="34" charset="-122"/>
                <a:cs typeface="Calibri" pitchFamily="34" charset="-120"/>
              </a:rPr>
              <a:t>Görsel soru üretimi</a:t>
            </a:r>
            <a:endParaRPr lang="en-US" sz="1400" dirty="0"/>
          </a:p>
        </p:txBody>
      </p:sp>
      <p:sp>
        <p:nvSpPr>
          <p:cNvPr id="13" name="Text 11"/>
          <p:cNvSpPr txBox="1"/>
          <p:nvPr/>
        </p:nvSpPr>
        <p:spPr>
          <a:xfrm>
            <a:off x="8386877" y="3182112"/>
            <a:ext cx="2931566" cy="758952"/>
          </a:xfrm>
          <a:prstGeom prst="rect">
            <a:avLst/>
          </a:prstGeom>
          <a:noFill/>
          <a:ln/>
        </p:spPr>
        <p:txBody>
          <a:bodyPr wrap="square" lIns="0" tIns="0" rIns="0" bIns="0" rtlCol="0" anchor="t"/>
          <a:lstStyle/>
          <a:p>
            <a:pPr indent="0" marL="0">
              <a:lnSpc>
                <a:spcPts val="1800"/>
              </a:lnSpc>
              <a:buNone/>
            </a:pPr>
            <a:r>
              <a:rPr lang="en-US" sz="1100" dirty="0">
                <a:solidFill>
                  <a:srgbClr val="A9BCCB"/>
                </a:solidFill>
                <a:latin typeface="Calibri" pitchFamily="34" charset="0"/>
                <a:ea typeface="Calibri" pitchFamily="34" charset="-122"/>
                <a:cs typeface="Calibri" pitchFamily="34" charset="-120"/>
              </a:rPr>
              <a:t>Kökeni bilinen bir görüntü gerekir; içe aktarılan görselli sorular resmini korur, yeni maddeler metin olarak yazılır.</a:t>
            </a:r>
            <a:endParaRPr lang="en-US" sz="1100" dirty="0"/>
          </a:p>
        </p:txBody>
      </p:sp>
      <p:sp>
        <p:nvSpPr>
          <p:cNvPr id="14" name="Shape 12"/>
          <p:cNvSpPr/>
          <p:nvPr/>
        </p:nvSpPr>
        <p:spPr>
          <a:xfrm>
            <a:off x="566928" y="4270248"/>
            <a:ext cx="3480206" cy="1261872"/>
          </a:xfrm>
          <a:prstGeom prst="roundRect">
            <a:avLst>
              <a:gd name="adj" fmla="val 4348"/>
            </a:avLst>
          </a:prstGeom>
          <a:solidFill>
            <a:srgbClr val="121C2E">
              <a:alpha val="74000"/>
            </a:srgbClr>
          </a:solidFill>
          <a:ln w="12700">
            <a:solidFill>
              <a:srgbClr val="24384B"/>
            </a:solidFill>
            <a:prstDash val="solid"/>
          </a:ln>
        </p:spPr>
      </p:sp>
      <p:sp>
        <p:nvSpPr>
          <p:cNvPr id="15" name="Text 13"/>
          <p:cNvSpPr txBox="1"/>
          <p:nvPr/>
        </p:nvSpPr>
        <p:spPr>
          <a:xfrm>
            <a:off x="841248" y="4544568"/>
            <a:ext cx="2931566" cy="310896"/>
          </a:xfrm>
          <a:prstGeom prst="rect">
            <a:avLst/>
          </a:prstGeom>
          <a:noFill/>
          <a:ln/>
        </p:spPr>
        <p:txBody>
          <a:bodyPr wrap="square" lIns="0" tIns="0" rIns="0" bIns="0" rtlCol="0" anchor="ctr"/>
          <a:lstStyle/>
          <a:p>
            <a:pPr indent="0" marL="0">
              <a:buNone/>
            </a:pPr>
            <a:r>
              <a:rPr lang="en-US" sz="1400" b="1" dirty="0">
                <a:solidFill>
                  <a:srgbClr val="E9F2F8"/>
                </a:solidFill>
                <a:latin typeface="Calibri" pitchFamily="34" charset="0"/>
                <a:ea typeface="Calibri" pitchFamily="34" charset="-122"/>
                <a:cs typeface="Calibri" pitchFamily="34" charset="-120"/>
              </a:rPr>
              <a:t>Histoloji maskeleri</a:t>
            </a:r>
            <a:endParaRPr lang="en-US" sz="1400" dirty="0"/>
          </a:p>
        </p:txBody>
      </p:sp>
      <p:sp>
        <p:nvSpPr>
          <p:cNvPr id="16" name="Text 14"/>
          <p:cNvSpPr txBox="1"/>
          <p:nvPr/>
        </p:nvSpPr>
        <p:spPr>
          <a:xfrm>
            <a:off x="841248" y="4873752"/>
            <a:ext cx="2931566" cy="530352"/>
          </a:xfrm>
          <a:prstGeom prst="rect">
            <a:avLst/>
          </a:prstGeom>
          <a:noFill/>
          <a:ln/>
        </p:spPr>
        <p:txBody>
          <a:bodyPr wrap="square" lIns="0" tIns="0" rIns="0" bIns="0" rtlCol="0" anchor="t"/>
          <a:lstStyle/>
          <a:p>
            <a:pPr indent="0" marL="0">
              <a:lnSpc>
                <a:spcPts val="1800"/>
              </a:lnSpc>
              <a:buNone/>
            </a:pPr>
            <a:r>
              <a:rPr lang="en-US" sz="1100" dirty="0">
                <a:solidFill>
                  <a:srgbClr val="A9BCCB"/>
                </a:solidFill>
                <a:latin typeface="Calibri" pitchFamily="34" charset="0"/>
                <a:ea typeface="Calibri" pitchFamily="34" charset="-122"/>
                <a:cs typeface="Calibri" pitchFamily="34" charset="-120"/>
              </a:rPr>
              <a:t>Depoda desteği var, çizim aracı yok. Metin-yalnız bir belge kırpma vermez.</a:t>
            </a:r>
            <a:endParaRPr lang="en-US" sz="1100" dirty="0"/>
          </a:p>
        </p:txBody>
      </p:sp>
      <p:sp>
        <p:nvSpPr>
          <p:cNvPr id="17" name="Shape 15"/>
          <p:cNvSpPr/>
          <p:nvPr/>
        </p:nvSpPr>
        <p:spPr>
          <a:xfrm>
            <a:off x="4339742" y="4270248"/>
            <a:ext cx="3480206" cy="1261872"/>
          </a:xfrm>
          <a:prstGeom prst="roundRect">
            <a:avLst>
              <a:gd name="adj" fmla="val 4348"/>
            </a:avLst>
          </a:prstGeom>
          <a:solidFill>
            <a:srgbClr val="121C2E">
              <a:alpha val="74000"/>
            </a:srgbClr>
          </a:solidFill>
          <a:ln w="12700">
            <a:solidFill>
              <a:srgbClr val="24384B"/>
            </a:solidFill>
            <a:prstDash val="solid"/>
          </a:ln>
        </p:spPr>
      </p:sp>
      <p:sp>
        <p:nvSpPr>
          <p:cNvPr id="18" name="Text 16"/>
          <p:cNvSpPr txBox="1"/>
          <p:nvPr/>
        </p:nvSpPr>
        <p:spPr>
          <a:xfrm>
            <a:off x="4614062" y="4544568"/>
            <a:ext cx="2931566" cy="310896"/>
          </a:xfrm>
          <a:prstGeom prst="rect">
            <a:avLst/>
          </a:prstGeom>
          <a:noFill/>
          <a:ln/>
        </p:spPr>
        <p:txBody>
          <a:bodyPr wrap="square" lIns="0" tIns="0" rIns="0" bIns="0" rtlCol="0" anchor="ctr"/>
          <a:lstStyle/>
          <a:p>
            <a:pPr indent="0" marL="0">
              <a:buNone/>
            </a:pPr>
            <a:r>
              <a:rPr lang="en-US" sz="1400" b="1" dirty="0">
                <a:solidFill>
                  <a:srgbClr val="E9F2F8"/>
                </a:solidFill>
                <a:latin typeface="Calibri" pitchFamily="34" charset="0"/>
                <a:ea typeface="Calibri" pitchFamily="34" charset="-122"/>
                <a:cs typeface="Calibri" pitchFamily="34" charset="-120"/>
              </a:rPr>
              <a:t>Plan ağırlıkları</a:t>
            </a:r>
            <a:endParaRPr lang="en-US" sz="1400" dirty="0"/>
          </a:p>
        </p:txBody>
      </p:sp>
      <p:sp>
        <p:nvSpPr>
          <p:cNvPr id="19" name="Text 17"/>
          <p:cNvSpPr txBox="1"/>
          <p:nvPr/>
        </p:nvSpPr>
        <p:spPr>
          <a:xfrm>
            <a:off x="4614062" y="4873752"/>
            <a:ext cx="2931566" cy="530352"/>
          </a:xfrm>
          <a:prstGeom prst="rect">
            <a:avLst/>
          </a:prstGeom>
          <a:noFill/>
          <a:ln/>
        </p:spPr>
        <p:txBody>
          <a:bodyPr wrap="square" lIns="0" tIns="0" rIns="0" bIns="0" rtlCol="0" anchor="t"/>
          <a:lstStyle/>
          <a:p>
            <a:pPr indent="0" marL="0">
              <a:lnSpc>
                <a:spcPts val="1800"/>
              </a:lnSpc>
              <a:buNone/>
            </a:pPr>
            <a:r>
              <a:rPr lang="en-US" sz="1100" dirty="0">
                <a:solidFill>
                  <a:srgbClr val="A9BCCB"/>
                </a:solidFill>
                <a:latin typeface="Calibri" pitchFamily="34" charset="0"/>
                <a:ea typeface="Calibri" pitchFamily="34" charset="-122"/>
                <a:cs typeface="Calibri" pitchFamily="34" charset="-120"/>
              </a:rPr>
              <a:t>Ağırlık ve öncelikler için henüz editör yok; varsayılanlar uygulanır.</a:t>
            </a:r>
            <a:endParaRPr lang="en-US" sz="1100" dirty="0"/>
          </a:p>
        </p:txBody>
      </p:sp>
      <p:sp>
        <p:nvSpPr>
          <p:cNvPr id="20" name="Shape 18"/>
          <p:cNvSpPr/>
          <p:nvPr/>
        </p:nvSpPr>
        <p:spPr>
          <a:xfrm>
            <a:off x="8112557" y="4270248"/>
            <a:ext cx="3480206" cy="1261872"/>
          </a:xfrm>
          <a:prstGeom prst="roundRect">
            <a:avLst>
              <a:gd name="adj" fmla="val 4348"/>
            </a:avLst>
          </a:prstGeom>
          <a:solidFill>
            <a:srgbClr val="121C2E">
              <a:alpha val="74000"/>
            </a:srgbClr>
          </a:solidFill>
          <a:ln w="12700">
            <a:solidFill>
              <a:srgbClr val="24384B"/>
            </a:solidFill>
            <a:prstDash val="solid"/>
          </a:ln>
        </p:spPr>
      </p:sp>
      <p:sp>
        <p:nvSpPr>
          <p:cNvPr id="21" name="Text 19"/>
          <p:cNvSpPr txBox="1"/>
          <p:nvPr/>
        </p:nvSpPr>
        <p:spPr>
          <a:xfrm>
            <a:off x="8386877" y="4544568"/>
            <a:ext cx="2931566" cy="310896"/>
          </a:xfrm>
          <a:prstGeom prst="rect">
            <a:avLst/>
          </a:prstGeom>
          <a:noFill/>
          <a:ln/>
        </p:spPr>
        <p:txBody>
          <a:bodyPr wrap="square" lIns="0" tIns="0" rIns="0" bIns="0" rtlCol="0" anchor="ctr"/>
          <a:lstStyle/>
          <a:p>
            <a:pPr indent="0" marL="0">
              <a:buNone/>
            </a:pPr>
            <a:r>
              <a:rPr lang="en-US" sz="1400" b="1" dirty="0">
                <a:solidFill>
                  <a:srgbClr val="E9F2F8"/>
                </a:solidFill>
                <a:latin typeface="Calibri" pitchFamily="34" charset="0"/>
                <a:ea typeface="Calibri" pitchFamily="34" charset="-122"/>
                <a:cs typeface="Calibri" pitchFamily="34" charset="-120"/>
              </a:rPr>
              <a:t>Sunum okuma</a:t>
            </a:r>
            <a:endParaRPr lang="en-US" sz="1400" dirty="0"/>
          </a:p>
        </p:txBody>
      </p:sp>
      <p:sp>
        <p:nvSpPr>
          <p:cNvPr id="22" name="Text 20"/>
          <p:cNvSpPr txBox="1"/>
          <p:nvPr/>
        </p:nvSpPr>
        <p:spPr>
          <a:xfrm>
            <a:off x="8386877" y="4873752"/>
            <a:ext cx="2931566" cy="530352"/>
          </a:xfrm>
          <a:prstGeom prst="rect">
            <a:avLst/>
          </a:prstGeom>
          <a:noFill/>
          <a:ln/>
        </p:spPr>
        <p:txBody>
          <a:bodyPr wrap="square" lIns="0" tIns="0" rIns="0" bIns="0" rtlCol="0" anchor="t"/>
          <a:lstStyle/>
          <a:p>
            <a:pPr indent="0" marL="0">
              <a:lnSpc>
                <a:spcPts val="1800"/>
              </a:lnSpc>
              <a:buNone/>
            </a:pPr>
            <a:r>
              <a:rPr lang="en-US" sz="1100" dirty="0">
                <a:solidFill>
                  <a:srgbClr val="A9BCCB"/>
                </a:solidFill>
                <a:latin typeface="Calibri" pitchFamily="34" charset="0"/>
                <a:ea typeface="Calibri" pitchFamily="34" charset="-122"/>
                <a:cs typeface="Calibri" pitchFamily="34" charset="-120"/>
              </a:rPr>
              <a:t>Sunumlar yalnızca kurulu PowerPoint üzerinden okunur; paketlenmiş bir çizici yok.</a:t>
            </a:r>
            <a:endParaRPr lang="en-US" sz="1100" dirty="0"/>
          </a:p>
        </p:txBody>
      </p:sp>
      <p:sp>
        <p:nvSpPr>
          <p:cNvPr id="23" name="Shape 21"/>
          <p:cNvSpPr/>
          <p:nvPr/>
        </p:nvSpPr>
        <p:spPr>
          <a:xfrm>
            <a:off x="566928" y="5751576"/>
            <a:ext cx="11027664" cy="512064"/>
          </a:xfrm>
          <a:prstGeom prst="roundRect">
            <a:avLst>
              <a:gd name="adj" fmla="val 10714"/>
            </a:avLst>
          </a:prstGeom>
          <a:solidFill>
            <a:srgbClr val="121C2E">
              <a:alpha val="60000"/>
            </a:srgbClr>
          </a:solidFill>
          <a:ln w="12700">
            <a:solidFill>
              <a:srgbClr val="1B7BA0"/>
            </a:solidFill>
            <a:prstDash val="solid"/>
          </a:ln>
        </p:spPr>
      </p:sp>
      <p:sp>
        <p:nvSpPr>
          <p:cNvPr id="24" name="Text 22"/>
          <p:cNvSpPr txBox="1"/>
          <p:nvPr/>
        </p:nvSpPr>
        <p:spPr>
          <a:xfrm>
            <a:off x="841248" y="5751576"/>
            <a:ext cx="10515600" cy="512064"/>
          </a:xfrm>
          <a:prstGeom prst="rect">
            <a:avLst/>
          </a:prstGeom>
          <a:noFill/>
          <a:ln/>
        </p:spPr>
        <p:txBody>
          <a:bodyPr wrap="square" lIns="0" tIns="0" rIns="0" bIns="0" rtlCol="0" anchor="ctr"/>
          <a:lstStyle/>
          <a:p>
            <a:pPr indent="0" marL="0">
              <a:buNone/>
            </a:pPr>
            <a:r>
              <a:rPr lang="en-US" sz="1150" dirty="0">
                <a:solidFill>
                  <a:srgbClr val="A9BCCB"/>
                </a:solidFill>
                <a:latin typeface="Calibri" pitchFamily="34" charset="0"/>
                <a:ea typeface="Calibri" pitchFamily="34" charset="-122"/>
                <a:cs typeface="Calibri" pitchFamily="34" charset="-120"/>
              </a:rPr>
              <a:t>Model gerektiren adımlar sağlayıcı olmadan da akışı durdurmaz: her biri neyi yapamadığını kaydeder ve akış devam eder.</a:t>
            </a:r>
            <a:endParaRPr lang="en-US" sz="1150" dirty="0"/>
          </a:p>
        </p:txBody>
      </p:sp>
      <p:sp>
        <p:nvSpPr>
          <p:cNvPr id="25" name="Text 23"/>
          <p:cNvSpPr txBox="1"/>
          <p:nvPr/>
        </p:nvSpPr>
        <p:spPr>
          <a:xfrm>
            <a:off x="566928" y="6382512"/>
            <a:ext cx="2377440" cy="237744"/>
          </a:xfrm>
          <a:prstGeom prst="rect">
            <a:avLst/>
          </a:prstGeom>
          <a:noFill/>
          <a:ln/>
        </p:spPr>
        <p:txBody>
          <a:bodyPr wrap="square" lIns="0" tIns="0" rIns="0" bIns="0" rtlCol="0" anchor="ctr"/>
          <a:lstStyle/>
          <a:p>
            <a:pPr indent="0" marL="0">
              <a:buNone/>
            </a:pPr>
            <a:r>
              <a:rPr lang="en-US" sz="850" spc="220" kern="0" dirty="0">
                <a:solidFill>
                  <a:srgbClr val="43566A"/>
                </a:solidFill>
                <a:latin typeface="Calibri" pitchFamily="34" charset="0"/>
                <a:ea typeface="Calibri" pitchFamily="34" charset="-122"/>
                <a:cs typeface="Calibri" pitchFamily="34" charset="-120"/>
              </a:rPr>
              <a:t>TIP AKADEMİSİ</a:t>
            </a:r>
            <a:endParaRPr lang="en-US" sz="850" dirty="0"/>
          </a:p>
        </p:txBody>
      </p:sp>
      <p:sp>
        <p:nvSpPr>
          <p:cNvPr id="26" name="Text 24"/>
          <p:cNvSpPr txBox="1"/>
          <p:nvPr/>
        </p:nvSpPr>
        <p:spPr>
          <a:xfrm>
            <a:off x="8229600" y="6382512"/>
            <a:ext cx="3364992" cy="237744"/>
          </a:xfrm>
          <a:prstGeom prst="rect">
            <a:avLst/>
          </a:prstGeom>
          <a:noFill/>
          <a:ln/>
        </p:spPr>
        <p:txBody>
          <a:bodyPr wrap="square" lIns="0" tIns="0" rIns="0" bIns="0" rtlCol="0" anchor="ctr"/>
          <a:lstStyle/>
          <a:p>
            <a:pPr algn="r" indent="0" marL="0">
              <a:buNone/>
            </a:pPr>
            <a:r>
              <a:rPr lang="en-US" sz="850" spc="220" kern="0" dirty="0">
                <a:solidFill>
                  <a:srgbClr val="43566A"/>
                </a:solidFill>
                <a:latin typeface="Calibri" pitchFamily="34" charset="0"/>
                <a:ea typeface="Calibri" pitchFamily="34" charset="-122"/>
                <a:cs typeface="Calibri" pitchFamily="34" charset="-120"/>
              </a:rPr>
              <a:t>34  ·  Yol haritası</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965960" y="2139696"/>
            <a:ext cx="8229600" cy="1005840"/>
          </a:xfrm>
          <a:prstGeom prst="rect">
            <a:avLst/>
          </a:prstGeom>
          <a:noFill/>
          <a:ln/>
        </p:spPr>
        <p:txBody>
          <a:bodyPr wrap="square" lIns="0" tIns="0" rIns="0" bIns="0" rtlCol="0" anchor="ctr"/>
          <a:lstStyle/>
          <a:p>
            <a:pPr algn="ctr" indent="0" marL="0">
              <a:buNone/>
            </a:pPr>
            <a:r>
              <a:rPr lang="en-US" sz="5000" b="1" spc="180" kern="0" dirty="0">
                <a:solidFill>
                  <a:srgbClr val="E9F2F8"/>
                </a:solidFill>
                <a:latin typeface="Calibri" pitchFamily="34" charset="0"/>
                <a:ea typeface="Calibri" pitchFamily="34" charset="-122"/>
                <a:cs typeface="Calibri" pitchFamily="34" charset="-120"/>
              </a:rPr>
              <a:t>Tıp Akademisi</a:t>
            </a:r>
            <a:endParaRPr lang="en-US" sz="5000" dirty="0"/>
          </a:p>
        </p:txBody>
      </p:sp>
      <p:sp>
        <p:nvSpPr>
          <p:cNvPr id="3" name="Text 1"/>
          <p:cNvSpPr txBox="1"/>
          <p:nvPr/>
        </p:nvSpPr>
        <p:spPr>
          <a:xfrm>
            <a:off x="1965960" y="3236976"/>
            <a:ext cx="8229600" cy="457200"/>
          </a:xfrm>
          <a:prstGeom prst="rect">
            <a:avLst/>
          </a:prstGeom>
          <a:noFill/>
          <a:ln/>
        </p:spPr>
        <p:txBody>
          <a:bodyPr wrap="square" lIns="0" tIns="0" rIns="0" bIns="0" rtlCol="0" anchor="ctr"/>
          <a:lstStyle/>
          <a:p>
            <a:pPr algn="ctr" indent="0" marL="0">
              <a:lnSpc>
                <a:spcPts val="2600"/>
              </a:lnSpc>
              <a:buNone/>
            </a:pPr>
            <a:r>
              <a:rPr lang="en-US" sz="1800" dirty="0">
                <a:solidFill>
                  <a:srgbClr val="8EE0FF"/>
                </a:solidFill>
                <a:latin typeface="Calibri" pitchFamily="34" charset="0"/>
                <a:ea typeface="Calibri" pitchFamily="34" charset="-122"/>
                <a:cs typeface="Calibri" pitchFamily="34" charset="-120"/>
              </a:rPr>
              <a:t>Bilmediğini bilen bir çalışma arkadaşı.</a:t>
            </a:r>
            <a:endParaRPr lang="en-US" sz="1800" dirty="0"/>
          </a:p>
        </p:txBody>
      </p:sp>
      <p:sp>
        <p:nvSpPr>
          <p:cNvPr id="4" name="Text 2"/>
          <p:cNvSpPr txBox="1"/>
          <p:nvPr/>
        </p:nvSpPr>
        <p:spPr>
          <a:xfrm>
            <a:off x="1965960" y="3840480"/>
            <a:ext cx="8229600" cy="822960"/>
          </a:xfrm>
          <a:prstGeom prst="rect">
            <a:avLst/>
          </a:prstGeom>
          <a:noFill/>
          <a:ln/>
        </p:spPr>
        <p:txBody>
          <a:bodyPr wrap="square" lIns="0" tIns="0" rIns="0" bIns="0" rtlCol="0" anchor="ctr"/>
          <a:lstStyle/>
          <a:p>
            <a:pPr algn="ctr" indent="0" marL="0">
              <a:lnSpc>
                <a:spcPts val="2200"/>
              </a:lnSpc>
              <a:buNone/>
            </a:pPr>
            <a:r>
              <a:rPr lang="en-US" sz="1400" dirty="0">
                <a:solidFill>
                  <a:srgbClr val="A9BCCB"/>
                </a:solidFill>
                <a:latin typeface="Calibri" pitchFamily="34" charset="0"/>
                <a:ea typeface="Calibri" pitchFamily="34" charset="-122"/>
                <a:cs typeface="Calibri" pitchFamily="34" charset="-120"/>
              </a:rPr>
              <a:t>Sayfa numarası uydurmaz, cevap anahtarını tahmin etmez, anatomi çizmez.</a:t>
            </a:r>
            <a:endParaRPr lang="en-US" sz="1400" dirty="0"/>
          </a:p>
          <a:p>
            <a:pPr algn="ctr" indent="0" marL="0">
              <a:lnSpc>
                <a:spcPts val="2200"/>
              </a:lnSpc>
              <a:buNone/>
            </a:pPr>
            <a:r>
              <a:rPr lang="en-US" sz="1400" dirty="0">
                <a:solidFill>
                  <a:srgbClr val="A9BCCB"/>
                </a:solidFill>
                <a:latin typeface="Calibri" pitchFamily="34" charset="0"/>
                <a:ea typeface="Calibri" pitchFamily="34" charset="-122"/>
                <a:cs typeface="Calibri" pitchFamily="34" charset="-120"/>
              </a:rPr>
              <a:t>Bilmediği yerde bunu söyler — ve öğrenciye ne yapabileceğini gösterir.</a:t>
            </a:r>
            <a:endParaRPr lang="en-US" sz="1400" dirty="0"/>
          </a:p>
        </p:txBody>
      </p:sp>
      <p:sp>
        <p:nvSpPr>
          <p:cNvPr id="5" name="Shape 3"/>
          <p:cNvSpPr/>
          <p:nvPr/>
        </p:nvSpPr>
        <p:spPr>
          <a:xfrm>
            <a:off x="3977640" y="5029200"/>
            <a:ext cx="2234794" cy="347472"/>
          </a:xfrm>
          <a:prstGeom prst="roundRect">
            <a:avLst>
              <a:gd name="adj" fmla="val 131579"/>
            </a:avLst>
          </a:prstGeom>
          <a:solidFill>
            <a:srgbClr val="121C2E">
              <a:alpha val="66000"/>
            </a:srgbClr>
          </a:solidFill>
          <a:ln w="11430">
            <a:solidFill>
              <a:srgbClr val="6F8597"/>
            </a:solidFill>
            <a:prstDash val="solid"/>
          </a:ln>
        </p:spPr>
      </p:sp>
      <p:sp>
        <p:nvSpPr>
          <p:cNvPr id="6" name="Text 4"/>
          <p:cNvSpPr txBox="1"/>
          <p:nvPr/>
        </p:nvSpPr>
        <p:spPr>
          <a:xfrm>
            <a:off x="3977640" y="5029200"/>
            <a:ext cx="2234794" cy="347472"/>
          </a:xfrm>
          <a:prstGeom prst="rect">
            <a:avLst/>
          </a:prstGeom>
          <a:noFill/>
          <a:ln/>
        </p:spPr>
        <p:txBody>
          <a:bodyPr wrap="square" lIns="0" tIns="0" rIns="0" bIns="0" rtlCol="0" anchor="ctr"/>
          <a:lstStyle/>
          <a:p>
            <a:pPr algn="ctr" indent="0" marL="0">
              <a:buNone/>
            </a:pPr>
            <a:r>
              <a:rPr lang="en-US" sz="1000" spc="80" kern="0" dirty="0">
                <a:solidFill>
                  <a:srgbClr val="6F8597"/>
                </a:solidFill>
                <a:latin typeface="Calibri" pitchFamily="34" charset="0"/>
                <a:ea typeface="Calibri" pitchFamily="34" charset="-122"/>
                <a:cs typeface="Calibri" pitchFamily="34" charset="-120"/>
              </a:rPr>
              <a:t>docs/MEDICAL_ACADEMY.md</a:t>
            </a:r>
            <a:endParaRPr lang="en-US" sz="1000" dirty="0"/>
          </a:p>
        </p:txBody>
      </p:sp>
      <p:sp>
        <p:nvSpPr>
          <p:cNvPr id="7" name="Shape 5"/>
          <p:cNvSpPr/>
          <p:nvPr/>
        </p:nvSpPr>
        <p:spPr>
          <a:xfrm>
            <a:off x="6358738" y="5029200"/>
            <a:ext cx="1349654" cy="347472"/>
          </a:xfrm>
          <a:prstGeom prst="roundRect">
            <a:avLst>
              <a:gd name="adj" fmla="val 131579"/>
            </a:avLst>
          </a:prstGeom>
          <a:solidFill>
            <a:srgbClr val="121C2E">
              <a:alpha val="66000"/>
            </a:srgbClr>
          </a:solidFill>
          <a:ln w="11430">
            <a:solidFill>
              <a:srgbClr val="6F8597"/>
            </a:solidFill>
            <a:prstDash val="solid"/>
          </a:ln>
        </p:spPr>
      </p:sp>
      <p:sp>
        <p:nvSpPr>
          <p:cNvPr id="8" name="Text 6"/>
          <p:cNvSpPr txBox="1"/>
          <p:nvPr/>
        </p:nvSpPr>
        <p:spPr>
          <a:xfrm>
            <a:off x="6358738" y="5029200"/>
            <a:ext cx="1349654" cy="347472"/>
          </a:xfrm>
          <a:prstGeom prst="rect">
            <a:avLst/>
          </a:prstGeom>
          <a:noFill/>
          <a:ln/>
        </p:spPr>
        <p:txBody>
          <a:bodyPr wrap="square" lIns="0" tIns="0" rIns="0" bIns="0" rtlCol="0" anchor="ctr"/>
          <a:lstStyle/>
          <a:p>
            <a:pPr algn="ctr" indent="0" marL="0">
              <a:buNone/>
            </a:pPr>
            <a:r>
              <a:rPr lang="en-US" sz="1000" spc="80" kern="0" dirty="0">
                <a:solidFill>
                  <a:srgbClr val="6F8597"/>
                </a:solidFill>
                <a:latin typeface="Calibri" pitchFamily="34" charset="0"/>
                <a:ea typeface="Calibri" pitchFamily="34" charset="-122"/>
                <a:cs typeface="Calibri" pitchFamily="34" charset="-120"/>
              </a:rPr>
              <a:t>app/medical/</a:t>
            </a:r>
            <a:endParaRPr lang="en-US" sz="1000" dirty="0"/>
          </a:p>
        </p:txBody>
      </p:sp>
      <p:sp>
        <p:nvSpPr>
          <p:cNvPr id="9" name="Text 7"/>
          <p:cNvSpPr txBox="1"/>
          <p:nvPr/>
        </p:nvSpPr>
        <p:spPr>
          <a:xfrm>
            <a:off x="566928" y="6382512"/>
            <a:ext cx="2377440" cy="237744"/>
          </a:xfrm>
          <a:prstGeom prst="rect">
            <a:avLst/>
          </a:prstGeom>
          <a:noFill/>
          <a:ln/>
        </p:spPr>
        <p:txBody>
          <a:bodyPr wrap="square" lIns="0" tIns="0" rIns="0" bIns="0" rtlCol="0" anchor="ctr"/>
          <a:lstStyle/>
          <a:p>
            <a:pPr indent="0" marL="0">
              <a:buNone/>
            </a:pPr>
            <a:r>
              <a:rPr lang="en-US" sz="850" spc="220" kern="0" dirty="0">
                <a:solidFill>
                  <a:srgbClr val="43566A"/>
                </a:solidFill>
                <a:latin typeface="Calibri" pitchFamily="34" charset="0"/>
                <a:ea typeface="Calibri" pitchFamily="34" charset="-122"/>
                <a:cs typeface="Calibri" pitchFamily="34" charset="-120"/>
              </a:rPr>
              <a:t>TIP AKADEMİSİ</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JARVIS Ω · Tıp Akademisi</dc:title>
  <dc:subject>PptxGenJS Presentation</dc:subject>
  <dc:creator>JARVIS</dc:creator>
  <cp:lastModifiedBy>JARVIS</cp:lastModifiedBy>
  <cp:revision>1</cp:revision>
  <dcterms:created xsi:type="dcterms:W3CDTF">2026-09-09T02:07:10Z</dcterms:created>
  <dcterms:modified xsi:type="dcterms:W3CDTF">2026-09-09T02:07:10Z</dcterms:modified>
</cp:coreProperties>
</file>