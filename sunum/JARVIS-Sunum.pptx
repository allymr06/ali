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JARVIS Ω tanıtım sunumu. Windows öncelikli, modüler kişisel yapay zekâ asistanı. Sürüm 0.1.0, çekirdek mühendislik aşamasında.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JARVIS bir asistan arayüzü değil, bir yürütme çalışma zamanıdır. Üç temel iddia: çalışma zamanı olması, Windows'a yerel olması, ve doğrulamayı zorunlu kılması.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Rakamlar 9 Eylül 2026 tarihli doğrulama çalıştırmasından. 2456 test geçiyor, 5 test atlanıyor.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Projenin mühendislik ilkesi. Yürütme ile doğrulama ayrı bileşenlerdir; bu ayrım tüm mimariye yansımıştır.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app/ dizini altındaki alanlar. Renkli çerçeveli olanlar çekirdek yürütme hattını oluşturur.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Çekirdek akış. Sekiz aşama; her aşama sınırlı ve izlenebilir. Bütçe tükenmesi asla başarı olarak raporlanmaz.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ExecutionLimits her yürütmeye sabit sınırlar uygular. Kalıcı görevler yeniden başlatıldığında sınırlar sıfırdan değil, taze bir bağlamla yeniden uygulanır.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komuta merkezi. Kısayol Alt+1. Komut paleti Ctrl+K ile açılır.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Sohbet ekranı. Araç etkinliği doğrudan ToolExecutor'dan gözlemlenir.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Otomasyon ekranı araç sözleşmelerini gösterir: kaynak, risk, etkinlik.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İzin merdiveni. Kritik seviye politika gereği reddedilir; confirmation_granted bayrağı bunu değiştiremez.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Onay bağlama. Parmak izi yedi alandan üretilir; herhangi biri değişirse onay geçersizdir.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Güven ekranı. Kapalı yetenekler görünür biçimde kapalıdır; sırlar köprüden geçmez.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uygulama başlatma. Altı adımlı doğrulanmış başlatma zinciri.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Güvenli dosya sistemi uzantıları. delete_path ve undo_filesystem_change yüksek riskli, onay gerektiren araçlardır.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Görev ekranı. DurableTaskRuntime her göreve yalıtılmış plan ve durum dizini ayırır.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Hafıza ekranı. Unutma orta riskli, kalıcı silme yüksek riskli işlemdir.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 hattı durum akışı. Mikrofon desteği isteğe bağlı bir bağımlılıktır.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Görüş hattı. Rıza kapısı atomik olarak tüketilir ve tekrar kullanılamaz.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Araştırma hattı. Rapor her iddiayı gözlem veya çıkarım olarak etiketler ve çözülmemiş sınırlamaları listeler.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Tıp Akademisi çalışma merkezi. Panel, plan, konular, kütüphane, sınav, soru bankası, anlama, histoloji, hoca tarzı, ilerleme ve Anatomi Lab sekmeleri.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Akademi verisi: 107 konu, 127 yapı, 278 işaret noktası, 86 Latince terim, ~200 kavram, 63 ön koşul bağı.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Tanılama ekranı: sağlık denetimleri, sınırlı ölçümler ve olay defteri canlı olarak izlenir.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16 dayanıklılık çalışması. Sağlayıcı devre durumu ve çekirdek kabul durumu canlı sağlık denetimlerine dâhildir.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Sekiz kabul kapısı. Hepsi Python 3.12 üzerinde geçmek zorundadır.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Yayın bildirimi 5 Eylül 2026 tarihli. Kod imzalama uygulanmadı: yayıncı sertifikası sağlanmadı.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README'nin 'Not implemented yet' bölümünden. Dürüst sınırları göstermek projeye güven kazandırır.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 Ana mesaj: yürütme ve doğrulama ayrılığı.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22128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RATHER VERY INTELLIGENT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78608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30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91363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için modüler, doğrulama odaklı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yapay zekâ asistanı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4956048"/>
            <a:ext cx="1269187" cy="347472"/>
          </a:xfrm>
          <a:prstGeom prst="roundRect">
            <a:avLst>
              <a:gd name="adj" fmla="val 13157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4CC3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956048"/>
            <a:ext cx="12691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8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 0.1.0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4171" y="4956048"/>
            <a:ext cx="1188720" cy="347472"/>
          </a:xfrm>
          <a:prstGeom prst="roundRect">
            <a:avLst>
              <a:gd name="adj" fmla="val 13157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7FE0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4171" y="49560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8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2.456 test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9195" y="4956048"/>
            <a:ext cx="947318" cy="347472"/>
          </a:xfrm>
          <a:prstGeom prst="roundRect">
            <a:avLst>
              <a:gd name="adj" fmla="val 13157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A9BC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195" y="4956048"/>
            <a:ext cx="9473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8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araç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12818" y="4956048"/>
            <a:ext cx="1269187" cy="347472"/>
          </a:xfrm>
          <a:prstGeom prst="roundRect">
            <a:avLst>
              <a:gd name="adj" fmla="val 13157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A9BC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2818" y="4956048"/>
            <a:ext cx="12691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8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632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Eylül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nedir?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556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sohbet arayüzü değil; komutu anlayan, planlayan, Windows üzerinde gerçek eylem yapan ve yaptığı işi bağımsız olarak doğrulayan bir çalışma zamanı. Sesle, görüntüyle ve web araştırmasıyla çalışır; her eylem izin ve onay mekanizmasından geçer.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999232"/>
            <a:ext cx="3493008" cy="2395728"/>
          </a:xfrm>
          <a:prstGeom prst="roundRect">
            <a:avLst>
              <a:gd name="adj" fmla="val 229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327355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56616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zamanı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950208"/>
            <a:ext cx="2944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çıktısı doğrudan iş yapmaz. Her istek bağlam, sağlayıcı, izin, yürütme ve doğrulama katmanlarından sırayla geçer.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2544" y="2999232"/>
            <a:ext cx="3493008" cy="2395728"/>
          </a:xfrm>
          <a:prstGeom prst="roundRect">
            <a:avLst>
              <a:gd name="adj" fmla="val 229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327355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356616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Windows-öncelikli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3950208"/>
            <a:ext cx="2944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başlatma, süreç gözlemi, dosya sistemi, pano ve pencere kontrolü doğrudan Win32 API'leri üzerinden yapılır.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999232"/>
            <a:ext cx="3493008" cy="2395728"/>
          </a:xfrm>
          <a:prstGeom prst="roundRect">
            <a:avLst>
              <a:gd name="adj" fmla="val 229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327355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566160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 zorunlu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950208"/>
            <a:ext cx="2944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çağrının hatasız dönmesi başarı sayılmaz. Sonuç ayrı bir doğrulama motorundan geçmeden adım tamamlanmaz.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Giriş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BAKIŞTA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bugünkü ölçeği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938528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139696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834640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TEST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72384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atlandı · Python 3.12.8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7852" y="1938528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5596" y="2139696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25596" y="2834640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SÖZLEŞMESI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25596" y="3072384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sürümlü ve şemaya kapalı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1938528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139696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34640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MASAÜSTÜ EKRANI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72384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+ klasik kabuk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29700" y="1938528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139696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2834640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TAMAMLANAN FAZ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67444" y="3072384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çekirdekten paketlemeye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5614416" cy="1920240"/>
          </a:xfrm>
          <a:prstGeom prst="roundRect">
            <a:avLst>
              <a:gd name="adj" fmla="val 2857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096512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389120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tabanı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773168"/>
            <a:ext cx="50657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 altında 25 alan: çekirdek, ajan, planlama, görevler, hafıza, araçlar, güvenlik, sağlayıcılar, ses, görüş, araştırma, tanılama, eklentiler, rutinler, bildirimler, tıp ve arayüz.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37376" y="3822192"/>
            <a:ext cx="5157216" cy="1920240"/>
          </a:xfrm>
          <a:prstGeom prst="roundRect">
            <a:avLst>
              <a:gd name="adj" fmla="val 2857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11696" y="409651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711696" y="438912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Dağıtım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4773168"/>
            <a:ext cx="4608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x64 için tekrarlanabilir PyInstaller derlemesi, taşınabilir arşiv, Inno Setup kurulumu ve SHA-256 imza listesi. Derleme durumu: qualified.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Bir bakışta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 FELSEFESI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“Yürütme ve doğrulama</a:t>
            </a:r>
            <a:endParaRPr lang="en-US" sz="3300" dirty="0"/>
          </a:p>
          <a:p>
            <a:pPr indent="0" marL="0">
              <a:buNone/>
            </a:pPr>
            <a:r>
              <a:rPr lang="en-US" sz="33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 şeylerdir.”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1518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eylem, çalıştırıldığında hata dönmediği için tamamlanmış sayılamaz. JARVIS'in tüm mimarisi bu tek cümlenin etrafında kurulmuştur: sonucu üreten bileşen ile sonucu onaylayan bileşen asla aynı değildir.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041648"/>
            <a:ext cx="2852928" cy="1847088"/>
          </a:xfrm>
          <a:prstGeom prst="roundRect">
            <a:avLst>
              <a:gd name="adj" fmla="val 297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43159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60857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99262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Aracı çalıştırır, ham sonucu döner. Başarılı ama doğrulanmamış.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39312" y="4041648"/>
            <a:ext cx="2852928" cy="1847088"/>
          </a:xfrm>
          <a:prstGeom prst="roundRect">
            <a:avLst>
              <a:gd name="adj" fmla="val 297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13632" y="431596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913632" y="460857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499262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Adımın tamamlanıp tamamlanmadığına karar veren tek bileşen.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67728" y="1481328"/>
            <a:ext cx="4626864" cy="4407408"/>
          </a:xfrm>
          <a:prstGeom prst="roundRect">
            <a:avLst>
              <a:gd name="adj" fmla="val 124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42048" y="1737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GELİŞTİRME DÖNGÜSÜ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260336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571232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260336" y="2446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24460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260336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571232" y="2770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60336" y="30952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0952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71232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ÇALIŞTIR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260336" y="3744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7444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260336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71232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260336" y="43936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71232" y="43936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260336" y="4718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571232" y="4718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GÖZDEN GEÇİR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260336" y="50429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571232" y="50429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260336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571232" y="5367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60" kern="0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YENİDEN TEST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Felsefe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6053328" y="3456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BIR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371246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53328" y="45902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Sınırları açıkça çizilmiş katmanlar: sağlayıcı, hafıza, planlama, görev, güvenlik, araç yürütme, doğrulama ve kalıcılık.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haritası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ağacı sorumluluklara göre bölünmüştür. Alt katmanlar üst katmanları içe aktarmaz; bu sayede içe aktarma grafiği döngüsüzdür ve yürütme yalıtılmış olarak test edilebilir.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70048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8EE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788920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054096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düzenleme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9754" y="2670048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6058" y="2788920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96058" y="3054096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döngü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32581" y="2670048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8885" y="2788920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8885" y="3054096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ve bağımlılık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15407" y="2670048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61711" y="2788920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61711" y="3054096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yaşam döngüsü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98234" y="2670048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8EE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4538" y="2788920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44538" y="3054096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Durum, olay, kurtarma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81060" y="2670048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8EE0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27364" y="2788920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27364" y="3054096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sözleşmeleri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063886" y="2670048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10190" y="2788920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210190" y="3054096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 ve risk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566160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3685032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3950208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ağ geçidi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9754" y="3566160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96058" y="3685032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296058" y="3950208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hafıza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2581" y="3566160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78885" y="3685032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878885" y="3950208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geçmişi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15407" y="3566160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B8A8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61711" y="3685032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61711" y="3950208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entegrasyonu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98234" y="3566160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4538" y="3685032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044538" y="3950208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hattı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81060" y="3566160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27364" y="3685032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627364" y="3950208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anlama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063886" y="3566160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210190" y="3685032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0210190" y="3950208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araştırması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6928" y="4462272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3232" y="4581144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13232" y="4846320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Tıp Akademisi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149754" y="4462272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296058" y="4581144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2296058" y="4846320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Eklenti çalışma zamanı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732581" y="4462272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78885" y="4581144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routines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3878885" y="4846320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Zamanlı rutinler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315407" y="4462272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61711" y="4581144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461711" y="4846320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merkezi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98234" y="4462272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044538" y="4581144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044538" y="4846320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Gözlemlenebilirlik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481060" y="4462272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627364" y="4581144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C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8627364" y="4846320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kesici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063886" y="4462272"/>
            <a:ext cx="1527962" cy="786384"/>
          </a:xfrm>
          <a:prstGeom prst="roundRect">
            <a:avLst>
              <a:gd name="adj" fmla="val 6977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8EE0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210190" y="4581144"/>
            <a:ext cx="12536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0210190" y="4846320"/>
            <a:ext cx="12719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+ klasik kabuk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Mimari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istek çekirdekten nasıl geçer?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47088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84708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847088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alınır  ·  kaynak: metin, ses, görüntü veya rutin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249424"/>
            <a:ext cx="0" cy="109728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6928" y="2359152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35915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2359152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ve hafıza  ·  ilgili kayıtlar sınırlı biçimde eklenir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761488"/>
            <a:ext cx="0" cy="109728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" y="2871216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87121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2871216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 ya da doğrulanmış plan  ·  model çağrısı yapılır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3273552"/>
            <a:ext cx="0" cy="109728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" y="3383280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3832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3383280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 denetimi  ·  risk sınıflanır, gerekirse onay istenir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3785616"/>
            <a:ext cx="0" cy="109728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3895344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89534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25296" y="3895344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yürütme  ·  sözleşmeye ve bütçeye bağlı çalıştırma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4297680"/>
            <a:ext cx="0" cy="109728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" y="4407408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44074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225296" y="4407408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doğrulama  ·  adımın tamamlanıp tamamlanmadığına karar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120" y="4809744"/>
            <a:ext cx="0" cy="109728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6928" y="4919472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91947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225296" y="4919472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ve plan durumu  ·  ilerleme ve olaylar yayılır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0120" y="5321808"/>
            <a:ext cx="0" cy="109728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66928" y="5431536"/>
            <a:ext cx="6967728" cy="402336"/>
          </a:xfrm>
          <a:prstGeom prst="roundRect">
            <a:avLst>
              <a:gd name="adj" fmla="val 13636"/>
            </a:avLst>
          </a:prstGeom>
          <a:solidFill>
            <a:srgbClr val="1B7BA0">
              <a:alpha val="38000"/>
            </a:srgbClr>
          </a:solidFill>
          <a:ln w="12700">
            <a:solidFill>
              <a:srgbClr val="1B7B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543153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225296" y="5431536"/>
            <a:ext cx="6099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  ·  sonuç, kullanım verisi ve kaynak bilgisiyle döner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82128" y="1847088"/>
            <a:ext cx="3712464" cy="2212848"/>
          </a:xfrm>
          <a:prstGeom prst="roundRect">
            <a:avLst>
              <a:gd name="adj" fmla="val 2479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56448" y="212140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İZLENEBILIRLIK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156448" y="241401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her yerde taşınır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156448" y="2798064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request_id, conversation_id, task_id, plan_id ve adım kimliği yürütme bağlamında birlikte gezer. Kalıcı anlık görüntüler kullanım verisini de saklar.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82128" y="4242816"/>
            <a:ext cx="3712464" cy="1591056"/>
          </a:xfrm>
          <a:prstGeom prst="roundRect">
            <a:avLst>
              <a:gd name="adj" fmla="val 344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56448" y="44988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SONLANMA BIÇIMLERI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56448" y="4882896"/>
            <a:ext cx="1108253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7FE0B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56448" y="4882896"/>
            <a:ext cx="11082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411005" y="4882896"/>
            <a:ext cx="866851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F9E9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11005" y="4882896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F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56448" y="5303520"/>
            <a:ext cx="1108253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6F859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56448" y="5303520"/>
            <a:ext cx="11082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411005" y="5303520"/>
            <a:ext cx="947318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0C68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411005" y="5303520"/>
            <a:ext cx="9473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504627" y="5303520"/>
            <a:ext cx="866851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0C68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04627" y="5303520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Mimari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yürütme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yürütme sabit bütçelerle çalışır. Bütçenin tükenmesi sonlandırıcı ve doğrulanmamış bir sonuçtur — hiçbir koşulda başarı sayılmaz.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688336"/>
            <a:ext cx="3493008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96265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adımları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2918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yürütmede işlenebilecek azami adım sayısı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2544" y="2688336"/>
            <a:ext cx="3493008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6864" y="296265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çağrıları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32918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denemeler dâhil toplam çağrı sayısı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688336"/>
            <a:ext cx="3493008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96265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turları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2918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Sağlayıcıya gidiş-dönüş sayısı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51376"/>
            <a:ext cx="3493008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jetonları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75488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jeton bütçesi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52544" y="4151376"/>
            <a:ext cx="3493008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26864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süre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626864" y="475488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Duvar saati üst sınırı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4151376"/>
            <a:ext cx="3493008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Eşzamanlılık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75488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başına giriş kabulü ve çekirdek kotası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596128"/>
            <a:ext cx="11027664" cy="603504"/>
          </a:xfrm>
          <a:prstGeom prst="roundRect">
            <a:avLst>
              <a:gd name="adj" fmla="val 9091"/>
            </a:avLst>
          </a:prstGeom>
          <a:solidFill>
            <a:srgbClr val="121C2E">
              <a:alpha val="60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596128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Duraklatma yalnızca güvenli bir plan adımı sınırında etkili olur; iptal işbirlikçi ve sonlandırıcıdır. Yeniden başlatmadan sonra tüm sınırlar yeniden uygulanır.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Mimari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6053328" y="3456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IKI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371246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arayüzü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53328" y="45902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WebView2 üzerinde çalışan sinematik bir komuta merkezi. Sahte veri yok: ekranda görünen her şey çekirdeğin ürettiği veridir.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Komuta merkezi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01_komuta_merkez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286000"/>
          </a:xfrm>
          <a:prstGeom prst="roundRect">
            <a:avLst>
              <a:gd name="adj" fmla="val 24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çekirdeği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Ortadaki görselleştirme süs değil: sistemin gerçek durumunu gösteren bir durum makinesi. Hareket monitör tazeleme hızında çalışır, sakinken yavaşlar, pencere gizlenince durur.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39328" y="4059936"/>
            <a:ext cx="3255264" cy="1764792"/>
          </a:xfrm>
          <a:prstGeom prst="roundRect">
            <a:avLst>
              <a:gd name="adj" fmla="val 3109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13648" y="433425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46268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bakışta sistem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5010912"/>
            <a:ext cx="2706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Sağlayıcı, ses, görüş, web araştırması, Windows ve olay defteri sağlığı sağ panelde canlı olarak izlenir.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Arayüz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ve yürütme zaman çizelgesi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02_sohb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377440"/>
          </a:xfrm>
          <a:prstGeom prst="roundRect">
            <a:avLst>
              <a:gd name="adj" fmla="val 230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etkinliği canlı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Arayüz, araç yürütücüsüne salt-okunur abonedir. Her çalıştırmanın başlangıcı ve sonucu anında zaman çizelgesine düşer; arayüz sonucu değiştiremez.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39328" y="4151376"/>
            <a:ext cx="3255264" cy="1627632"/>
          </a:xfrm>
          <a:prstGeom prst="roundRect">
            <a:avLst>
              <a:gd name="adj" fmla="val 3371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13648" y="442569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471830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konuşmalar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5102352"/>
            <a:ext cx="2706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Konuşmalar SQLite'ta saklanır; arşivlenebilir, yeniden etkinleştirilebilir.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Arayüz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sözleşmeleri görünür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09_otomasy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615184"/>
          </a:xfrm>
          <a:prstGeom prst="roundRect">
            <a:avLst>
              <a:gd name="adj" fmla="val 209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şey gizli değil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JARVIS'in yapabildiği her eylem kaynağı, risk seviyesi ve etkinlik durumuyla listelenir. Kullanıcı hangi aracın ne kadar yetkiye sahip olduğunu tek ekrandan görür.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77072" y="4407408"/>
            <a:ext cx="1269187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6F859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77072" y="4407408"/>
            <a:ext cx="12691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okunur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992563" y="4407408"/>
            <a:ext cx="786384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7FE0B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992563" y="4407408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77072" y="4791456"/>
            <a:ext cx="777240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0C6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77072" y="47914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500616" y="4791456"/>
            <a:ext cx="866851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0C6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00616" y="4791456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513771" y="4791456"/>
            <a:ext cx="866851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F9E9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13771" y="4791456"/>
            <a:ext cx="8668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F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577072" y="52486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dışı bırakılan bir araç modele hiç gösterilmez ve yürütmede reddedilir.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Arayüz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6053328" y="3456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ÜÇ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371246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modeli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53328" y="45902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yürütme bir güvenlik sınırıdır. Model çıktısı izin motorunu, argüman doğrulamasını ve onay kapısını atlayamaz.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merdiveni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risk politikası belirlenimcidir: her risk seviyesi tam olarak bir kez sınıflandırılır ve kural hiçbir zaman bir aracın bildirilen riskini düşüremez.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78608"/>
            <a:ext cx="2926080" cy="530352"/>
          </a:xfrm>
          <a:prstGeom prst="roundRect">
            <a:avLst>
              <a:gd name="adj" fmla="val 10345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6F8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5786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85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READ_ONLY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487168" y="25786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okunur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712464" y="25786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 verilir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200400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200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E0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32004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32004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 verilir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822192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8221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87168" y="382219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38544" y="38221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gerekir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443984"/>
            <a:ext cx="7498080" cy="530352"/>
          </a:xfrm>
          <a:prstGeom prst="roundRect">
            <a:avLst>
              <a:gd name="adj" fmla="val 10345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4439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87168" y="44439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44439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gerekir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065776"/>
            <a:ext cx="9326880" cy="530352"/>
          </a:xfrm>
          <a:prstGeom prst="roundRect">
            <a:avLst>
              <a:gd name="adj" fmla="val 10345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FF9E9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50657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87168" y="506577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113264" y="50657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FF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Reddedilir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815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bayrağı gönderilse bile kritik seviye reddedilir.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Güvenlik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Onaylar eyleme bağlanır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onay “evet” demek değildir; belirli bir eyleme kriptografik olarak bağlanmış, süreli ve tek kullanımlık bir izindir.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615184"/>
            <a:ext cx="5504688" cy="3145536"/>
          </a:xfrm>
          <a:prstGeom prst="roundRect">
            <a:avLst>
              <a:gd name="adj" fmla="val 1744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8529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PARMAK İZİNE GİREN ALANLAR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— eylemin kendisi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5295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— araç adı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858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version — sözleşme sürümü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41879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— çağrı argümanları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5171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task_id — bağlı görev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846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plan_id — bağlı plan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51755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— plan adımı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5936" y="2615184"/>
            <a:ext cx="5248656" cy="1481328"/>
          </a:xfrm>
          <a:prstGeom prst="roundRect">
            <a:avLst>
              <a:gd name="adj" fmla="val 3704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0256" y="2889504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620256" y="3182112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Değişen her şey onayı geçersiz kılar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620256" y="35661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Eylem, araç sürümü veya yürütme bağlamı değişirse önceki onay düşer ve yeni bir bekleyen istek oluşur.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45936" y="4279392"/>
            <a:ext cx="5248656" cy="1481328"/>
          </a:xfrm>
          <a:prstGeom prst="roundRect">
            <a:avLst>
              <a:gd name="adj" fmla="val 3704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0256" y="4553712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846320"/>
            <a:ext cx="4700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denetim yürütücüde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620256" y="5230368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Onay, çalıştırmadan hemen önce ToolExecutor içinde yeniden doğrulanır. Ham bir onay bayrağı hiçbir işlemi yetkilendiremez.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Güvenlik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ve entegrasyonlar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10_guv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286000"/>
          </a:xfrm>
          <a:prstGeom prst="roundRect">
            <a:avLst>
              <a:gd name="adj" fmla="val 24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 açıkça kapalı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dışı bir yetenek arayüzde görünür biçimde devre dışı kalır ve denetleyici sınırında kapanarak başarısız olur. Sessizce çalışmaz.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39328" y="4059936"/>
            <a:ext cx="3255264" cy="1719072"/>
          </a:xfrm>
          <a:prstGeom prst="roundRect">
            <a:avLst>
              <a:gd name="adj" fmla="val 3191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13648" y="433425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46268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 sınırı geçmez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5010912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anahtarı Windows Kimlik Bilgisi Yöneticisi'nde saklanır ve arayüz köprüsünden asla geçmez.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Güvenlik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686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eylemleri doğrulanır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bir yürütülebilir yol ya da kabuk ifadesi veremez. Yalnızca kayıtlı bir uygulama kimliği seçer; yolu ve argümanları güvenilir tanım sağlar.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6517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6517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kayıtlı bir uygulama kimliği seçer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108960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236976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2369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323697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defteri yürütülebilir yolu ve sabit argümanları verir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694176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3822192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8221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382219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shell=False ile başlatılır  ·  ağ ve betik yolları reddedilir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279392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407408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4074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225296" y="440740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Dönen PID Win32 ile bağımsız olarak gözlemlenir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4864608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4992624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499262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25296" y="499262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kimliği uygulama sözleşmesiyle karşılaştırılır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5449824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" y="5577840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55778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225296" y="557784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Eşleşme yoksa sonuç: doğrulanmamış başarısızlık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2651760"/>
            <a:ext cx="3822192" cy="1737360"/>
          </a:xfrm>
          <a:prstGeom prst="roundRect">
            <a:avLst>
              <a:gd name="adj" fmla="val 315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292608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FF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KAPALI LISTE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321868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Reddedilenler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602736"/>
            <a:ext cx="327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 ve ağ yolları, toplu iş ve betik dosyaları, bilinmeyen kimlikler, eksik yürütülebilirler ve komut ifadeleri kapanarak başarısız olur.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4572000"/>
            <a:ext cx="3822192" cy="1463040"/>
          </a:xfrm>
          <a:prstGeom prst="roundRect">
            <a:avLst>
              <a:gd name="adj" fmla="val 375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46720" y="4846320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513892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Başlatma yeterli değil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552297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Sürecin oluşturulması başarı kanıtı sayılmaz; kimlik doğrulanmadan işlem tamamlanmış olmaz.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Güvenlik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686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alınabilir dosya işlemleri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sistemi değişiklikleri kök izinlerine bağlıdır ve geri alınabilir. Kritik Windows dizinleri izin verme anında reddedilir.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33472"/>
            <a:ext cx="3493008" cy="1298448"/>
          </a:xfrm>
          <a:prstGeom prst="roundRect">
            <a:avLst>
              <a:gd name="adj" fmla="val 42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8EE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90779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görüntü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21868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dosya değiştirilmeden veya silinmeden önce tam baytları mühürlenir.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2633472"/>
            <a:ext cx="3493008" cy="1298448"/>
          </a:xfrm>
          <a:prstGeom prst="roundRect">
            <a:avLst>
              <a:gd name="adj" fmla="val 42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8EE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6864" y="290779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alma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321868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yükleme öncesi özet ve boyut yeniden doğrulanır.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2633472"/>
            <a:ext cx="3493008" cy="1298448"/>
          </a:xfrm>
          <a:prstGeom prst="roundRect">
            <a:avLst>
              <a:gd name="adj" fmla="val 42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B8A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90779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çalıştırma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21868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plan_filesystem_changes hiçbir şeye dokunmaz; plan kimliği ve SHA-256 özeti üretir.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51376"/>
            <a:ext cx="3493008" cy="1298448"/>
          </a:xfrm>
          <a:prstGeom prst="roundRect">
            <a:avLst>
              <a:gd name="adj" fmla="val 42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B8A8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seferlik uygulama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73659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bir kez tüketilir; her hedefin parmak izi yeniden denetlenir, ilk hatada durur.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52544" y="4151376"/>
            <a:ext cx="3493008" cy="1298448"/>
          </a:xfrm>
          <a:prstGeom prst="roundRect">
            <a:avLst>
              <a:gd name="adj" fmla="val 42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26864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 savunması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26864" y="473659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geçişi ve reparse point saldırılarına karşı korunur; bağlantılar izlenmez.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4151376"/>
            <a:ext cx="3493008" cy="1298448"/>
          </a:xfrm>
          <a:prstGeom prst="roundRect">
            <a:avLst>
              <a:gd name="adj" fmla="val 42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izinleri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736592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Arama, ada göre sınırlı bir dizin üzerinden yapılır; kökler ayarlardan yönetilir.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Güvenlik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6053328" y="3456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DÖRT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371246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53328" y="45902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yönetimi, kalıcı hafıza, ses, ekran anlama ve web araştırması — hepsi aynı çekirdek, aynı izin makinesi.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görevler ve planlama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04_gorevl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212848"/>
          </a:xfrm>
          <a:prstGeom prst="roundRect">
            <a:avLst>
              <a:gd name="adj" fmla="val 2479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DAYANIKLILIK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Süreçten bağımsız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Görevler, adımlar, ilerleme ve sonuçlar SQLite'a işlemsel olarak yazılır. Yeniden başlatmada yarım kalan görevler tahmin edilmez; kurtarılabilir biçimde duraklatılır.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39328" y="3986784"/>
            <a:ext cx="3255264" cy="1792224"/>
          </a:xfrm>
          <a:prstGeom prst="roundRect">
            <a:avLst>
              <a:gd name="adj" fmla="val 3061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13648" y="4261104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KURTARMA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455371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sınırda duraklat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4937760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Duraklatma yalnızca güvenli bir adım sınırında etkili olur; doğrulanmış adımlar korunur, yarım kalan adım yeniden denenir.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·  Yetenekler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hafıza ve denetim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05_hafiz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121408"/>
          </a:xfrm>
          <a:prstGeom prst="roundRect">
            <a:avLst>
              <a:gd name="adj" fmla="val 2586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KÖKEN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Kaynağı belli kayıtlar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kayıt kaynağını, güvenini, tazeliğini, hassasiyetini ve varsa yerini aldığı kaydı saklar. Geri çağırma belirlenimci puanlama ile yapılır.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39328" y="3895344"/>
            <a:ext cx="3255264" cy="1883664"/>
          </a:xfrm>
          <a:prstGeom prst="roundRect">
            <a:avLst>
              <a:gd name="adj" fmla="val 291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13648" y="4169664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446227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Yazmadan önce reddet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4846320"/>
            <a:ext cx="2706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kimlik bilgileri, özel anahtarlar ve geçerli kart numaraları veritabanına hiç yazılmaz; hata kaydına da kopyalanmaz.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·  Yetenekler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hattı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İsteğe bağlı bir sınırdır: cihaz ve sağlayıcı mantığı çekirdeğe taşınmaz. Sesli istek, metin istekle bire bir aynı izin ve doğrulama yolundan geçer.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76148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76148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76148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DİNLENİYOR  ·  sınırlı PCM yakalama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3182112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300984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30098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3300984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ÇEVRİLİYOR  ·  konuşma tanıma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721608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384048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8404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384048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UYANDIRMA KAPISI  ·  tam sözcük eşleşmesi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4261104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379976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37997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225296" y="4379976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İŞLENİYOR  ·  çekirdek isteği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4800600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4919472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491947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25296" y="491947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SESLENDİRİLİYOR  ·  akışlı sentez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" y="5340096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" y="545896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B7BA0">
              <a:alpha val="38000"/>
            </a:srgbClr>
          </a:solidFill>
          <a:ln w="12700">
            <a:solidFill>
              <a:srgbClr val="1B7B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545896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225296" y="545896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KONUŞULUYOR  ·  kesilebilir oynatma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1719072"/>
            <a:ext cx="5193792" cy="2011680"/>
          </a:xfrm>
          <a:prstGeom prst="roundRect">
            <a:avLst>
              <a:gd name="adj" fmla="val 2727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199339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228600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saklanmaz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2670048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sonucu metni, durumları ve sağlayıcı kökenini içerir; ses asla saklanmaz. Ham yakalama değiştirilebilir bellekte tutulur ve çeviri biter bitmez üzerine yazılır.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913632"/>
            <a:ext cx="51937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418795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448056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aşamada zaman aşımı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486460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Bloke eden her aşamanın kendi zaman aşımı vardır; hepsi tek bir kesme sinyalini paylaşır.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561441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gecikme: bulutun ilk ses parçası yerel sesle yarıştırılır.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·  Yetenekler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anlama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görüntüsü yalnızca kullanıcının açık rızasıyla alınır. Rıza; amaca, kaynağa ve seçilen maskeleme bölgelerine bağlı, kısa ömürlü ve tek kullanımlıktır.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761488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761488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76148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 BEKLENİYOR  ·  amaç ve bölgeler belirlenir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3200400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328416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32841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3328416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YAKALANIYOR  ·  Win32 GDI ile doğrudan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767328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3895344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895344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3895344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MASKELENİYOR  ·  geri döndürülemez karartma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4334256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462272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46227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225296" y="4462272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ÇÖZÜMLENİYOR  ·  görüş modeline gider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4901184"/>
            <a:ext cx="0" cy="128016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50292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1B7BA0">
              <a:alpha val="38000"/>
            </a:srgbClr>
          </a:solidFill>
          <a:ln w="12700">
            <a:solidFill>
              <a:srgbClr val="1B7B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502920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25296" y="502920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  ·  köken kaydı tutulur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1719072"/>
            <a:ext cx="5193792" cy="1828800"/>
          </a:xfrm>
          <a:prstGeom prst="roundRect">
            <a:avLst>
              <a:gd name="adj" fmla="val 3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199339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28600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Maskeleme geri alınamaz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2670048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bölgeler ve görev çubuğu bandı, PNG kodlamasından önce kalıcı olarak karartılır. Modele giden karede o pikseller artık yoktur.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730752"/>
            <a:ext cx="5193792" cy="1828800"/>
          </a:xfrm>
          <a:prstGeom prst="roundRect">
            <a:avLst>
              <a:gd name="adj" fmla="val 3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400507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İZLENEBILIRLIK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429768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Köken kaydı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681728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Kaynak, yakalama zamanı, boyutlar, özgün piksel özeti, işlenmiş PNG özeti ve rıza kimliği kaydedilir.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70585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geçmişi metni saklar, görüntüyü asla.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·  Yetenekler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web araştırması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Sıradan bir konuşma sessizce ağ erişimine dönüşemez. Araştırma ayrı, açıkça seçilen bir hattır.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7004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670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67004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·  açıkça araştırma isteği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3090672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209544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20954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3209544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 ·  SearXNG uyumlu uç nokta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3630168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3749040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74904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374904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TOPLAMA  ·  bağımsız kaynaklar eşzamanlı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4169664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288536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28853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225296" y="4288536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SÜZME  ·  tür, boyut ve süre sınırları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4709160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" y="4828032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4828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56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225296" y="482803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DENETİM  ·  alıntılar karşılaştırılır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" y="5248656"/>
            <a:ext cx="0" cy="118872"/>
          </a:xfrm>
          <a:prstGeom prst="line">
            <a:avLst/>
          </a:prstGeom>
          <a:noFill/>
          <a:ln w="15875">
            <a:solidFill>
              <a:srgbClr val="31506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" y="5367528"/>
            <a:ext cx="5486400" cy="420624"/>
          </a:xfrm>
          <a:prstGeom prst="roundRect">
            <a:avLst>
              <a:gd name="adj" fmla="val 13043"/>
            </a:avLst>
          </a:prstGeom>
          <a:solidFill>
            <a:srgbClr val="1B7BA0">
              <a:alpha val="38000"/>
            </a:srgbClr>
          </a:solidFill>
          <a:ln w="12700">
            <a:solidFill>
              <a:srgbClr val="1B7B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536752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225296" y="536752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SENTEZ VE ATIF  ·  her iddia kaynağa bağlanır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1719072"/>
            <a:ext cx="5193792" cy="2029968"/>
          </a:xfrm>
          <a:prstGeom prst="roundRect">
            <a:avLst>
              <a:gd name="adj" fmla="val 2703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199339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GÜVENLIĞI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228600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SSRF'ye kapalı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2670048"/>
            <a:ext cx="4645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ana makine adı çözülür; küresel olarak yönlendirilemeyen yanıtlar reddedilir. Bağlantı doğrulanmış IP'ye sabitlenir, ana makine adı TLS doğrulaması için korunur. Vekil, çerez ve otomatik yönlendirme kullanılmaz.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931920"/>
            <a:ext cx="5193792" cy="1828800"/>
          </a:xfrm>
          <a:prstGeom prst="roundRect">
            <a:avLst>
              <a:gd name="adj" fmla="val 3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420624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FF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ENJEKSIYON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4498848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metni güvenilmez veridir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4882896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Çekilen içerik her zaman güvenilmez olarak işaretlenir. İstem enjeksiyonu göstergeleri özetlenip raporlanır, ancak asla talimat olarak yorumlanmaz.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·  Yetenekler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6053328" y="3456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BEŞ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371246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Tıp Akademisi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53328" y="45902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bir uygulama değil: aynı çekirdek, aynı izin makinesi, aynı arayüz üzerine kurulmuş bir alan katmanı.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AKADEMISI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 sınıf çalışma katmanı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03_tip_akademis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139696"/>
          </a:xfrm>
          <a:prstGeom prst="roundRect">
            <a:avLst>
              <a:gd name="adj" fmla="val 2564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Uydurmaz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 bir sayfa numarası uydurmaz, hocanın cevap anahtarını tahmin etmez ve lisanslı modeli olmayan bir anatomik yapıyı çizmez.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39328" y="3913632"/>
            <a:ext cx="3255264" cy="1865376"/>
          </a:xfrm>
          <a:prstGeom prst="roundRect">
            <a:avLst>
              <a:gd name="adj" fmla="val 2941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13648" y="4187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4480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Sayfaya çapalı atıf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4864608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parça sayfa numarasını ve karakter aralığını saklar; üretilen soru yalnızca sayfa eşleşiyorsa kaynak referansı tutar.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·  Tıp Akademisi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AKADEMISI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değil, veri olarak müfredat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birinci sınıf dersi küratörlü veri olarak tutulur. Anatomi terminolojisi Latince kalır; yapılar, işaret noktaları ve kavramlar arasındaki ilişkiler grafiğe bağlanmıştır.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33472"/>
            <a:ext cx="1129284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633472"/>
            <a:ext cx="11292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42516" y="2633472"/>
            <a:ext cx="1321308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42516" y="2633472"/>
            <a:ext cx="1321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Histoloji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2633472"/>
            <a:ext cx="1705356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0128" y="263347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Mikrobiyoloji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61788" y="2633472"/>
            <a:ext cx="1321308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1788" y="2633472"/>
            <a:ext cx="1321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Biyokimya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2633472"/>
            <a:ext cx="1321308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633472"/>
            <a:ext cx="1321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Biyofizik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7012" y="2633472"/>
            <a:ext cx="1321308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7012" y="2633472"/>
            <a:ext cx="13213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Fizyoloji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64624" y="2633472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121C2E">
              <a:alpha val="66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64624" y="2633472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200400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401568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096512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MÜFREDAT KONUSU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334256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ders boyunca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7852" y="3200400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25596" y="3401568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3625596" y="4096512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ANATOMIK YAPI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625596" y="4334256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işaret noktası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3200400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401568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096512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ÖĞRENILEBILIR KAVRAM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334256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ilişkileriyle birlikte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29700" y="3200400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67444" y="3401568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9267444" y="4096512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KOŞUL BAĞI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267444" y="4334256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gerekçeli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4919472"/>
            <a:ext cx="5394960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1248" y="51937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SINAV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48640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motoru soruları gösterilmeden önce doğrular; hocanın soru yazma tarzı kanıta dayalı olarak profillenir.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9632" y="4919472"/>
            <a:ext cx="5394960" cy="1225296"/>
          </a:xfrm>
          <a:prstGeom prst="roundRect">
            <a:avLst>
              <a:gd name="adj" fmla="val 447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51937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5486400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Yorumlanabilir bir ustalık modeli aralıklı tekrar planlar; zayıf kavramlar ve yanlış anlamalar ayrı izlenir.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·  Tıp Akademisi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2286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7400" dirty="0"/>
          </a:p>
        </p:txBody>
      </p:sp>
      <p:sp>
        <p:nvSpPr>
          <p:cNvPr id="3" name="Text 1"/>
          <p:cNvSpPr txBox="1"/>
          <p:nvPr/>
        </p:nvSpPr>
        <p:spPr>
          <a:xfrm>
            <a:off x="6053328" y="3456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ALTI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371246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53328" y="459028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Gözlemlenebilirlik, dayanıklılık, kabul kapıları ve Windows paketleme hattı.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303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Gözlemlenebilirlik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5780" y="1586484"/>
            <a:ext cx="7543800" cy="4279392"/>
          </a:xfrm>
          <a:prstGeom prst="roundRect">
            <a:avLst>
              <a:gd name="adj" fmla="val 1068"/>
            </a:avLst>
          </a:prstGeom>
          <a:solidFill>
            <a:srgbClr val="1B7BA0">
              <a:alpha val="18000"/>
            </a:srgbClr>
          </a:solidFill>
          <a:ln w="12700">
            <a:solidFill>
              <a:srgbClr val="31506A"/>
            </a:solidFill>
            <a:prstDash val="solid"/>
          </a:ln>
        </p:spPr>
      </p:sp>
      <p:pic>
        <p:nvPicPr>
          <p:cNvPr id="5" name="Image 0" descr="img/shots/11_tanilam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461504" cy="4197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627632"/>
            <a:ext cx="3255264" cy="2212848"/>
          </a:xfrm>
          <a:prstGeom prst="roundRect">
            <a:avLst>
              <a:gd name="adj" fmla="val 2479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13648" y="19019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BÜTÜNLÜK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13648" y="219456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Kurcalamaya duyarlı defter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2578608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defteri karma zincirlidir. Kapasite dolup eski kayıt düştüğünde onun karması çapa olarak saklanır, böylece kalan pencere doğrulanabilir kalır.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39328" y="3986784"/>
            <a:ext cx="3255264" cy="1792224"/>
          </a:xfrm>
          <a:prstGeom prst="roundRect">
            <a:avLst>
              <a:gd name="adj" fmla="val 3061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13648" y="4261104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455371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Temizlenmiş öznitelikler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13648" y="4937760"/>
            <a:ext cx="2706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bilgisi biçimindeki anahtarlar maskelenir; korelasyon kimlikleri geri döndürülemez karmalarla temsil edilir.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·  Mühendislik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 altında dürüst davranış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Doygunluk gizlenmez. Çekirdek sınırına gelen istek kabul kontrolünden geçer; kapasite yoksa açıkça reddedilir, sınırsız bir iş yığını oluşturulmaz.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70048"/>
            <a:ext cx="3584448" cy="1828800"/>
          </a:xfrm>
          <a:prstGeom prst="roundRect">
            <a:avLst>
              <a:gd name="adj" fmla="val 3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94436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23697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kontrolü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21024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bir semafor eşzamanlı yürütmeyi, ayrı bir sıra ise bekleyen sayısını sınırlar. Her bekleyenin kısa bir son tarihi vardır.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2670048"/>
            <a:ext cx="3584448" cy="1828800"/>
          </a:xfrm>
          <a:prstGeom prst="roundRect">
            <a:avLst>
              <a:gd name="adj" fmla="val 3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294436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SAĞLAYICI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323697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kesici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621024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sağlayıcının kendi kesicisi vardır. Eşik aşılınca devre açılır, çağrılar hızla başarısız olur; kurtarma aralığından sonra tek bir yoklama denenir.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5008" y="2670048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294436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DÜRÜSTLÜK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23697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 yedek yok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362102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Sağlayıcılar arası yedekleme bilinçli olarak kapalıdır: çevrimdışı sahte sağlayıcıya düşmek gerçek bir arızayı gizlerdi.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718304"/>
            <a:ext cx="11027664" cy="1133856"/>
          </a:xfrm>
          <a:prstGeom prst="roundRect">
            <a:avLst>
              <a:gd name="adj" fmla="val 4839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9377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 TESTİ KAPSAMI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1248" y="5303520"/>
            <a:ext cx="1702613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A9BC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5303520"/>
            <a:ext cx="17026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paralel istek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1877" y="5303520"/>
            <a:ext cx="1073506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A9BCC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1877" y="5303520"/>
            <a:ext cx="1073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doygunluk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73398" y="5303520"/>
            <a:ext cx="1623974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A9BC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73398" y="5303520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zaman aşımı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25389" y="5303520"/>
            <a:ext cx="1545336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A9BCC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25389" y="530352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iptal temizliği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98741" y="5303520"/>
            <a:ext cx="1388059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0C6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98741" y="5303520"/>
            <a:ext cx="13880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açılışı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14816" y="5303520"/>
            <a:ext cx="1623974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F0C6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14816" y="5303520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F0C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yarı-açık teklik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566806" y="5303520"/>
            <a:ext cx="994867" cy="310896"/>
          </a:xfrm>
          <a:prstGeom prst="roundRect">
            <a:avLst>
              <a:gd name="adj" fmla="val 14705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7FE0B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6806" y="5303520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80" kern="0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kurtarma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·  Mühendislik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kapıları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ancak aşağıdaki kapıların tamamı geçildiğinde kabul edilir. Tek komutla çalıştırılır: python scripts/verify.py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542032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5420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meta verisi tutarlı  ·  pip check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2784" y="2542032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2542032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12864" y="25420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uygulama ve test modülü bayt koduna derlenir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438144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3438144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43814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Belirlenimci test paketi sabit PYTHONHASHSEED ile geçer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3438144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3438144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912864" y="343814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içe aktarılırken süreç, ağ, ses, video veya pencere açmaz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334256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334256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33425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Çevrimdışı uçtan uca yol: çekirdek, hafıza, görev, arayüz, tanılama, defter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2784" y="4334256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4334256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12864" y="433425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araç sözleşmesi benzersiz, sürümlü ve bilinmeyen girdiye kapalı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" y="5230368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5230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kodda shell=True, os.system, eval veya exec yolu yok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72784" y="5230368"/>
            <a:ext cx="5413248" cy="731520"/>
          </a:xfrm>
          <a:prstGeom prst="roundRect">
            <a:avLst>
              <a:gd name="adj" fmla="val 7500"/>
            </a:avLst>
          </a:prstGeom>
          <a:solidFill>
            <a:srgbClr val="121C2E">
              <a:alpha val="70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73952" y="5230368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12864" y="5230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özgü güvenlik ve kurtarma testleri yeşil kalır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·  Mühendislik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dağıtımı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Tekrarlanabilir bir PyInstaller derlemesi; yerel kütüphaneler ve Tcl/Tk verisi incelenebilir kalsın diye onedir biçiminde üretilir.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15184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816352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0.1.0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511296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749040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windows-x64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7852" y="2615184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5596" y="2816352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625596" y="3511296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DOĞRULANDI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625596" y="3749040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dondurulmuş duman testi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2615184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816352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MB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11296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TAŞINABILIR ARŞIV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749040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imzalı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29700" y="2615184"/>
            <a:ext cx="2564892" cy="1572768"/>
          </a:xfrm>
          <a:prstGeom prst="roundRect">
            <a:avLst>
              <a:gd name="adj" fmla="val 3488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7444" y="2816352"/>
            <a:ext cx="20894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MB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267444" y="3511296"/>
            <a:ext cx="2089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DOSYASI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267444" y="3749040"/>
            <a:ext cx="2089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 Setup · kullanıcı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370832"/>
            <a:ext cx="5614416" cy="1755648"/>
          </a:xfrm>
          <a:prstGeom prst="roundRect">
            <a:avLst>
              <a:gd name="adj" fmla="val 31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7FE0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4645152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DERLEME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937760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Durum: qualified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321808"/>
            <a:ext cx="5065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Derleme kaynak kabul kapısını çalıştırır, tüm ekranların yerel olarak çizilmesini şart koşar, arşiv ve kurulum dosyasını üretir, karma ve imza durumunu kaydeder.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37376" y="4370832"/>
            <a:ext cx="5157216" cy="1755648"/>
          </a:xfrm>
          <a:prstGeom prst="roundRect">
            <a:avLst>
              <a:gd name="adj" fmla="val 3125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F0C6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11696" y="4645152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6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SINIR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493776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imzasız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11696" y="5321808"/>
            <a:ext cx="4608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Yayıncı sertifikası sağlanmadığı için kod imzalama uygulanmadı. İmzasız bir çıktı yerel olarak doğrulanabilir, ancak yayıncı doğrulanmış gibi sunulamaz.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·  Mühendislik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40" kern="0" dirty="0">
                <a:solidFill>
                  <a:srgbClr val="4C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yapılmayanlar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henüz üretime hazır olduğunu iddia etmiyor. Eksikler açıkça listelenir — bir sunumun en dürüst slaytı budur.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78608"/>
            <a:ext cx="3493008" cy="1371600"/>
          </a:xfrm>
          <a:prstGeom prst="roundRect">
            <a:avLst>
              <a:gd name="adj" fmla="val 4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85292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Öngörülü davranış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82112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kendiliğinden konuşma ya da eylem başlatmıyor; hatırlatıcı ve zamanlı rutinlerle sınırlı.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2578608"/>
            <a:ext cx="3493008" cy="1371600"/>
          </a:xfrm>
          <a:prstGeom prst="roundRect">
            <a:avLst>
              <a:gd name="adj" fmla="val 4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6864" y="285292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içeriği araması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26864" y="3182112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yalnızca ada göre arama var; içerik araması ve çok köklü planlar bekliyor.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2578608"/>
            <a:ext cx="3493008" cy="1371600"/>
          </a:xfrm>
          <a:prstGeom prst="roundRect">
            <a:avLst>
              <a:gd name="adj" fmla="val 4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852928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Klavye ve fare otomasyonu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182112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güvenli PowerShell yürütmesiyle birlikte henüz uygulanmadı.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51376"/>
            <a:ext cx="3493008" cy="1371600"/>
          </a:xfrm>
          <a:prstGeom prst="roundRect">
            <a:avLst>
              <a:gd name="adj" fmla="val 4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Eklenti yalıtımı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754880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Eklenti kodu süreç içinde çalışıyor; Python bunu izole edemiyor. Süreç yalıtımı sonraki sürümde.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52544" y="4151376"/>
            <a:ext cx="3493008" cy="1371600"/>
          </a:xfrm>
          <a:prstGeom prst="roundRect">
            <a:avLst>
              <a:gd name="adj" fmla="val 4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26864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imzalama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26864" y="4754880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imzası ve kurulu çalışma zamanı nitelemesi henüz yok.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4151376"/>
            <a:ext cx="3493008" cy="1371600"/>
          </a:xfrm>
          <a:prstGeom prst="roundRect">
            <a:avLst>
              <a:gd name="adj" fmla="val 4000"/>
            </a:avLst>
          </a:prstGeom>
          <a:solidFill>
            <a:srgbClr val="121C2E">
              <a:alpha val="74000"/>
            </a:srgbClr>
          </a:solidFill>
          <a:ln w="12700">
            <a:solidFill>
              <a:srgbClr val="243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425696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kabuk tepsisi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754880"/>
            <a:ext cx="2944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kabuğu için sistem tepsisi simgesi eksik.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705856"/>
            <a:ext cx="11027664" cy="512064"/>
          </a:xfrm>
          <a:prstGeom prst="roundRect">
            <a:avLst>
              <a:gd name="adj" fmla="val 10714"/>
            </a:avLst>
          </a:prstGeom>
          <a:solidFill>
            <a:srgbClr val="121C2E">
              <a:alpha val="60000"/>
            </a:srgbClr>
          </a:solidFill>
          <a:ln w="12700">
            <a:solidFill>
              <a:srgbClr val="1B7B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705856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Eklenti çalışma zamanı varsayılan olarak kapalıdır ve eklenti araçları da aynı yürütücü, izin motoru ve onay yolundan geçer.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63825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 ·  Yol haritası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65960" y="2139696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40" kern="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32735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8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eylem, hata dönmediği için tamamlanmış sayılmaz.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8770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Yürütme ve bağımsız doğrulama, JARVIS'te ayrı iki sorumluluktur.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9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tamamı bu ilkenin üzerine kuruludur.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80944" y="5029200"/>
            <a:ext cx="1993392" cy="347472"/>
          </a:xfrm>
          <a:prstGeom prst="roundRect">
            <a:avLst>
              <a:gd name="adj" fmla="val 13157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6F8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80944" y="50292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" kern="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docs/ARCHITECTURE.md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0" y="5029200"/>
            <a:ext cx="1671523" cy="347472"/>
          </a:xfrm>
          <a:prstGeom prst="roundRect">
            <a:avLst>
              <a:gd name="adj" fmla="val 13157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6F85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5029200"/>
            <a:ext cx="16715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" kern="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docs/SECURITY.md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38467" y="5029200"/>
            <a:ext cx="2234794" cy="347472"/>
          </a:xfrm>
          <a:prstGeom prst="roundRect">
            <a:avLst>
              <a:gd name="adj" fmla="val 131579"/>
            </a:avLst>
          </a:prstGeom>
          <a:solidFill>
            <a:srgbClr val="121C2E">
              <a:alpha val="66000"/>
            </a:srgbClr>
          </a:solidFill>
          <a:ln w="11430">
            <a:solidFill>
              <a:srgbClr val="6F8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38467" y="5029200"/>
            <a:ext cx="2234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" kern="0" dirty="0">
                <a:solidFill>
                  <a:srgbClr val="6F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docs/MEDICAL_ACADEMY.md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382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43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Ω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Ω — Proje Tanıtımı</dc:title>
  <dc:subject>PptxGenJS Presentation</dc:subject>
  <dc:creator>JARVIS</dc:creator>
  <cp:lastModifiedBy>JARVIS</cp:lastModifiedBy>
  <cp:revision>1</cp:revision>
  <dcterms:created xsi:type="dcterms:W3CDTF">2026-09-09T01:07:43Z</dcterms:created>
  <dcterms:modified xsi:type="dcterms:W3CDTF">2026-09-09T01:07:43Z</dcterms:modified>
</cp:coreProperties>
</file>